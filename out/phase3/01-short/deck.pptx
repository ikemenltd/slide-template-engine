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23-created" id="256"/>
    <p:sldId r:id="rId24-created" id="257"/>
    <p:sldId r:id="rId25-created" id="258"/>
    <p:sldId r:id="rId26-created" id="259"/>
    <p:sldId r:id="rId27-created" id="26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23-created" Type="http://schemas.openxmlformats.org/officeDocument/2006/relationships/slide" Target="slides/slide16.xml"/><Relationship Id="rId24-created" Type="http://schemas.openxmlformats.org/officeDocument/2006/relationships/slide" Target="slides/slide17.xml"/><Relationship Id="rId25-created" Type="http://schemas.openxmlformats.org/officeDocument/2006/relationships/slide" Target="slides/slide18.xml"/><Relationship Id="rId26-created" Type="http://schemas.openxmlformats.org/officeDocument/2006/relationships/slide" Target="slides/slide19.xml"/><Relationship Id="rId27-created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1-img.hero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-created" Type="http://schemas.openxmlformats.org/officeDocument/2006/relationships/image" Target="../media/p02-img.item.1.jpg"/><Relationship Id="rId7-created" Type="http://schemas.openxmlformats.org/officeDocument/2006/relationships/image" Target="../media/p02-img.item.2.jpg"/><Relationship Id="rId8-created" Type="http://schemas.openxmlformats.org/officeDocument/2006/relationships/image" Target="../media/p02-img.item.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3-img.side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-created" Type="http://schemas.openxmlformats.org/officeDocument/2006/relationships/image" Target="../media/p04-img.item.1.jpg"/><Relationship Id="rId7-created" Type="http://schemas.openxmlformats.org/officeDocument/2006/relationships/image" Target="../media/p04-img.item.2.jpg"/><Relationship Id="rId8-created" Type="http://schemas.openxmlformats.org/officeDocument/2006/relationships/image" Target="../media/p04-img.item.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5-img.hero.jp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属人化を解消</a:t>
            </a:r>
            <a:endParaRPr lang="ja-JP" altLang="en-US" sz="1350" b="0" dirty="0"/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誰でも</a:t>
            </a:r>
            <a:endParaRPr lang="ja-JP" altLang="en-US" sz="1700" b="0" dirty="0"/>
          </a:p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回る業務へ</a:t>
            </a:r>
            <a:endParaRPr lang="ja-JP" altLang="en-US" sz="1700" b="0" dirty="0"/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人件費の</a:t>
            </a:r>
            <a:endParaRPr lang="ja-JP" altLang="en-US" sz="1350" b="0" dirty="0"/>
          </a:p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負担を軽く</a:t>
            </a:r>
            <a:endParaRPr lang="ja-JP" altLang="en-US" sz="1350" b="0" dirty="0"/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事務作業を</a:t>
            </a:r>
            <a:endParaRPr lang="ja-JP" altLang="en-US" sz="1700" b="0" dirty="0"/>
          </a:p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機械へ</a:t>
            </a:r>
            <a:endParaRPr lang="ja-JP" altLang="en-US" sz="1700" b="0" dirty="0"/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開発費を</a:t>
            </a:r>
            <a:endParaRPr lang="ja-JP" altLang="en-US" sz="1350" b="0" dirty="0"/>
          </a:p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抑えて導入</a:t>
            </a:r>
            <a:endParaRPr lang="ja-JP" altLang="en-US" sz="1350" b="0" dirty="0"/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小さく</a:t>
            </a:r>
            <a:endParaRPr lang="ja-JP" altLang="en-US" sz="1700" b="0" dirty="0"/>
          </a:p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始められる</a:t>
            </a:r>
            <a:endParaRPr lang="ja-JP" altLang="en-US" sz="1700" b="0" dirty="0"/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1" u="heavy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業務自動化</a:t>
            </a: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で、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本来の仕事に時間を</a:t>
            </a:r>
            <a:endParaRPr lang="ja-JP" altLang="en-US" sz="3250" b="0" dirty="0"/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毎日の事務作業に追われる中小企業の経営者の</a:t>
            </a:r>
            <a:endParaRPr lang="ja-JP" altLang="en-US" sz="1500" b="1" dirty="0"/>
          </a:p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方へ。業務の自動化サービスをご案内します。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Issues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こんなお悩みはありませんか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810000" y="20320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4953000" y="1841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社長が現場から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離れられない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4953000" y="2654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4953000" y="2768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属人化</a:t>
            </a: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して、自分がいないと回らない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3810000" y="33655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4953000" y="31750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人件費が厳しい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4953000" y="39878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4953000" y="41021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採用しても教育に時間がかかり、すぐ辞める</a:t>
            </a:r>
            <a:endParaRPr lang="ja-JP" altLang="en-US" sz="1200" b="1" dirty="0"/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3810000" y="4699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4953000" y="4508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開発費が高すぎる</a:t>
            </a:r>
            <a:endParaRPr lang="ja-JP" altLang="en-US" sz="2100" b="0" dirty="0" spc="350"/>
          </a:p>
        </p:txBody>
      </p:sp>
      <p:sp>
        <p:nvSpPr>
          <p:cNvPr id="18" name="deco.item-3-rule"/>
          <p:cNvSpPr/>
          <p:nvPr/>
        </p:nvSpPr>
        <p:spPr>
          <a:xfrm>
            <a:off x="4953000" y="5321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4953000" y="5435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見積もりは数百万円から数千万円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Results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導入いただいた企業の結果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請求書の時間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8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時間／月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月40時間から月8時間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に減りました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差し戻し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0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入力ミスによる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差し戻しがほぼ0件に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導入期間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週間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導入までの期間は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平均で2週間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請求書づくりにかかる時間は月40時間から月8時間に減少。入力ミスによる差し戻しはほぼ0件、導入までは平均2週間です。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Flow</a:t>
            </a:r>
            <a:endParaRPr lang="ja-JP" altLang="en-US" sz="2050" b="0" dirty="0" spc="400"/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導入の流れ</a:t>
            </a:r>
            <a:endParaRPr lang="ja-JP" altLang="en-US" sz="3250" b="0" dirty="0"/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2049780" y="1905000"/>
            <a:ext cx="2540000" cy="254000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無料のヒアリング：いまの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業務の流れを伺います</a:t>
            </a:r>
            <a:endParaRPr lang="ja-JP" altLang="en-US" sz="1500" b="1" dirty="0"/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5396230" y="1905000"/>
            <a:ext cx="2540000" cy="254000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539623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539623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自動化の設計：機械に任せる作業を一緒に決めます</a:t>
            </a:r>
            <a:endParaRPr lang="ja-JP" altLang="en-US" sz="1500" b="1" dirty="0"/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8742680" y="1905000"/>
            <a:ext cx="2540000" cy="254000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87426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87426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試験運用：1つの業務から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小さく始めて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確かめます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band"/>
          <p:cNvSpPr/>
          <p:nvPr/>
        </p:nvSpPr>
        <p:spPr>
          <a:xfrm>
            <a:off x="6941820" y="0"/>
            <a:ext cx="5250180" cy="4279900"/>
          </a:xfrm>
          <a:custGeom>
            <a:avLst/>
            <a:gdLst/>
            <a:ahLst/>
            <a:cxnLst/>
            <a:rect l="l" t="t" r="r" b="b"/>
            <a:pathLst>
              <a:path w="5250180" h="4279900">
                <a:moveTo>
                  <a:pt x="0" y="2753360"/>
                </a:moveTo>
                <a:lnTo>
                  <a:pt x="2753360" y="0"/>
                </a:lnTo>
                <a:lnTo>
                  <a:pt x="5250180" y="0"/>
                </a:lnTo>
                <a:lnTo>
                  <a:pt x="5250180" y="556260"/>
                </a:lnTo>
                <a:lnTo>
                  <a:pt x="1526540" y="42799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9098280" y="3736340"/>
            <a:ext cx="3216910" cy="3216910"/>
          </a:xfrm>
          <a:custGeom>
            <a:avLst/>
            <a:gdLst/>
            <a:ahLst/>
            <a:cxnLst/>
            <a:rect l="l" t="t" r="r" b="b"/>
            <a:pathLst>
              <a:path w="3216910" h="3216910">
                <a:moveTo>
                  <a:pt x="0" y="3216910"/>
                </a:moveTo>
                <a:lnTo>
                  <a:pt x="3216910" y="0"/>
                </a:lnTo>
                <a:lnTo>
                  <a:pt x="3216910" y="32169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8031480" y="5894070"/>
            <a:ext cx="1189990" cy="963930"/>
          </a:xfrm>
          <a:custGeom>
            <a:avLst/>
            <a:gdLst/>
            <a:ahLst/>
            <a:cxnLst/>
            <a:rect l="l" t="t" r="r" b="b"/>
            <a:pathLst>
              <a:path w="1189990" h="963930">
                <a:moveTo>
                  <a:pt x="0" y="963930"/>
                </a:moveTo>
                <a:lnTo>
                  <a:pt x="963930" y="0"/>
                </a:lnTo>
                <a:lnTo>
                  <a:pt x="1189990" y="0"/>
                </a:lnTo>
                <a:lnTo>
                  <a:pt x="226060" y="963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-yellow"/>
          <p:cNvSpPr/>
          <p:nvPr/>
        </p:nvSpPr>
        <p:spPr>
          <a:xfrm>
            <a:off x="7326630" y="381000"/>
            <a:ext cx="1574800" cy="1348740"/>
          </a:xfrm>
          <a:custGeom>
            <a:avLst/>
            <a:gdLst/>
            <a:ahLst/>
            <a:cxnLst/>
            <a:rect l="l" t="t" r="r" b="b"/>
            <a:pathLst>
              <a:path w="1574800" h="1348740">
                <a:moveTo>
                  <a:pt x="0" y="1348740"/>
                </a:moveTo>
                <a:lnTo>
                  <a:pt x="1348740" y="0"/>
                </a:lnTo>
                <a:lnTo>
                  <a:pt x="1574800" y="0"/>
                </a:lnTo>
                <a:lnTo>
                  <a:pt x="226060" y="13487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6" name="img.hero" descr="菱形のコラージュ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1069340" y="1102360"/>
            <a:ext cx="7360920" cy="5345430"/>
          </a:xfrm>
          <a:custGeom>
            <a:avLst/>
            <a:gdLst/>
            <a:ahLst/>
            <a:cxnLst/>
            <a:rect l="l" t="t" r="r" b="b"/>
            <a:pathLst>
              <a:path w="7360920" h="5345430">
                <a:moveTo>
                  <a:pt x="2146300" y="1047750"/>
                </a:moveTo>
                <a:lnTo>
                  <a:pt x="3192780" y="0"/>
                </a:lnTo>
                <a:lnTo>
                  <a:pt x="4240530" y="1047750"/>
                </a:lnTo>
                <a:lnTo>
                  <a:pt x="3192780" y="2095500"/>
                </a:lnTo>
                <a:close/>
              </a:path>
              <a:path w="7360920" h="5345430">
                <a:moveTo>
                  <a:pt x="4307840" y="1049020"/>
                </a:moveTo>
                <a:lnTo>
                  <a:pt x="5355590" y="2540"/>
                </a:lnTo>
                <a:lnTo>
                  <a:pt x="6403340" y="1049020"/>
                </a:lnTo>
                <a:lnTo>
                  <a:pt x="5355590" y="2096770"/>
                </a:lnTo>
                <a:close/>
              </a:path>
              <a:path w="7360920" h="5345430">
                <a:moveTo>
                  <a:pt x="3228340" y="2129790"/>
                </a:moveTo>
                <a:lnTo>
                  <a:pt x="4274820" y="1082040"/>
                </a:lnTo>
                <a:lnTo>
                  <a:pt x="5322570" y="2129790"/>
                </a:lnTo>
                <a:lnTo>
                  <a:pt x="4274820" y="3177540"/>
                </a:lnTo>
                <a:close/>
              </a:path>
              <a:path w="7360920" h="5345430">
                <a:moveTo>
                  <a:pt x="0" y="3209290"/>
                </a:moveTo>
                <a:lnTo>
                  <a:pt x="2113280" y="1096010"/>
                </a:lnTo>
                <a:lnTo>
                  <a:pt x="4226560" y="3209290"/>
                </a:lnTo>
                <a:lnTo>
                  <a:pt x="2113280" y="5323840"/>
                </a:lnTo>
                <a:close/>
              </a:path>
              <a:path w="7360920" h="5345430">
                <a:moveTo>
                  <a:pt x="4307840" y="3209290"/>
                </a:moveTo>
                <a:lnTo>
                  <a:pt x="5834380" y="1682750"/>
                </a:lnTo>
                <a:lnTo>
                  <a:pt x="7360920" y="3209290"/>
                </a:lnTo>
                <a:lnTo>
                  <a:pt x="5834380" y="4737100"/>
                </a:lnTo>
                <a:close/>
              </a:path>
              <a:path w="7360920" h="5345430">
                <a:moveTo>
                  <a:pt x="3219450" y="4297680"/>
                </a:moveTo>
                <a:lnTo>
                  <a:pt x="4267200" y="3249930"/>
                </a:lnTo>
                <a:lnTo>
                  <a:pt x="5314950" y="4297680"/>
                </a:lnTo>
                <a:lnTo>
                  <a:pt x="4267200" y="5345430"/>
                </a:lnTo>
                <a:close/>
              </a:path>
            </a:pathLst>
          </a:custGeom>
        </p:spPr>
      </p:pic>
      <p:sp>
        <p:nvSpPr>
          <p:cNvPr id="7" name="txt.headline"/>
          <p:cNvSpPr txBox="1"/>
          <p:nvPr/>
        </p:nvSpPr>
        <p:spPr>
          <a:xfrm>
            <a:off x="609600" y="279400"/>
            <a:ext cx="6604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まずはご相談ください</a:t>
            </a:r>
            <a:endParaRPr lang="ja-JP" altLang="en-US" sz="3250" b="0" dirty="0"/>
          </a:p>
        </p:txBody>
      </p:sp>
      <p:sp>
        <p:nvSpPr>
          <p:cNvPr id="8" name="txt.subtitle"/>
          <p:cNvSpPr txBox="1"/>
          <p:nvPr/>
        </p:nvSpPr>
        <p:spPr>
          <a:xfrm>
            <a:off x="635000" y="1168400"/>
            <a:ext cx="24892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ヒアリングは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無料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です。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自動化を一緒に探します。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Blue 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8FBDF0"/>
      </a:accent3>
      <a:accent4>
        <a:srgbClr val="003F8A"/>
      </a:accent4>
      <a:accent5>
        <a:srgbClr val="F7F8D0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