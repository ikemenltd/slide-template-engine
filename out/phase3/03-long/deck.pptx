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  <p:sldId r:id="rId28-created" id="261"/>
    <p:sldId r:id="rId29-created" id="262"/>
    <p:sldId r:id="rId30-created" id="263"/>
    <p:sldId r:id="rId31-created" id="264"/>
    <p:sldId r:id="rId32-created" id="265"/>
    <p:sldId r:id="rId33-created" id="266"/>
    <p:sldId r:id="rId34-created" id="267"/>
    <p:sldId r:id="rId35-created" id="268"/>
    <p:sldId r:id="rId36-created" id="269"/>
    <p:sldId r:id="rId37-created" id="270"/>
    <p:sldId r:id="rId38-created" id="271"/>
    <p:sldId r:id="rId39-created" id="272"/>
    <p:sldId r:id="rId40-created" id="273"/>
    <p:sldId r:id="rId41-created" id="274"/>
    <p:sldId r:id="rId42-created" id="2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Relationship Id="rId28-created" Type="http://schemas.openxmlformats.org/officeDocument/2006/relationships/slide" Target="slides/slide21.xml"/><Relationship Id="rId29-created" Type="http://schemas.openxmlformats.org/officeDocument/2006/relationships/slide" Target="slides/slide22.xml"/><Relationship Id="rId30-created" Type="http://schemas.openxmlformats.org/officeDocument/2006/relationships/slide" Target="slides/slide23.xml"/><Relationship Id="rId31-created" Type="http://schemas.openxmlformats.org/officeDocument/2006/relationships/slide" Target="slides/slide24.xml"/><Relationship Id="rId32-created" Type="http://schemas.openxmlformats.org/officeDocument/2006/relationships/slide" Target="slides/slide25.xml"/><Relationship Id="rId33-created" Type="http://schemas.openxmlformats.org/officeDocument/2006/relationships/slide" Target="slides/slide26.xml"/><Relationship Id="rId34-created" Type="http://schemas.openxmlformats.org/officeDocument/2006/relationships/slide" Target="slides/slide27.xml"/><Relationship Id="rId35-created" Type="http://schemas.openxmlformats.org/officeDocument/2006/relationships/slide" Target="slides/slide28.xml"/><Relationship Id="rId36-created" Type="http://schemas.openxmlformats.org/officeDocument/2006/relationships/slide" Target="slides/slide29.xml"/><Relationship Id="rId37-created" Type="http://schemas.openxmlformats.org/officeDocument/2006/relationships/slide" Target="slides/slide30.xml"/><Relationship Id="rId38-created" Type="http://schemas.openxmlformats.org/officeDocument/2006/relationships/slide" Target="slides/slide31.xml"/><Relationship Id="rId39-created" Type="http://schemas.openxmlformats.org/officeDocument/2006/relationships/slide" Target="slides/slide32.xml"/><Relationship Id="rId40-created" Type="http://schemas.openxmlformats.org/officeDocument/2006/relationships/slide" Target="slides/slide33.xml"/><Relationship Id="rId41-created" Type="http://schemas.openxmlformats.org/officeDocument/2006/relationships/slide" Target="slides/slide34.xml"/><Relationship Id="rId42-created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2-img.sid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4-img.item.1.jpg"/><Relationship Id="rId8-created" Type="http://schemas.openxmlformats.org/officeDocument/2006/relationships/image" Target="../media/p04-img.item.2.jpg"/><Relationship Id="rId9-created" Type="http://schemas.openxmlformats.org/officeDocument/2006/relationships/image" Target="../media/p04-img.item.3.jpg"/><Relationship Id="rId10-created" Type="http://schemas.openxmlformats.org/officeDocument/2006/relationships/image" Target="../media/p04-img.item.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5-img.side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06-img.right.jpg"/><Relationship Id="rId6-created" Type="http://schemas.openxmlformats.org/officeDocument/2006/relationships/image" Target="../media/p06-img.left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8-img.hero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9-img.side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1-img.hero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12-img.right.jpg"/><Relationship Id="rId6-created" Type="http://schemas.openxmlformats.org/officeDocument/2006/relationships/image" Target="../media/p12-img.left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3-img.hero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15-img.item.1.jpg"/><Relationship Id="rId7-created" Type="http://schemas.openxmlformats.org/officeDocument/2006/relationships/image" Target="../media/p15-img.item.2.jpg"/><Relationship Id="rId8-created" Type="http://schemas.openxmlformats.org/officeDocument/2006/relationships/image" Target="../media/p15-img.item.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16-img.right.jpg"/><Relationship Id="rId6-created" Type="http://schemas.openxmlformats.org/officeDocument/2006/relationships/image" Target="../media/p16-img.left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7-img.hero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8-img.hero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9-img.side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20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受注と指示書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デジタル化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機械の稼働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見える化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日程づくり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誰でも可能に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部品加工工場の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デジタル化</a:t>
            </a: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計画 2026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紙と勘に頼ってきた工場の仕事を、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データで回る仕事に変える3年間の計画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159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26416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1590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目指す姿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進め方と体制</a:t>
            </a:r>
            <a:endParaRPr lang="ja-JP" altLang="en-US" sz="1800" b="0" dirty="0"/>
          </a:p>
        </p:txBody>
      </p:sp>
      <p:sp>
        <p:nvSpPr>
          <p:cNvPr id="19" name="deco.toc-no-5"/>
          <p:cNvSpPr txBox="1"/>
          <p:nvPr/>
        </p:nvSpPr>
        <p:spPr>
          <a:xfrm>
            <a:off x="889000" y="53086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05</a:t>
            </a:r>
          </a:p>
        </p:txBody>
      </p:sp>
      <p:sp>
        <p:nvSpPr>
          <p:cNvPr id="20" name="deco.toc-rule-5"/>
          <p:cNvSpPr/>
          <p:nvPr/>
        </p:nvSpPr>
        <p:spPr>
          <a:xfrm>
            <a:off x="1651000" y="57912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item.5"/>
          <p:cNvSpPr txBox="1"/>
          <p:nvPr/>
        </p:nvSpPr>
        <p:spPr>
          <a:xfrm>
            <a:off x="1651000" y="53086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工場の現状と課題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現場で起きている問題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段取り替えに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時間がかかる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設定変更に平均45分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不良の原因が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機械や条件を後から追えない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に頼っている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日程を組めるのは班長2人だけ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在庫が多すぎる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必要な量の2倍近くある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Current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Status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数字で見る現状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設備の稼働率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62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機械が動いている割合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不良率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3.8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不良品が出る割合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14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件／月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毎月起きている遅れ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工場の現状値（架空の数字）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受注から出荷までの流れ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受注は電話とファクスで受け、営業担当が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紙の指示書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を作っています。指示書は工場に回り、班長が手書きで日程を組みます。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目指す姿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Vision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情報が1つにつながる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3年後には、受注から出荷までの情報がすべて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1つの仕組み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でつながり、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誰でも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工場の状態をすぐに確認できる姿を目指します。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Targets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in 3 years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3年後の目標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設備の稼働率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80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62%から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80%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へ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引き上げる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不良率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1.5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3.8%から1.5%へ下げる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件／月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月14件から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月2件へ減らす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目標は3年後の値。現状は稼働率62%、不良率3.8%、納期遅れ月14件。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3つの取り組み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3つの取り組み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受注と指示書のデジタル化：画面で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入力し、指示書を自動で作る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機械の稼働を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見える化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する：センサーで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動いているか止まっているかを記録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日程づくりを誰でもできるように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：決め方をルールにして案を作る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機械の稼働を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見える化する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各機械にセンサーを付けて、動いているか止まっているかを記録します。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止まった理由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を現場で選んで入力し、改善の材料にします。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Rules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日程づくりを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ルール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にする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班長が頭の中で組んでいた日程の決め方を、ルールとして書き出します。仕組みが案を作り、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人が確認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して決めます。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進め方と体制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Three Year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Roadmap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3年間の進め方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1年目：受注と指示書を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デジタル化し紙を無くす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2年目：全20台に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センサーで稼働を見える化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3年目：班長以外も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日程を組める仕組みに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推進の体制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社長を責任者とし、製造部・営業部・総務部から1名ずつ集めた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推進チーム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を作ります。外部の専門家にも月に1回、助言をもらいます。各段階で現場の作業者に試してもらい、直してから広げます。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Our Goal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目的は熟練者に頼らないこと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仕組みを入れることが目的ではありません。目的は、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熟練者に頼らなくても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工場が回るようにすることです。そのために、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現場の知恵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を書き出してみんなのものにします。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投資と効果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3年間の投資額は合計で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4,800万円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うち1,600万円は国の補助金の活用を予定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材料の在庫は今の半分へ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Expected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Results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段取り替えは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20分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へ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段取り替え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分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平均45分から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月の残業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10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1人あたり20時間から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毎週の指導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熟練者が若手に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教える時間を確保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浮いた時間は若手の育成に使います。熟練者が若手に技術を教える時間を、毎週2時間確保します。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小さく始めて一歩ずつ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工場で働く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全員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で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つくる計画です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