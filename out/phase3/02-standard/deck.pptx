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r:id="rId23-created" id="256"/>
    <p:sldId r:id="rId24-created" id="257"/>
    <p:sldId r:id="rId25-created" id="258"/>
    <p:sldId r:id="rId26-created" id="259"/>
    <p:sldId r:id="rId27-created" id="260"/>
    <p:sldId r:id="rId28-created" id="261"/>
    <p:sldId r:id="rId29-created" id="262"/>
    <p:sldId r:id="rId30-created" id="263"/>
    <p:sldId r:id="rId31-created" id="264"/>
    <p:sldId r:id="rId32-created" id="26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notesMaster" Target="notesMasters/notesMaster1.xml"/><Relationship Id="rId23-created" Type="http://schemas.openxmlformats.org/officeDocument/2006/relationships/slide" Target="slides/slide16.xml"/><Relationship Id="rId24-created" Type="http://schemas.openxmlformats.org/officeDocument/2006/relationships/slide" Target="slides/slide17.xml"/><Relationship Id="rId25-created" Type="http://schemas.openxmlformats.org/officeDocument/2006/relationships/slide" Target="slides/slide18.xml"/><Relationship Id="rId26-created" Type="http://schemas.openxmlformats.org/officeDocument/2006/relationships/slide" Target="slides/slide19.xml"/><Relationship Id="rId27-created" Type="http://schemas.openxmlformats.org/officeDocument/2006/relationships/slide" Target="slides/slide20.xml"/><Relationship Id="rId28-created" Type="http://schemas.openxmlformats.org/officeDocument/2006/relationships/slide" Target="slides/slide21.xml"/><Relationship Id="rId29-created" Type="http://schemas.openxmlformats.org/officeDocument/2006/relationships/slide" Target="slides/slide22.xml"/><Relationship Id="rId30-created" Type="http://schemas.openxmlformats.org/officeDocument/2006/relationships/slide" Target="slides/slide23.xml"/><Relationship Id="rId31-created" Type="http://schemas.openxmlformats.org/officeDocument/2006/relationships/slide" Target="slides/slide24.xml"/><Relationship Id="rId32-created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01-img.hero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02-img.side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7-created" Type="http://schemas.openxmlformats.org/officeDocument/2006/relationships/image" Target="../media/p03-img.item.1.jpg"/><Relationship Id="rId8-created" Type="http://schemas.openxmlformats.org/officeDocument/2006/relationships/image" Target="../media/p03-img.item.2.jpg"/><Relationship Id="rId9-created" Type="http://schemas.openxmlformats.org/officeDocument/2006/relationships/image" Target="../media/p03-img.item.3.jpg"/><Relationship Id="rId10-created" Type="http://schemas.openxmlformats.org/officeDocument/2006/relationships/image" Target="../media/p03-img.item.4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5-created" Type="http://schemas.openxmlformats.org/officeDocument/2006/relationships/image" Target="../media/p04-img.right.jpg"/><Relationship Id="rId6-created" Type="http://schemas.openxmlformats.org/officeDocument/2006/relationships/image" Target="../media/p04-img.left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05-img.side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7-created" Type="http://schemas.openxmlformats.org/officeDocument/2006/relationships/image" Target="../media/p07-img.item.1.jpg"/><Relationship Id="rId8-created" Type="http://schemas.openxmlformats.org/officeDocument/2006/relationships/image" Target="../media/p07-img.item.2.jpg"/><Relationship Id="rId9-created" Type="http://schemas.openxmlformats.org/officeDocument/2006/relationships/image" Target="../media/p07-img.item.3.jpg"/><Relationship Id="rId10-created" Type="http://schemas.openxmlformats.org/officeDocument/2006/relationships/image" Target="../media/p07-img.item.4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08-img.hero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09-img.hero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10-img.hero.jpg"/></Relationships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hero" descr="表紙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10350500" cy="6851650"/>
          </a:xfrm>
          <a:custGeom>
            <a:avLst/>
            <a:gdLst/>
            <a:ahLst/>
            <a:cxnLst/>
            <a:rect l="l" t="t" r="r" b="b"/>
            <a:pathLst>
              <a:path w="10350500" h="6851650">
                <a:moveTo>
                  <a:pt x="4737100" y="0"/>
                </a:moveTo>
                <a:lnTo>
                  <a:pt x="10350500" y="0"/>
                </a:lnTo>
                <a:lnTo>
                  <a:pt x="3498850" y="6851650"/>
                </a:lnTo>
                <a:lnTo>
                  <a:pt x="0" y="6851650"/>
                </a:lnTo>
                <a:lnTo>
                  <a:pt x="0" y="4737100"/>
                </a:lnTo>
                <a:close/>
              </a:path>
            </a:pathLst>
          </a:custGeom>
        </p:spPr>
      </p:pic>
      <p:sp>
        <p:nvSpPr>
          <p:cNvPr id="3" name="deco.headline-band"/>
          <p:cNvSpPr/>
          <p:nvPr/>
        </p:nvSpPr>
        <p:spPr>
          <a:xfrm>
            <a:off x="-107950" y="1631950"/>
            <a:ext cx="6623050" cy="1073150"/>
          </a:xfrm>
          <a:custGeom>
            <a:avLst/>
            <a:gdLst/>
            <a:ahLst/>
            <a:cxnLst/>
            <a:rect l="l" t="t" r="r" b="b"/>
            <a:pathLst>
              <a:path w="6623050" h="1073150">
                <a:moveTo>
                  <a:pt x="0" y="0"/>
                </a:moveTo>
                <a:lnTo>
                  <a:pt x="6623050" y="0"/>
                </a:lnTo>
                <a:lnTo>
                  <a:pt x="5549900" y="1073150"/>
                </a:lnTo>
                <a:lnTo>
                  <a:pt x="0" y="1073150"/>
                </a:lnTo>
                <a:close/>
              </a:path>
            </a:pathLst>
          </a:custGeom>
          <a:solidFill>
            <a:schemeClr val="tx1">
              <a:alpha val="85000"/>
            </a:schemeClr>
          </a:solidFill>
          <a:ln>
            <a:noFill/>
          </a:ln>
        </p:spPr>
      </p:sp>
      <p:sp>
        <p:nvSpPr>
          <p:cNvPr id="4" name="deco.subtitle-plate"/>
          <p:cNvSpPr/>
          <p:nvPr/>
        </p:nvSpPr>
        <p:spPr>
          <a:xfrm>
            <a:off x="5568950" y="1638300"/>
            <a:ext cx="5505450" cy="1066800"/>
          </a:xfrm>
          <a:custGeom>
            <a:avLst/>
            <a:gdLst/>
            <a:ahLst/>
            <a:cxnLst/>
            <a:rect l="l" t="t" r="r" b="b"/>
            <a:pathLst>
              <a:path w="5505450" h="1066800">
                <a:moveTo>
                  <a:pt x="0" y="1066800"/>
                </a:moveTo>
                <a:lnTo>
                  <a:pt x="1073150" y="0"/>
                </a:lnTo>
                <a:lnTo>
                  <a:pt x="5505450" y="0"/>
                </a:lnTo>
                <a:lnTo>
                  <a:pt x="5505450" y="10668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5" name="deco.line-1"/>
          <p:cNvSpPr/>
          <p:nvPr/>
        </p:nvSpPr>
        <p:spPr>
          <a:xfrm>
            <a:off x="2470150" y="527050"/>
            <a:ext cx="1612900" cy="1479550"/>
          </a:xfrm>
          <a:custGeom>
            <a:avLst/>
            <a:gdLst/>
            <a:ahLst/>
            <a:cxnLst/>
            <a:rect l="l" t="t" r="r" b="b"/>
            <a:pathLst>
              <a:path w="1612900" h="1479550">
                <a:moveTo>
                  <a:pt x="0" y="1479550"/>
                </a:moveTo>
                <a:lnTo>
                  <a:pt x="133350" y="1479550"/>
                </a:lnTo>
                <a:lnTo>
                  <a:pt x="1612900" y="0"/>
                </a:lnTo>
                <a:lnTo>
                  <a:pt x="14795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deco.line-2"/>
          <p:cNvSpPr/>
          <p:nvPr/>
        </p:nvSpPr>
        <p:spPr>
          <a:xfrm>
            <a:off x="6610350" y="3175000"/>
            <a:ext cx="965200" cy="831850"/>
          </a:xfrm>
          <a:custGeom>
            <a:avLst/>
            <a:gdLst/>
            <a:ahLst/>
            <a:cxnLst/>
            <a:rect l="l" t="t" r="r" b="b"/>
            <a:pathLst>
              <a:path w="965200" h="831850">
                <a:moveTo>
                  <a:pt x="0" y="831850"/>
                </a:moveTo>
                <a:lnTo>
                  <a:pt x="133350" y="831850"/>
                </a:lnTo>
                <a:lnTo>
                  <a:pt x="965200" y="0"/>
                </a:lnTo>
                <a:lnTo>
                  <a:pt x="8318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deco.point-box-1"/>
          <p:cNvSpPr/>
          <p:nvPr/>
        </p:nvSpPr>
        <p:spPr>
          <a:xfrm>
            <a:off x="5638800" y="4146550"/>
            <a:ext cx="1784350" cy="1784350"/>
          </a:xfrm>
          <a:custGeom>
            <a:avLst/>
            <a:gdLst/>
            <a:ahLst/>
            <a:cxnLst/>
            <a:rect l="l" t="t" r="r" b="b"/>
            <a:pathLst>
              <a:path w="1784350" h="1784350">
                <a:moveTo>
                  <a:pt x="0" y="0"/>
                </a:moveTo>
                <a:lnTo>
                  <a:pt x="1784350" y="0"/>
                </a:lnTo>
                <a:lnTo>
                  <a:pt x="1784350" y="1784350"/>
                </a:lnTo>
                <a:lnTo>
                  <a:pt x="0" y="1784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8" name="txt.point.1.lead"/>
          <p:cNvSpPr txBox="1"/>
          <p:nvPr/>
        </p:nvSpPr>
        <p:spPr>
          <a:xfrm>
            <a:off x="5765800" y="4279900"/>
            <a:ext cx="158750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>
                <a:solidFill>
                  <a:schemeClr val="tx1"/>
                </a:solidFill>
                <a:latin typeface="Barlow Medium"/>
                <a:ea typeface="Noto Sans JP Medium"/>
              </a:rPr>
              <a:t>課題</a:t>
            </a:r>
            <a:endParaRPr lang="ja-JP" altLang="en-US" sz="1350" b="0" dirty="0"/>
          </a:p>
        </p:txBody>
      </p:sp>
      <p:sp>
        <p:nvSpPr>
          <p:cNvPr id="9" name="txt.point.1.main"/>
          <p:cNvSpPr txBox="1"/>
          <p:nvPr/>
        </p:nvSpPr>
        <p:spPr>
          <a:xfrm>
            <a:off x="5765800" y="47879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>
                <a:solidFill>
                  <a:schemeClr val="tx1"/>
                </a:solidFill>
                <a:latin typeface="Barlow Medium"/>
                <a:ea typeface="Noto Sans JP Medium"/>
              </a:rPr>
              <a:t>いまの勤怠管理</a:t>
            </a:r>
            <a:endParaRPr lang="ja-JP" altLang="en-US" sz="1700" b="0" dirty="0"/>
          </a:p>
        </p:txBody>
      </p:sp>
      <p:sp>
        <p:nvSpPr>
          <p:cNvPr id="10" name="deco.point-box-2"/>
          <p:cNvSpPr/>
          <p:nvPr/>
        </p:nvSpPr>
        <p:spPr>
          <a:xfrm>
            <a:off x="7702550" y="4146550"/>
            <a:ext cx="1784350" cy="1784350"/>
          </a:xfrm>
          <a:custGeom>
            <a:avLst/>
            <a:gdLst/>
            <a:ahLst/>
            <a:cxnLst/>
            <a:rect l="l" t="t" r="r" b="b"/>
            <a:pathLst>
              <a:path w="1784350" h="1784350">
                <a:moveTo>
                  <a:pt x="0" y="0"/>
                </a:moveTo>
                <a:lnTo>
                  <a:pt x="1784350" y="0"/>
                </a:lnTo>
                <a:lnTo>
                  <a:pt x="1784350" y="1784350"/>
                </a:lnTo>
                <a:lnTo>
                  <a:pt x="0" y="1784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point.2.lead"/>
          <p:cNvSpPr txBox="1"/>
          <p:nvPr/>
        </p:nvSpPr>
        <p:spPr>
          <a:xfrm>
            <a:off x="7829550" y="4279900"/>
            <a:ext cx="158750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>
                <a:solidFill>
                  <a:schemeClr val="tx1"/>
                </a:solidFill>
                <a:latin typeface="Barlow Medium"/>
                <a:ea typeface="Noto Sans JP Medium"/>
              </a:rPr>
              <a:t>変化</a:t>
            </a:r>
            <a:endParaRPr lang="ja-JP" altLang="en-US" sz="1350" b="0" dirty="0"/>
          </a:p>
        </p:txBody>
      </p:sp>
      <p:sp>
        <p:nvSpPr>
          <p:cNvPr id="12" name="txt.point.2.main"/>
          <p:cNvSpPr txBox="1"/>
          <p:nvPr/>
        </p:nvSpPr>
        <p:spPr>
          <a:xfrm>
            <a:off x="7829550" y="47879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>
                <a:solidFill>
                  <a:schemeClr val="tx1"/>
                </a:solidFill>
                <a:latin typeface="Barlow Medium"/>
                <a:ea typeface="Noto Sans JP Medium"/>
              </a:rPr>
              <a:t>スマホで打刻</a:t>
            </a:r>
            <a:endParaRPr lang="ja-JP" altLang="en-US" sz="1700" b="0" dirty="0"/>
          </a:p>
        </p:txBody>
      </p:sp>
      <p:sp>
        <p:nvSpPr>
          <p:cNvPr id="13" name="deco.point-box-3"/>
          <p:cNvSpPr/>
          <p:nvPr/>
        </p:nvSpPr>
        <p:spPr>
          <a:xfrm>
            <a:off x="9759950" y="4146550"/>
            <a:ext cx="1784350" cy="1784350"/>
          </a:xfrm>
          <a:custGeom>
            <a:avLst/>
            <a:gdLst/>
            <a:ahLst/>
            <a:cxnLst/>
            <a:rect l="l" t="t" r="r" b="b"/>
            <a:pathLst>
              <a:path w="1784350" h="1784350">
                <a:moveTo>
                  <a:pt x="0" y="0"/>
                </a:moveTo>
                <a:lnTo>
                  <a:pt x="1784350" y="0"/>
                </a:lnTo>
                <a:lnTo>
                  <a:pt x="1784350" y="1784350"/>
                </a:lnTo>
                <a:lnTo>
                  <a:pt x="0" y="1784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4" name="txt.point.3.lead"/>
          <p:cNvSpPr txBox="1"/>
          <p:nvPr/>
        </p:nvSpPr>
        <p:spPr>
          <a:xfrm>
            <a:off x="9886950" y="4279900"/>
            <a:ext cx="158750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>
                <a:solidFill>
                  <a:schemeClr val="tx1"/>
                </a:solidFill>
                <a:latin typeface="Barlow Medium"/>
                <a:ea typeface="Noto Sans JP Medium"/>
              </a:rPr>
              <a:t>予定</a:t>
            </a:r>
            <a:endParaRPr lang="ja-JP" altLang="en-US" sz="1350" b="0" dirty="0"/>
          </a:p>
        </p:txBody>
      </p:sp>
      <p:sp>
        <p:nvSpPr>
          <p:cNvPr id="15" name="txt.point.3.main"/>
          <p:cNvSpPr txBox="1"/>
          <p:nvPr/>
        </p:nvSpPr>
        <p:spPr>
          <a:xfrm>
            <a:off x="9886950" y="47879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>
                <a:solidFill>
                  <a:schemeClr val="tx1"/>
                </a:solidFill>
                <a:latin typeface="Barlow Medium"/>
                <a:ea typeface="Noto Sans JP Medium"/>
              </a:rPr>
              <a:t>4月1日に切替</a:t>
            </a:r>
            <a:endParaRPr lang="ja-JP" altLang="en-US" sz="1700" b="0" dirty="0"/>
          </a:p>
        </p:txBody>
      </p:sp>
      <p:sp>
        <p:nvSpPr>
          <p:cNvPr id="16" name="txt.headline"/>
          <p:cNvSpPr txBox="1"/>
          <p:nvPr/>
        </p:nvSpPr>
        <p:spPr>
          <a:xfrm>
            <a:off x="1212850" y="1663700"/>
            <a:ext cx="4381500" cy="1016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bg1"/>
                </a:solidFill>
                <a:latin typeface="Noto Serif JP"/>
                <a:ea typeface="Noto Serif JP"/>
              </a:rPr>
              <a:t>新しい</a:t>
            </a:r>
            <a:endParaRPr lang="ja-JP" altLang="en-US" sz="3250" b="0" dirty="0"/>
          </a:p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bg1"/>
                </a:solidFill>
                <a:latin typeface="Noto Serif JP"/>
                <a:ea typeface="Noto Serif JP"/>
              </a:rPr>
              <a:t>勤怠管理の仕組み</a:t>
            </a:r>
            <a:endParaRPr lang="ja-JP" altLang="en-US" sz="3250" b="0" dirty="0"/>
          </a:p>
        </p:txBody>
      </p:sp>
      <p:sp>
        <p:nvSpPr>
          <p:cNvPr id="17" name="txt.subtitle"/>
          <p:cNvSpPr txBox="1"/>
          <p:nvPr/>
        </p:nvSpPr>
        <p:spPr>
          <a:xfrm>
            <a:off x="6673850" y="1905000"/>
            <a:ext cx="5486400" cy="660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55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4月から紙のタイムカードをやめ、</a:t>
            </a:r>
            <a:endParaRPr lang="ja-JP" altLang="en-US" sz="1500" b="1" dirty="0"/>
          </a:p>
          <a:p>
            <a:pPr algn="l" eaLnBrk="1" hangingPunct="1" latinLnBrk="0">
              <a:lnSpc>
                <a:spcPts val="2550"/>
              </a:lnSpc>
            </a:pPr>
            <a:r>
              <a:rPr lang="ja-JP" altLang="en-US" sz="15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"/>
                <a:ea typeface="Noto Sans JP"/>
              </a:rPr>
              <a:t>スマートフォン</a:t>
            </a: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で打刻します。</a:t>
            </a:r>
            <a:endParaRPr lang="ja-JP" altLang="en-US" sz="1500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4311650" cy="4311650"/>
          </a:xfrm>
          <a:custGeom>
            <a:avLst/>
            <a:gdLst/>
            <a:ahLst/>
            <a:cxnLst/>
            <a:rect l="l" t="t" r="r" b="b"/>
            <a:pathLst>
              <a:path w="4311650" h="4311650">
                <a:moveTo>
                  <a:pt x="0" y="0"/>
                </a:moveTo>
                <a:lnTo>
                  <a:pt x="4311650" y="0"/>
                </a:lnTo>
                <a:lnTo>
                  <a:pt x="0" y="43116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tri"/>
          <p:cNvSpPr/>
          <p:nvPr/>
        </p:nvSpPr>
        <p:spPr>
          <a:xfrm>
            <a:off x="5247640" y="-27940"/>
            <a:ext cx="6958330" cy="6958330"/>
          </a:xfrm>
          <a:custGeom>
            <a:avLst/>
            <a:gdLst/>
            <a:ahLst/>
            <a:cxnLst/>
            <a:rect l="l" t="t" r="r" b="b"/>
            <a:pathLst>
              <a:path w="6958330" h="6958330">
                <a:moveTo>
                  <a:pt x="0" y="6958330"/>
                </a:moveTo>
                <a:lnTo>
                  <a:pt x="6958330" y="0"/>
                </a:lnTo>
                <a:lnTo>
                  <a:pt x="6958330" y="695833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"/>
          <p:cNvSpPr/>
          <p:nvPr/>
        </p:nvSpPr>
        <p:spPr>
          <a:xfrm>
            <a:off x="9556750" y="4993640"/>
            <a:ext cx="2118360" cy="1864360"/>
          </a:xfrm>
          <a:custGeom>
            <a:avLst/>
            <a:gdLst/>
            <a:ahLst/>
            <a:cxnLst/>
            <a:rect l="l" t="t" r="r" b="b"/>
            <a:pathLst>
              <a:path w="2118360" h="1864360">
                <a:moveTo>
                  <a:pt x="0" y="1864360"/>
                </a:moveTo>
                <a:lnTo>
                  <a:pt x="1864360" y="0"/>
                </a:lnTo>
                <a:lnTo>
                  <a:pt x="2118360" y="0"/>
                </a:lnTo>
                <a:lnTo>
                  <a:pt x="254000" y="18643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pic>
        <p:nvPicPr>
          <p:cNvPr id="5" name="img.side" descr="目次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6303010" y="2644140"/>
            <a:ext cx="5363210" cy="2772410"/>
          </a:xfrm>
          <a:custGeom>
            <a:avLst/>
            <a:gdLst/>
            <a:ahLst/>
            <a:cxnLst/>
            <a:rect l="l" t="t" r="r" b="b"/>
            <a:pathLst>
              <a:path w="5363210" h="2772410">
                <a:moveTo>
                  <a:pt x="0" y="2772410"/>
                </a:moveTo>
                <a:lnTo>
                  <a:pt x="2772410" y="0"/>
                </a:lnTo>
                <a:lnTo>
                  <a:pt x="5363210" y="0"/>
                </a:lnTo>
                <a:lnTo>
                  <a:pt x="2590800" y="2772410"/>
                </a:lnTo>
                <a:close/>
              </a:path>
            </a:pathLst>
          </a:custGeom>
        </p:spPr>
      </p:pic>
      <p:sp>
        <p:nvSpPr>
          <p:cNvPr id="6" name="txt.eyebrow"/>
          <p:cNvSpPr txBox="1"/>
          <p:nvPr/>
        </p:nvSpPr>
        <p:spPr>
          <a:xfrm rot="-2700000">
            <a:off x="-355600" y="10033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CONTENTS</a:t>
            </a:r>
            <a:endParaRPr lang="ja-JP" altLang="en-US" sz="2050" b="0" dirty="0" spc="400"/>
          </a:p>
        </p:txBody>
      </p:sp>
      <p:sp>
        <p:nvSpPr>
          <p:cNvPr id="7" name="deco.toc-no-1"/>
          <p:cNvSpPr txBox="1"/>
          <p:nvPr/>
        </p:nvSpPr>
        <p:spPr>
          <a:xfrm>
            <a:off x="2921000" y="25527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01</a:t>
            </a:r>
          </a:p>
        </p:txBody>
      </p:sp>
      <p:sp>
        <p:nvSpPr>
          <p:cNvPr id="8" name="deco.toc-rule-1"/>
          <p:cNvSpPr/>
          <p:nvPr/>
        </p:nvSpPr>
        <p:spPr>
          <a:xfrm>
            <a:off x="3683000" y="30353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item.1"/>
          <p:cNvSpPr txBox="1"/>
          <p:nvPr/>
        </p:nvSpPr>
        <p:spPr>
          <a:xfrm>
            <a:off x="3683000" y="25527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いまの勤怠管理の課題</a:t>
            </a:r>
            <a:endParaRPr lang="ja-JP" altLang="en-US" sz="1800" b="0" dirty="0"/>
          </a:p>
        </p:txBody>
      </p:sp>
      <p:sp>
        <p:nvSpPr>
          <p:cNvPr id="10" name="deco.toc-no-2"/>
          <p:cNvSpPr txBox="1"/>
          <p:nvPr/>
        </p:nvSpPr>
        <p:spPr>
          <a:xfrm>
            <a:off x="2413000" y="33401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02</a:t>
            </a:r>
          </a:p>
        </p:txBody>
      </p:sp>
      <p:sp>
        <p:nvSpPr>
          <p:cNvPr id="11" name="deco.toc-rule-2"/>
          <p:cNvSpPr/>
          <p:nvPr/>
        </p:nvSpPr>
        <p:spPr>
          <a:xfrm>
            <a:off x="3175000" y="38227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2" name="txt.item.2"/>
          <p:cNvSpPr txBox="1"/>
          <p:nvPr/>
        </p:nvSpPr>
        <p:spPr>
          <a:xfrm>
            <a:off x="3175000" y="33401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新しい仕組みで変わること</a:t>
            </a:r>
            <a:endParaRPr lang="ja-JP" altLang="en-US" sz="1800" b="0" dirty="0"/>
          </a:p>
        </p:txBody>
      </p:sp>
      <p:sp>
        <p:nvSpPr>
          <p:cNvPr id="13" name="deco.toc-no-3"/>
          <p:cNvSpPr txBox="1"/>
          <p:nvPr/>
        </p:nvSpPr>
        <p:spPr>
          <a:xfrm>
            <a:off x="1905000" y="41275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03</a:t>
            </a:r>
          </a:p>
        </p:txBody>
      </p:sp>
      <p:sp>
        <p:nvSpPr>
          <p:cNvPr id="14" name="deco.toc-rule-3"/>
          <p:cNvSpPr/>
          <p:nvPr/>
        </p:nvSpPr>
        <p:spPr>
          <a:xfrm>
            <a:off x="2667000" y="46101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5" name="txt.item.3"/>
          <p:cNvSpPr txBox="1"/>
          <p:nvPr/>
        </p:nvSpPr>
        <p:spPr>
          <a:xfrm>
            <a:off x="2667000" y="41275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切り替えまでの予定</a:t>
            </a:r>
            <a:endParaRPr lang="ja-JP" altLang="en-US" sz="1800" b="0" dirty="0"/>
          </a:p>
        </p:txBody>
      </p:sp>
      <p:sp>
        <p:nvSpPr>
          <p:cNvPr id="16" name="deco.toc-no-4"/>
          <p:cNvSpPr txBox="1"/>
          <p:nvPr/>
        </p:nvSpPr>
        <p:spPr>
          <a:xfrm>
            <a:off x="1397000" y="49149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04</a:t>
            </a:r>
          </a:p>
        </p:txBody>
      </p:sp>
      <p:sp>
        <p:nvSpPr>
          <p:cNvPr id="17" name="deco.toc-rule-4"/>
          <p:cNvSpPr/>
          <p:nvPr/>
        </p:nvSpPr>
        <p:spPr>
          <a:xfrm>
            <a:off x="2159000" y="53975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8" name="txt.item.4"/>
          <p:cNvSpPr txBox="1"/>
          <p:nvPr/>
        </p:nvSpPr>
        <p:spPr>
          <a:xfrm>
            <a:off x="2159000" y="49149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皆さんにお願いしたいこと</a:t>
            </a:r>
            <a:endParaRPr lang="ja-JP" altLang="en-US" sz="1800" b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2717800" cy="2717800"/>
          </a:xfrm>
          <a:custGeom>
            <a:avLst/>
            <a:gdLst/>
            <a:ahLst/>
            <a:cxnLst/>
            <a:rect l="l" t="t" r="r" b="b"/>
            <a:pathLst>
              <a:path w="2717800" h="2717800">
                <a:moveTo>
                  <a:pt x="0" y="0"/>
                </a:moveTo>
                <a:lnTo>
                  <a:pt x="2717800" y="0"/>
                </a:lnTo>
                <a:lnTo>
                  <a:pt x="0" y="27178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corner-line"/>
          <p:cNvSpPr/>
          <p:nvPr/>
        </p:nvSpPr>
        <p:spPr>
          <a:xfrm>
            <a:off x="57150" y="167005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</p:sp>
      <p:sp>
        <p:nvSpPr>
          <p:cNvPr id="5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" name="txt.eyebrow"/>
          <p:cNvSpPr txBox="1"/>
          <p:nvPr/>
        </p:nvSpPr>
        <p:spPr>
          <a:xfrm rot="-2700000">
            <a:off x="-406400" y="9144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ISSUES</a:t>
            </a:r>
            <a:endParaRPr lang="ja-JP" altLang="en-US" sz="2050" b="0" dirty="0" spc="400"/>
          </a:p>
        </p:txBody>
      </p:sp>
      <p:sp>
        <p:nvSpPr>
          <p:cNvPr id="7" name="txt.headline"/>
          <p:cNvSpPr txBox="1"/>
          <p:nvPr/>
        </p:nvSpPr>
        <p:spPr>
          <a:xfrm>
            <a:off x="2355850" y="660400"/>
            <a:ext cx="9398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いまの勤怠管理の課題</a:t>
            </a:r>
            <a:endParaRPr lang="ja-JP" altLang="en-US" sz="3250" b="0" dirty="0"/>
          </a:p>
        </p:txBody>
      </p:sp>
      <p:pic>
        <p:nvPicPr>
          <p:cNvPr id="8" name="img.item.1" descr="課題1の写真"/>
          <p:cNvPicPr>
            <a:picLocks noChangeAspect="1"/>
          </p:cNvPicPr>
          <p:nvPr/>
        </p:nvPicPr>
        <p:blipFill>
          <a:blip r:embed="rId7-created"/>
          <a:srcRect/>
          <a:stretch>
            <a:fillRect/>
          </a:stretch>
        </p:blipFill>
        <p:spPr>
          <a:xfrm>
            <a:off x="2032000" y="2451100"/>
            <a:ext cx="990600" cy="990600"/>
          </a:xfrm>
          <a:prstGeom prst="rect">
            <a:avLst/>
          </a:prstGeom>
        </p:spPr>
      </p:pic>
      <p:sp>
        <p:nvSpPr>
          <p:cNvPr id="9" name="txt.item.1.title"/>
          <p:cNvSpPr txBox="1"/>
          <p:nvPr/>
        </p:nvSpPr>
        <p:spPr>
          <a:xfrm>
            <a:off x="3175000" y="22606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集計に時間がかかる</a:t>
            </a:r>
            <a:endParaRPr lang="ja-JP" altLang="en-US" sz="2100" b="0" dirty="0" spc="350"/>
          </a:p>
        </p:txBody>
      </p:sp>
      <p:sp>
        <p:nvSpPr>
          <p:cNvPr id="10" name="deco.item-1-rule"/>
          <p:cNvSpPr/>
          <p:nvPr/>
        </p:nvSpPr>
        <p:spPr>
          <a:xfrm>
            <a:off x="3175000" y="30734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item.1.body"/>
          <p:cNvSpPr txBox="1"/>
          <p:nvPr/>
        </p:nvSpPr>
        <p:spPr>
          <a:xfrm>
            <a:off x="3175000" y="31877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総務が毎月3日かけて手で集計</a:t>
            </a:r>
            <a:endParaRPr lang="ja-JP" altLang="en-US" sz="1200" b="1" dirty="0"/>
          </a:p>
        </p:txBody>
      </p:sp>
      <p:pic>
        <p:nvPicPr>
          <p:cNvPr id="12" name="img.item.2" descr="課題2の写真"/>
          <p:cNvPicPr>
            <a:picLocks noChangeAspect="1"/>
          </p:cNvPicPr>
          <p:nvPr/>
        </p:nvPicPr>
        <p:blipFill>
          <a:blip r:embed="rId8-created"/>
          <a:srcRect/>
          <a:stretch>
            <a:fillRect/>
          </a:stretch>
        </p:blipFill>
        <p:spPr>
          <a:xfrm>
            <a:off x="7035800" y="2451100"/>
            <a:ext cx="990600" cy="990600"/>
          </a:xfrm>
          <a:prstGeom prst="rect">
            <a:avLst/>
          </a:prstGeom>
        </p:spPr>
      </p:pic>
      <p:sp>
        <p:nvSpPr>
          <p:cNvPr id="13" name="txt.item.2.title"/>
          <p:cNvSpPr txBox="1"/>
          <p:nvPr/>
        </p:nvSpPr>
        <p:spPr>
          <a:xfrm>
            <a:off x="8178800" y="22606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1" spc="350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 Medium"/>
                <a:ea typeface="Noto Sans JP Medium"/>
              </a:rPr>
              <a:t>打刻の漏れ</a:t>
            </a: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が多い</a:t>
            </a:r>
            <a:endParaRPr lang="ja-JP" altLang="en-US" sz="2100" b="0" dirty="0" spc="350"/>
          </a:p>
        </p:txBody>
      </p:sp>
      <p:sp>
        <p:nvSpPr>
          <p:cNvPr id="14" name="deco.item-2-rule"/>
          <p:cNvSpPr/>
          <p:nvPr/>
        </p:nvSpPr>
        <p:spPr>
          <a:xfrm>
            <a:off x="8178800" y="30734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5" name="txt.item.2.body"/>
          <p:cNvSpPr txBox="1"/>
          <p:nvPr/>
        </p:nvSpPr>
        <p:spPr>
          <a:xfrm>
            <a:off x="8178800" y="31877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直行直帰の日は後から手書きで直す</a:t>
            </a:r>
            <a:endParaRPr lang="ja-JP" altLang="en-US" sz="1200" b="1" dirty="0"/>
          </a:p>
        </p:txBody>
      </p:sp>
      <p:pic>
        <p:nvPicPr>
          <p:cNvPr id="16" name="img.item.3" descr="課題3の写真"/>
          <p:cNvPicPr>
            <a:picLocks noChangeAspect="1"/>
          </p:cNvPicPr>
          <p:nvPr/>
        </p:nvPicPr>
        <p:blipFill>
          <a:blip r:embed="rId9-created"/>
          <a:srcRect/>
          <a:stretch>
            <a:fillRect/>
          </a:stretch>
        </p:blipFill>
        <p:spPr>
          <a:xfrm>
            <a:off x="2032000" y="4318000"/>
            <a:ext cx="990600" cy="990600"/>
          </a:xfrm>
          <a:prstGeom prst="rect">
            <a:avLst/>
          </a:prstGeom>
        </p:spPr>
      </p:pic>
      <p:sp>
        <p:nvSpPr>
          <p:cNvPr id="17" name="txt.item.3.title"/>
          <p:cNvSpPr txBox="1"/>
          <p:nvPr/>
        </p:nvSpPr>
        <p:spPr>
          <a:xfrm>
            <a:off x="3175000" y="41275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残業時間が</a:t>
            </a:r>
            <a:endParaRPr lang="ja-JP" altLang="en-US" sz="2100" b="0" dirty="0" spc="350"/>
          </a:p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すぐ分からない</a:t>
            </a:r>
            <a:endParaRPr lang="ja-JP" altLang="en-US" sz="2100" b="0" dirty="0" spc="350"/>
          </a:p>
        </p:txBody>
      </p:sp>
      <p:sp>
        <p:nvSpPr>
          <p:cNvPr id="18" name="deco.item-3-rule"/>
          <p:cNvSpPr/>
          <p:nvPr/>
        </p:nvSpPr>
        <p:spPr>
          <a:xfrm>
            <a:off x="3175000" y="49403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9" name="txt.item.3.body"/>
          <p:cNvSpPr txBox="1"/>
          <p:nvPr/>
        </p:nvSpPr>
        <p:spPr>
          <a:xfrm>
            <a:off x="3175000" y="50546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月末まで誰がどれだけ残業か不明</a:t>
            </a:r>
            <a:endParaRPr lang="ja-JP" altLang="en-US" sz="1200" b="1" dirty="0"/>
          </a:p>
        </p:txBody>
      </p:sp>
      <p:pic>
        <p:nvPicPr>
          <p:cNvPr id="20" name="img.item.4" descr="課題4の写真"/>
          <p:cNvPicPr>
            <a:picLocks noChangeAspect="1"/>
          </p:cNvPicPr>
          <p:nvPr/>
        </p:nvPicPr>
        <p:blipFill>
          <a:blip r:embed="rId10-created"/>
          <a:srcRect/>
          <a:stretch>
            <a:fillRect/>
          </a:stretch>
        </p:blipFill>
        <p:spPr>
          <a:xfrm>
            <a:off x="7035800" y="4318000"/>
            <a:ext cx="990600" cy="990600"/>
          </a:xfrm>
          <a:prstGeom prst="rect">
            <a:avLst/>
          </a:prstGeom>
        </p:spPr>
      </p:pic>
      <p:sp>
        <p:nvSpPr>
          <p:cNvPr id="21" name="txt.item.4.title"/>
          <p:cNvSpPr txBox="1"/>
          <p:nvPr/>
        </p:nvSpPr>
        <p:spPr>
          <a:xfrm>
            <a:off x="8178800" y="41275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有給の残りが</a:t>
            </a:r>
            <a:endParaRPr lang="ja-JP" altLang="en-US" sz="2100" b="0" dirty="0" spc="350"/>
          </a:p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分からない</a:t>
            </a:r>
            <a:endParaRPr lang="ja-JP" altLang="en-US" sz="2100" b="0" dirty="0" spc="350"/>
          </a:p>
        </p:txBody>
      </p:sp>
      <p:sp>
        <p:nvSpPr>
          <p:cNvPr id="22" name="deco.item-4-rule"/>
          <p:cNvSpPr/>
          <p:nvPr/>
        </p:nvSpPr>
        <p:spPr>
          <a:xfrm>
            <a:off x="8178800" y="49403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3" name="txt.item.4.body"/>
          <p:cNvSpPr txBox="1"/>
          <p:nvPr/>
        </p:nvSpPr>
        <p:spPr>
          <a:xfrm>
            <a:off x="8178800" y="50546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申請のたびに総務へ問い合わせ</a:t>
            </a:r>
            <a:endParaRPr lang="ja-JP" altLang="en-US" sz="1200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right" descr="右の写真"/>
          <p:cNvPicPr>
            <a:picLocks noChangeAspect="1"/>
          </p:cNvPicPr>
          <p:nvPr/>
        </p:nvPicPr>
        <p:blipFill>
          <a:blip r:embed="rId5-created"/>
          <a:srcRect/>
          <a:stretch>
            <a:fillRect/>
          </a:stretch>
        </p:blipFill>
        <p:spPr>
          <a:xfrm>
            <a:off x="2647950" y="0"/>
            <a:ext cx="3333750" cy="6858000"/>
          </a:xfrm>
          <a:prstGeom prst="rect">
            <a:avLst/>
          </a:prstGeom>
        </p:spPr>
      </p:pic>
      <p:pic>
        <p:nvPicPr>
          <p:cNvPr id="3" name="img.left" descr="左の写真"/>
          <p:cNvPicPr>
            <a:picLocks noChangeAspect="1"/>
          </p:cNvPicPr>
          <p:nvPr/>
        </p:nvPicPr>
        <p:blipFill>
          <a:blip r:embed="rId6-created"/>
          <a:srcRect/>
          <a:stretch>
            <a:fillRect/>
          </a:stretch>
        </p:blipFill>
        <p:spPr>
          <a:xfrm>
            <a:off x="393700" y="0"/>
            <a:ext cx="2254250" cy="6858000"/>
          </a:xfrm>
          <a:prstGeom prst="rect">
            <a:avLst/>
          </a:prstGeom>
        </p:spPr>
      </p:pic>
      <p:sp>
        <p:nvSpPr>
          <p:cNvPr id="4" name="deco.tri-top"/>
          <p:cNvSpPr/>
          <p:nvPr/>
        </p:nvSpPr>
        <p:spPr>
          <a:xfrm>
            <a:off x="2647950" y="0"/>
            <a:ext cx="3326130" cy="3315970"/>
          </a:xfrm>
          <a:custGeom>
            <a:avLst/>
            <a:gdLst/>
            <a:ahLst/>
            <a:cxnLst/>
            <a:rect l="l" t="t" r="r" b="b"/>
            <a:pathLst>
              <a:path w="3326130" h="3315970">
                <a:moveTo>
                  <a:pt x="0" y="0"/>
                </a:moveTo>
                <a:lnTo>
                  <a:pt x="3326130" y="0"/>
                </a:lnTo>
                <a:lnTo>
                  <a:pt x="0" y="331597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tri-bottom"/>
          <p:cNvSpPr/>
          <p:nvPr/>
        </p:nvSpPr>
        <p:spPr>
          <a:xfrm>
            <a:off x="958850" y="5090160"/>
            <a:ext cx="1689100" cy="1687830"/>
          </a:xfrm>
          <a:custGeom>
            <a:avLst/>
            <a:gdLst/>
            <a:ahLst/>
            <a:cxnLst/>
            <a:rect l="l" t="t" r="r" b="b"/>
            <a:pathLst>
              <a:path w="1689100" h="1687830">
                <a:moveTo>
                  <a:pt x="0" y="1687830"/>
                </a:moveTo>
                <a:lnTo>
                  <a:pt x="1689100" y="0"/>
                </a:lnTo>
                <a:lnTo>
                  <a:pt x="1689100" y="168783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txt.headline"/>
          <p:cNvSpPr txBox="1"/>
          <p:nvPr/>
        </p:nvSpPr>
        <p:spPr>
          <a:xfrm>
            <a:off x="6604000" y="889000"/>
            <a:ext cx="5080000" cy="10160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スマホで打刻、</a:t>
            </a:r>
            <a:endParaRPr lang="ja-JP" altLang="en-US" sz="3250" b="0" dirty="0"/>
          </a:p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集計は</a:t>
            </a:r>
            <a:r>
              <a:rPr lang="ja-JP" altLang="en-US" sz="325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Noto Serif JP"/>
                <a:ea typeface="Noto Serif JP"/>
              </a:rPr>
              <a:t>自動</a:t>
            </a:r>
            <a:endParaRPr lang="ja-JP" altLang="en-US" sz="3250" b="0" dirty="0"/>
          </a:p>
        </p:txBody>
      </p:sp>
      <p:sp>
        <p:nvSpPr>
          <p:cNvPr id="8" name="deco.rule"/>
          <p:cNvSpPr/>
          <p:nvPr/>
        </p:nvSpPr>
        <p:spPr>
          <a:xfrm>
            <a:off x="6604000" y="2108200"/>
            <a:ext cx="762000" cy="50800"/>
          </a:xfrm>
          <a:custGeom>
            <a:avLst/>
            <a:gdLst/>
            <a:ahLst/>
            <a:cxnLst/>
            <a:rect l="l" t="t" r="r" b="b"/>
            <a:pathLst>
              <a:path w="762000" h="50800">
                <a:moveTo>
                  <a:pt x="0" y="0"/>
                </a:moveTo>
                <a:lnTo>
                  <a:pt x="762000" y="0"/>
                </a:lnTo>
                <a:lnTo>
                  <a:pt x="762000" y="50800"/>
                </a:lnTo>
                <a:lnTo>
                  <a:pt x="0" y="50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body"/>
          <p:cNvSpPr txBox="1"/>
          <p:nvPr/>
        </p:nvSpPr>
        <p:spPr>
          <a:xfrm>
            <a:off x="6604000" y="2489200"/>
            <a:ext cx="5080000" cy="2311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600"/>
              </a:lnSpc>
            </a:pPr>
            <a:r>
              <a:rPr lang="ja-JP" altLang="en-US" sz="15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"/>
                <a:ea typeface="Noto Sans JP"/>
              </a:rPr>
              <a:t>アプリ</a:t>
            </a:r>
            <a:r>
              <a:rPr lang="ja-JP" altLang="en-US" sz="1500" b="0">
                <a:solidFill>
                  <a:schemeClr val="tx1"/>
                </a:solidFill>
                <a:latin typeface="Barlow"/>
                <a:ea typeface="Noto Sans JP"/>
              </a:rPr>
              <a:t>で出勤と退勤を記録します。現場に直行する日も、その場で打刻できます。集計は自動で、総務の作業は毎月3日から半日に減る見込みです。残業時間と有給の残りは、アプリでいつでも自分で確認できます。</a:t>
            </a:r>
            <a:endParaRPr lang="ja-JP" altLang="en-US" sz="1500" b="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side" descr="左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3035300" cy="6858000"/>
          </a:xfrm>
          <a:prstGeom prst="rect">
            <a:avLst/>
          </a:prstGeom>
        </p:spPr>
      </p:pic>
      <p:sp>
        <p:nvSpPr>
          <p:cNvPr id="3" name="deco.side-tri-1"/>
          <p:cNvSpPr/>
          <p:nvPr/>
        </p:nvSpPr>
        <p:spPr>
          <a:xfrm>
            <a:off x="0" y="-323850"/>
            <a:ext cx="3035300" cy="3035300"/>
          </a:xfrm>
          <a:custGeom>
            <a:avLst/>
            <a:gdLst/>
            <a:ahLst/>
            <a:cxnLst/>
            <a:rect l="l" t="t" r="r" b="b"/>
            <a:pathLst>
              <a:path w="3035300" h="3035300">
                <a:moveTo>
                  <a:pt x="0" y="3035300"/>
                </a:moveTo>
                <a:lnTo>
                  <a:pt x="3035300" y="0"/>
                </a:lnTo>
                <a:lnTo>
                  <a:pt x="3035300" y="30353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4" name="deco.side-tri-2"/>
          <p:cNvSpPr/>
          <p:nvPr/>
        </p:nvSpPr>
        <p:spPr>
          <a:xfrm>
            <a:off x="0" y="2698750"/>
            <a:ext cx="3035300" cy="3035300"/>
          </a:xfrm>
          <a:custGeom>
            <a:avLst/>
            <a:gdLst/>
            <a:ahLst/>
            <a:cxnLst/>
            <a:rect l="l" t="t" r="r" b="b"/>
            <a:pathLst>
              <a:path w="3035300" h="3035300">
                <a:moveTo>
                  <a:pt x="0" y="0"/>
                </a:moveTo>
                <a:lnTo>
                  <a:pt x="3035300" y="0"/>
                </a:lnTo>
                <a:lnTo>
                  <a:pt x="0" y="30353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side-tri-3"/>
          <p:cNvSpPr/>
          <p:nvPr/>
        </p:nvSpPr>
        <p:spPr>
          <a:xfrm>
            <a:off x="990600" y="4832350"/>
            <a:ext cx="2044700" cy="2044700"/>
          </a:xfrm>
          <a:custGeom>
            <a:avLst/>
            <a:gdLst/>
            <a:ahLst/>
            <a:cxnLst/>
            <a:rect l="l" t="t" r="r" b="b"/>
            <a:pathLst>
              <a:path w="2044700" h="2044700">
                <a:moveTo>
                  <a:pt x="0" y="2044700"/>
                </a:moveTo>
                <a:lnTo>
                  <a:pt x="2044700" y="0"/>
                </a:lnTo>
                <a:lnTo>
                  <a:pt x="2044700" y="20447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side-line"/>
          <p:cNvSpPr/>
          <p:nvPr/>
        </p:nvSpPr>
        <p:spPr>
          <a:xfrm>
            <a:off x="76200" y="172720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deco.top-band"/>
          <p:cNvSpPr/>
          <p:nvPr/>
        </p:nvSpPr>
        <p:spPr>
          <a:xfrm>
            <a:off x="9455150" y="-482600"/>
            <a:ext cx="3371850" cy="933450"/>
          </a:xfrm>
          <a:custGeom>
            <a:avLst/>
            <a:gdLst/>
            <a:ahLst/>
            <a:cxnLst/>
            <a:rect l="l" t="t" r="r" b="b"/>
            <a:pathLst>
              <a:path w="3371850" h="933450">
                <a:moveTo>
                  <a:pt x="0" y="933450"/>
                </a:moveTo>
                <a:lnTo>
                  <a:pt x="933450" y="0"/>
                </a:lnTo>
                <a:lnTo>
                  <a:pt x="3371850" y="0"/>
                </a:lnTo>
                <a:lnTo>
                  <a:pt x="244475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8" name="deco.slant-plate"/>
          <p:cNvSpPr/>
          <p:nvPr/>
        </p:nvSpPr>
        <p:spPr>
          <a:xfrm>
            <a:off x="4819650" y="1689100"/>
            <a:ext cx="6350000" cy="3384550"/>
          </a:xfrm>
          <a:custGeom>
            <a:avLst/>
            <a:gdLst/>
            <a:ahLst/>
            <a:cxnLst/>
            <a:rect l="l" t="t" r="r" b="b"/>
            <a:pathLst>
              <a:path w="6350000" h="3384550">
                <a:moveTo>
                  <a:pt x="0" y="3384550"/>
                </a:moveTo>
                <a:lnTo>
                  <a:pt x="3384550" y="0"/>
                </a:lnTo>
                <a:lnTo>
                  <a:pt x="6350000" y="0"/>
                </a:lnTo>
                <a:lnTo>
                  <a:pt x="2965450" y="3384550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>
            <a:noFill/>
          </a:ln>
        </p:spPr>
      </p:sp>
      <p:sp>
        <p:nvSpPr>
          <p:cNvPr id="9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>
              <a:alpha val="92000"/>
            </a:schemeClr>
          </a:solidFill>
          <a:ln>
            <a:noFill/>
          </a:ln>
        </p:spPr>
      </p:sp>
      <p:sp>
        <p:nvSpPr>
          <p:cNvPr id="10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eyebrow"/>
          <p:cNvSpPr txBox="1"/>
          <p:nvPr/>
        </p:nvSpPr>
        <p:spPr>
          <a:xfrm rot="-2700000">
            <a:off x="-431800" y="736600"/>
            <a:ext cx="3048000" cy="711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TRIAL</a:t>
            </a:r>
            <a:endParaRPr lang="ja-JP" altLang="en-US" sz="2050" b="0" dirty="0" spc="400"/>
          </a:p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RESULTS</a:t>
            </a:r>
            <a:endParaRPr lang="ja-JP" altLang="en-US" sz="2050" b="0" dirty="0" spc="400"/>
          </a:p>
        </p:txBody>
      </p:sp>
      <p:sp>
        <p:nvSpPr>
          <p:cNvPr id="12" name="txt.headline"/>
          <p:cNvSpPr txBox="1"/>
          <p:nvPr/>
        </p:nvSpPr>
        <p:spPr>
          <a:xfrm>
            <a:off x="3416300" y="660400"/>
            <a:ext cx="8382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営業部30名の試験導入で効果</a:t>
            </a:r>
            <a:endParaRPr lang="ja-JP" altLang="en-US" sz="3250" b="0" dirty="0"/>
          </a:p>
        </p:txBody>
      </p:sp>
      <p:sp>
        <p:nvSpPr>
          <p:cNvPr id="13" name="txt.label.1"/>
          <p:cNvSpPr txBox="1"/>
          <p:nvPr/>
        </p:nvSpPr>
        <p:spPr>
          <a:xfrm>
            <a:off x="37655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打刻の漏れ</a:t>
            </a:r>
            <a:endParaRPr lang="ja-JP" altLang="en-US" sz="2300" b="1" dirty="0"/>
          </a:p>
        </p:txBody>
      </p:sp>
      <p:sp>
        <p:nvSpPr>
          <p:cNvPr id="14" name="num.value.1"/>
          <p:cNvSpPr txBox="1"/>
          <p:nvPr/>
        </p:nvSpPr>
        <p:spPr>
          <a:xfrm>
            <a:off x="3765550" y="2692400"/>
            <a:ext cx="24892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6</a:t>
            </a:r>
            <a:endParaRPr lang="ja-JP" altLang="en-US" sz="9900" b="0" dirty="0"/>
          </a:p>
        </p:txBody>
      </p:sp>
      <p:sp>
        <p:nvSpPr>
          <p:cNvPr id="15" name="deco.value-1-rule"/>
          <p:cNvSpPr/>
          <p:nvPr/>
        </p:nvSpPr>
        <p:spPr>
          <a:xfrm>
            <a:off x="37084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6" name="txt.unit.1"/>
          <p:cNvSpPr txBox="1"/>
          <p:nvPr/>
        </p:nvSpPr>
        <p:spPr>
          <a:xfrm>
            <a:off x="37655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件</a:t>
            </a:r>
            <a:endParaRPr lang="ja-JP" altLang="en-US" sz="2300" b="1" dirty="0"/>
          </a:p>
        </p:txBody>
      </p:sp>
      <p:sp>
        <p:nvSpPr>
          <p:cNvPr id="17" name="txt.note.1"/>
          <p:cNvSpPr txBox="1"/>
          <p:nvPr/>
        </p:nvSpPr>
        <p:spPr>
          <a:xfrm>
            <a:off x="38417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"/>
                <a:ea typeface="Noto Sans JP"/>
              </a:rPr>
              <a:t>月120件から月6件</a:t>
            </a: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に</a:t>
            </a:r>
            <a:endParaRPr lang="ja-JP" altLang="en-US" sz="1500" b="1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減少</a:t>
            </a:r>
            <a:endParaRPr lang="ja-JP" altLang="en-US" sz="1500" b="1" dirty="0"/>
          </a:p>
        </p:txBody>
      </p:sp>
      <p:sp>
        <p:nvSpPr>
          <p:cNvPr id="18" name="txt.label.2"/>
          <p:cNvSpPr txBox="1"/>
          <p:nvPr/>
        </p:nvSpPr>
        <p:spPr>
          <a:xfrm>
            <a:off x="63182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集計時間</a:t>
            </a:r>
            <a:endParaRPr lang="ja-JP" altLang="en-US" sz="2300" b="1" dirty="0"/>
          </a:p>
        </p:txBody>
      </p:sp>
      <p:sp>
        <p:nvSpPr>
          <p:cNvPr id="19" name="num.value.2"/>
          <p:cNvSpPr txBox="1"/>
          <p:nvPr/>
        </p:nvSpPr>
        <p:spPr>
          <a:xfrm>
            <a:off x="6318250" y="2692400"/>
            <a:ext cx="32766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3</a:t>
            </a:r>
            <a:endParaRPr lang="ja-JP" altLang="en-US" sz="9900" b="0" dirty="0"/>
          </a:p>
        </p:txBody>
      </p:sp>
      <p:sp>
        <p:nvSpPr>
          <p:cNvPr id="20" name="deco.value-2-rule"/>
          <p:cNvSpPr/>
          <p:nvPr/>
        </p:nvSpPr>
        <p:spPr>
          <a:xfrm>
            <a:off x="62611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1" name="txt.unit.2"/>
          <p:cNvSpPr txBox="1"/>
          <p:nvPr/>
        </p:nvSpPr>
        <p:spPr>
          <a:xfrm>
            <a:off x="63182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日から半日</a:t>
            </a:r>
            <a:endParaRPr lang="ja-JP" altLang="en-US" sz="2300" b="1" dirty="0"/>
          </a:p>
        </p:txBody>
      </p:sp>
      <p:sp>
        <p:nvSpPr>
          <p:cNvPr id="22" name="txt.note.2"/>
          <p:cNvSpPr txBox="1"/>
          <p:nvPr/>
        </p:nvSpPr>
        <p:spPr>
          <a:xfrm>
            <a:off x="63944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毎月の集計作業が</a:t>
            </a:r>
            <a:endParaRPr lang="ja-JP" altLang="en-US" sz="1500" b="1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半日に短縮</a:t>
            </a:r>
            <a:endParaRPr lang="ja-JP" altLang="en-US" sz="1500" b="1" dirty="0"/>
          </a:p>
        </p:txBody>
      </p:sp>
      <p:sp>
        <p:nvSpPr>
          <p:cNvPr id="23" name="txt.label.3"/>
          <p:cNvSpPr txBox="1"/>
          <p:nvPr/>
        </p:nvSpPr>
        <p:spPr>
          <a:xfrm>
            <a:off x="96837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有給問い合わせ</a:t>
            </a:r>
            <a:endParaRPr lang="ja-JP" altLang="en-US" sz="2300" b="1" dirty="0"/>
          </a:p>
        </p:txBody>
      </p:sp>
      <p:sp>
        <p:nvSpPr>
          <p:cNvPr id="24" name="num.value.3"/>
          <p:cNvSpPr txBox="1"/>
          <p:nvPr/>
        </p:nvSpPr>
        <p:spPr>
          <a:xfrm>
            <a:off x="9683750" y="2692400"/>
            <a:ext cx="24130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5</a:t>
            </a:r>
            <a:endParaRPr lang="ja-JP" altLang="en-US" sz="9900" b="0" dirty="0"/>
          </a:p>
        </p:txBody>
      </p:sp>
      <p:sp>
        <p:nvSpPr>
          <p:cNvPr id="25" name="deco.value-3-rule"/>
          <p:cNvSpPr/>
          <p:nvPr/>
        </p:nvSpPr>
        <p:spPr>
          <a:xfrm>
            <a:off x="96266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6" name="txt.unit.3"/>
          <p:cNvSpPr txBox="1"/>
          <p:nvPr/>
        </p:nvSpPr>
        <p:spPr>
          <a:xfrm>
            <a:off x="96837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件</a:t>
            </a:r>
            <a:endParaRPr lang="ja-JP" altLang="en-US" sz="2300" b="1" dirty="0"/>
          </a:p>
        </p:txBody>
      </p:sp>
      <p:sp>
        <p:nvSpPr>
          <p:cNvPr id="27" name="txt.note.3"/>
          <p:cNvSpPr txBox="1"/>
          <p:nvPr/>
        </p:nvSpPr>
        <p:spPr>
          <a:xfrm>
            <a:off x="97599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月45件から</a:t>
            </a:r>
            <a:endParaRPr lang="ja-JP" altLang="en-US" sz="1500" b="1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月5件に減少</a:t>
            </a:r>
            <a:endParaRPr lang="ja-JP" altLang="en-US" sz="1500" b="1" dirty="0"/>
          </a:p>
        </p:txBody>
      </p:sp>
      <p:sp>
        <p:nvSpPr>
          <p:cNvPr id="28" name="txt.footnote"/>
          <p:cNvSpPr txBox="1"/>
          <p:nvPr/>
        </p:nvSpPr>
        <p:spPr>
          <a:xfrm>
            <a:off x="3816350" y="5867400"/>
            <a:ext cx="762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300" b="1">
                <a:solidFill>
                  <a:schemeClr val="tx1"/>
                </a:solidFill>
                <a:latin typeface="Barlow"/>
                <a:ea typeface="Noto Sans JP"/>
              </a:rPr>
              <a:t>試験導入した営業部（30名）の結果。</a:t>
            </a:r>
            <a:endParaRPr lang="ja-JP" altLang="en-US" sz="1300"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tri-left"/>
          <p:cNvSpPr/>
          <p:nvPr/>
        </p:nvSpPr>
        <p:spPr>
          <a:xfrm>
            <a:off x="0" y="4014470"/>
            <a:ext cx="1177290" cy="1176020"/>
          </a:xfrm>
          <a:custGeom>
            <a:avLst/>
            <a:gdLst/>
            <a:ahLst/>
            <a:cxnLst/>
            <a:rect l="l" t="t" r="r" b="b"/>
            <a:pathLst>
              <a:path w="1177290" h="1176020">
                <a:moveTo>
                  <a:pt x="0" y="0"/>
                </a:moveTo>
                <a:lnTo>
                  <a:pt x="1177290" y="0"/>
                </a:lnTo>
                <a:lnTo>
                  <a:pt x="0" y="11760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" name="deco.tri-right"/>
          <p:cNvSpPr/>
          <p:nvPr/>
        </p:nvSpPr>
        <p:spPr>
          <a:xfrm>
            <a:off x="8135620" y="1460500"/>
            <a:ext cx="4103370" cy="4103370"/>
          </a:xfrm>
          <a:custGeom>
            <a:avLst/>
            <a:gdLst/>
            <a:ahLst/>
            <a:cxnLst/>
            <a:rect l="l" t="t" r="r" b="b"/>
            <a:pathLst>
              <a:path w="4103370" h="4103370">
                <a:moveTo>
                  <a:pt x="4103370" y="0"/>
                </a:moveTo>
                <a:lnTo>
                  <a:pt x="4103370" y="4103370"/>
                </a:lnTo>
                <a:lnTo>
                  <a:pt x="0" y="41033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plate"/>
          <p:cNvSpPr/>
          <p:nvPr/>
        </p:nvSpPr>
        <p:spPr>
          <a:xfrm>
            <a:off x="1083310" y="2186940"/>
            <a:ext cx="9500870" cy="2772410"/>
          </a:xfrm>
          <a:custGeom>
            <a:avLst/>
            <a:gdLst/>
            <a:ahLst/>
            <a:cxnLst/>
            <a:rect l="l" t="t" r="r" b="b"/>
            <a:pathLst>
              <a:path w="9500870" h="2772410">
                <a:moveTo>
                  <a:pt x="0" y="2760980"/>
                </a:moveTo>
                <a:lnTo>
                  <a:pt x="2759710" y="0"/>
                </a:lnTo>
                <a:lnTo>
                  <a:pt x="9500870" y="0"/>
                </a:lnTo>
                <a:lnTo>
                  <a:pt x="6728460" y="27724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line"/>
          <p:cNvSpPr/>
          <p:nvPr/>
        </p:nvSpPr>
        <p:spPr>
          <a:xfrm>
            <a:off x="5046980" y="6168390"/>
            <a:ext cx="1640840" cy="689610"/>
          </a:xfrm>
          <a:custGeom>
            <a:avLst/>
            <a:gdLst/>
            <a:ahLst/>
            <a:cxnLst/>
            <a:rect l="l" t="t" r="r" b="b"/>
            <a:pathLst>
              <a:path w="1640840" h="689610">
                <a:moveTo>
                  <a:pt x="0" y="689610"/>
                </a:moveTo>
                <a:lnTo>
                  <a:pt x="689610" y="0"/>
                </a:lnTo>
                <a:lnTo>
                  <a:pt x="1640840" y="0"/>
                </a:lnTo>
                <a:lnTo>
                  <a:pt x="951230" y="6896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txt.headline"/>
          <p:cNvSpPr txBox="1"/>
          <p:nvPr/>
        </p:nvSpPr>
        <p:spPr>
          <a:xfrm>
            <a:off x="3175000" y="3187700"/>
            <a:ext cx="5588000" cy="762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5000"/>
              </a:lnSpc>
            </a:pPr>
            <a:r>
              <a:rPr lang="ja-JP" altLang="en-US" sz="4000" b="1">
                <a:solidFill>
                  <a:schemeClr val="bg1"/>
                </a:solidFill>
                <a:latin typeface="Barlow"/>
                <a:ea typeface="Noto Sans JP"/>
              </a:rPr>
              <a:t>切り替えまでの予定</a:t>
            </a:r>
            <a:endParaRPr lang="ja-JP" altLang="en-US" sz="4000" b="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5469890" cy="5469890"/>
          </a:xfrm>
          <a:custGeom>
            <a:avLst/>
            <a:gdLst/>
            <a:ahLst/>
            <a:cxnLst/>
            <a:rect l="l" t="t" r="r" b="b"/>
            <a:pathLst>
              <a:path w="5469890" h="5469890">
                <a:moveTo>
                  <a:pt x="0" y="0"/>
                </a:moveTo>
                <a:lnTo>
                  <a:pt x="5469890" y="0"/>
                </a:lnTo>
                <a:lnTo>
                  <a:pt x="0" y="546989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end-triangle"/>
          <p:cNvSpPr/>
          <p:nvPr/>
        </p:nvSpPr>
        <p:spPr>
          <a:xfrm>
            <a:off x="10995660" y="570484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txt.eyebrow"/>
          <p:cNvSpPr txBox="1"/>
          <p:nvPr/>
        </p:nvSpPr>
        <p:spPr>
          <a:xfrm rot="-2700000">
            <a:off x="-431800" y="736600"/>
            <a:ext cx="3048000" cy="711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 Medium"/>
              </a:rPr>
              <a:t>4 STEPS</a:t>
            </a:r>
            <a:endParaRPr lang="ja-JP" altLang="en-US" sz="2050" b="0" dirty="0" spc="400"/>
          </a:p>
        </p:txBody>
      </p:sp>
      <p:sp>
        <p:nvSpPr>
          <p:cNvPr id="5" name="txt.headline"/>
          <p:cNvSpPr txBox="1"/>
          <p:nvPr/>
        </p:nvSpPr>
        <p:spPr>
          <a:xfrm>
            <a:off x="5740400" y="812800"/>
            <a:ext cx="6096000" cy="711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切り替えは4段階</a:t>
            </a:r>
            <a:endParaRPr lang="ja-JP" altLang="en-US" sz="3250" b="0" dirty="0"/>
          </a:p>
        </p:txBody>
      </p:sp>
      <p:pic>
        <p:nvPicPr>
          <p:cNvPr id="6" name="img.item.1" descr="手順1の写真"/>
          <p:cNvPicPr>
            <a:picLocks noChangeAspect="1"/>
          </p:cNvPicPr>
          <p:nvPr/>
        </p:nvPicPr>
        <p:blipFill>
          <a:blip r:embed="rId7-created"/>
          <a:srcRect/>
          <a:stretch>
            <a:fillRect/>
          </a:stretch>
        </p:blipFill>
        <p:spPr>
          <a:xfrm>
            <a:off x="2049780" y="2137410"/>
            <a:ext cx="2077720" cy="2077720"/>
          </a:xfrm>
          <a:prstGeom prst="rect">
            <a:avLst/>
          </a:prstGeom>
        </p:spPr>
      </p:pic>
      <p:sp>
        <p:nvSpPr>
          <p:cNvPr id="7" name="deco.item-1-rule"/>
          <p:cNvSpPr/>
          <p:nvPr/>
        </p:nvSpPr>
        <p:spPr>
          <a:xfrm>
            <a:off x="2049780" y="431673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" name="txt.item.1.caption"/>
          <p:cNvSpPr txBox="1"/>
          <p:nvPr/>
        </p:nvSpPr>
        <p:spPr>
          <a:xfrm>
            <a:off x="2049780" y="4443730"/>
            <a:ext cx="207772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2月：アプリ配布と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部署説明</a:t>
            </a:r>
            <a:endParaRPr lang="ja-JP" altLang="en-US" sz="1500" b="1" dirty="0"/>
          </a:p>
        </p:txBody>
      </p:sp>
      <p:pic>
        <p:nvPicPr>
          <p:cNvPr id="9" name="img.item.2" descr="手順2の写真"/>
          <p:cNvPicPr>
            <a:picLocks noChangeAspect="1"/>
          </p:cNvPicPr>
          <p:nvPr/>
        </p:nvPicPr>
        <p:blipFill>
          <a:blip r:embed="rId8-created"/>
          <a:srcRect/>
          <a:stretch>
            <a:fillRect/>
          </a:stretch>
        </p:blipFill>
        <p:spPr>
          <a:xfrm>
            <a:off x="4434840" y="2137410"/>
            <a:ext cx="2077720" cy="2077720"/>
          </a:xfrm>
          <a:prstGeom prst="rect">
            <a:avLst/>
          </a:prstGeom>
        </p:spPr>
      </p:pic>
      <p:sp>
        <p:nvSpPr>
          <p:cNvPr id="10" name="deco.item-2-rule"/>
          <p:cNvSpPr/>
          <p:nvPr/>
        </p:nvSpPr>
        <p:spPr>
          <a:xfrm>
            <a:off x="4434840" y="431673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txt.item.2.caption"/>
          <p:cNvSpPr txBox="1"/>
          <p:nvPr/>
        </p:nvSpPr>
        <p:spPr>
          <a:xfrm>
            <a:off x="4434840" y="4443730"/>
            <a:ext cx="207772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3月：紙と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アプリを並行</a:t>
            </a:r>
            <a:endParaRPr lang="ja-JP" altLang="en-US" sz="1500" b="1" dirty="0"/>
          </a:p>
        </p:txBody>
      </p:sp>
      <p:pic>
        <p:nvPicPr>
          <p:cNvPr id="12" name="img.item.3" descr="手順3の写真"/>
          <p:cNvPicPr>
            <a:picLocks noChangeAspect="1"/>
          </p:cNvPicPr>
          <p:nvPr/>
        </p:nvPicPr>
        <p:blipFill>
          <a:blip r:embed="rId9-created"/>
          <a:srcRect/>
          <a:stretch>
            <a:fillRect/>
          </a:stretch>
        </p:blipFill>
        <p:spPr>
          <a:xfrm>
            <a:off x="6819900" y="2137410"/>
            <a:ext cx="2077720" cy="2077720"/>
          </a:xfrm>
          <a:prstGeom prst="rect">
            <a:avLst/>
          </a:prstGeom>
        </p:spPr>
      </p:pic>
      <p:sp>
        <p:nvSpPr>
          <p:cNvPr id="13" name="deco.item-3-rule"/>
          <p:cNvSpPr/>
          <p:nvPr/>
        </p:nvSpPr>
        <p:spPr>
          <a:xfrm>
            <a:off x="6819900" y="431673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4" name="txt.item.3.caption"/>
          <p:cNvSpPr txBox="1"/>
          <p:nvPr/>
        </p:nvSpPr>
        <p:spPr>
          <a:xfrm>
            <a:off x="6819900" y="4443730"/>
            <a:ext cx="207772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"/>
                <a:ea typeface="Noto Sans JP"/>
              </a:rPr>
              <a:t>4月1日</a:t>
            </a: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：完全に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切り替え</a:t>
            </a:r>
            <a:endParaRPr lang="ja-JP" altLang="en-US" sz="1500" b="1" dirty="0"/>
          </a:p>
        </p:txBody>
      </p:sp>
      <p:pic>
        <p:nvPicPr>
          <p:cNvPr id="15" name="img.item.4" descr="手順4の写真"/>
          <p:cNvPicPr>
            <a:picLocks noChangeAspect="1"/>
          </p:cNvPicPr>
          <p:nvPr/>
        </p:nvPicPr>
        <p:blipFill>
          <a:blip r:embed="rId10-created"/>
          <a:srcRect/>
          <a:stretch>
            <a:fillRect/>
          </a:stretch>
        </p:blipFill>
        <p:spPr>
          <a:xfrm>
            <a:off x="9204960" y="2137410"/>
            <a:ext cx="2077720" cy="2077720"/>
          </a:xfrm>
          <a:prstGeom prst="rect">
            <a:avLst/>
          </a:prstGeom>
        </p:spPr>
      </p:pic>
      <p:sp>
        <p:nvSpPr>
          <p:cNvPr id="16" name="deco.item-4-rule"/>
          <p:cNvSpPr/>
          <p:nvPr/>
        </p:nvSpPr>
        <p:spPr>
          <a:xfrm>
            <a:off x="9204960" y="431673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7" name="txt.item.4.caption"/>
          <p:cNvSpPr txBox="1"/>
          <p:nvPr/>
        </p:nvSpPr>
        <p:spPr>
          <a:xfrm>
            <a:off x="9204960" y="4443730"/>
            <a:ext cx="207772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4月末：総務が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初回集計を確認</a:t>
            </a:r>
            <a:endParaRPr lang="ja-JP" altLang="en-US" sz="1500" b="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hero" descr="注意のページ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8331200" cy="6858000"/>
          </a:xfrm>
          <a:custGeom>
            <a:avLst/>
            <a:gdLst/>
            <a:ahLst/>
            <a:cxnLst/>
            <a:rect l="l" t="t" r="r" b="b"/>
            <a:pathLst>
              <a:path w="8331200" h="6858000">
                <a:moveTo>
                  <a:pt x="5308600" y="0"/>
                </a:moveTo>
                <a:lnTo>
                  <a:pt x="8331200" y="0"/>
                </a:lnTo>
                <a:lnTo>
                  <a:pt x="1473200" y="6858000"/>
                </a:lnTo>
                <a:lnTo>
                  <a:pt x="0" y="6858000"/>
                </a:lnTo>
                <a:lnTo>
                  <a:pt x="0" y="5302250"/>
                </a:lnTo>
                <a:close/>
              </a:path>
            </a:pathLst>
          </a:custGeom>
        </p:spPr>
      </p:pic>
      <p:sp>
        <p:nvSpPr>
          <p:cNvPr id="3" name="deco.line-yellow"/>
          <p:cNvSpPr/>
          <p:nvPr/>
        </p:nvSpPr>
        <p:spPr>
          <a:xfrm>
            <a:off x="1606550" y="2082800"/>
            <a:ext cx="1418590" cy="1263650"/>
          </a:xfrm>
          <a:custGeom>
            <a:avLst/>
            <a:gdLst/>
            <a:ahLst/>
            <a:cxnLst/>
            <a:rect l="l" t="t" r="r" b="b"/>
            <a:pathLst>
              <a:path w="1418590" h="1263650">
                <a:moveTo>
                  <a:pt x="0" y="1263650"/>
                </a:moveTo>
                <a:lnTo>
                  <a:pt x="1263650" y="0"/>
                </a:lnTo>
                <a:lnTo>
                  <a:pt x="1418590" y="0"/>
                </a:lnTo>
                <a:lnTo>
                  <a:pt x="154940" y="12636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-blue"/>
          <p:cNvSpPr/>
          <p:nvPr/>
        </p:nvSpPr>
        <p:spPr>
          <a:xfrm>
            <a:off x="2117090" y="4464050"/>
            <a:ext cx="2327910" cy="2073910"/>
          </a:xfrm>
          <a:custGeom>
            <a:avLst/>
            <a:gdLst/>
            <a:ahLst/>
            <a:cxnLst/>
            <a:rect l="l" t="t" r="r" b="b"/>
            <a:pathLst>
              <a:path w="2327910" h="2073910">
                <a:moveTo>
                  <a:pt x="0" y="2073910"/>
                </a:moveTo>
                <a:lnTo>
                  <a:pt x="2073910" y="0"/>
                </a:lnTo>
                <a:lnTo>
                  <a:pt x="2327910" y="0"/>
                </a:lnTo>
                <a:lnTo>
                  <a:pt x="254000" y="20739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band"/>
          <p:cNvSpPr/>
          <p:nvPr/>
        </p:nvSpPr>
        <p:spPr>
          <a:xfrm>
            <a:off x="3686810" y="2209800"/>
            <a:ext cx="8680450" cy="1070610"/>
          </a:xfrm>
          <a:custGeom>
            <a:avLst/>
            <a:gdLst/>
            <a:ahLst/>
            <a:cxnLst/>
            <a:rect l="l" t="t" r="r" b="b"/>
            <a:pathLst>
              <a:path w="8680450" h="1070610">
                <a:moveTo>
                  <a:pt x="0" y="1070610"/>
                </a:moveTo>
                <a:lnTo>
                  <a:pt x="1070610" y="0"/>
                </a:lnTo>
                <a:lnTo>
                  <a:pt x="8680450" y="0"/>
                </a:lnTo>
                <a:lnTo>
                  <a:pt x="8680450" y="107061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txt.eyebrow"/>
          <p:cNvSpPr txBox="1"/>
          <p:nvPr/>
        </p:nvSpPr>
        <p:spPr>
          <a:xfrm rot="-2700000">
            <a:off x="-355600" y="10033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tx1"/>
                </a:solidFill>
                <a:latin typeface="Barlow"/>
                <a:ea typeface="Noto Sans JP"/>
              </a:rPr>
              <a:t>CAUTION</a:t>
            </a:r>
            <a:endParaRPr lang="ja-JP" altLang="en-US" sz="2050" b="0" dirty="0" spc="400"/>
          </a:p>
        </p:txBody>
      </p:sp>
      <p:sp>
        <p:nvSpPr>
          <p:cNvPr id="8" name="txt.headline"/>
          <p:cNvSpPr txBox="1"/>
          <p:nvPr/>
        </p:nvSpPr>
        <p:spPr>
          <a:xfrm>
            <a:off x="4978400" y="2362200"/>
            <a:ext cx="7112000" cy="762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3月は</a:t>
            </a:r>
            <a:r>
              <a:rPr lang="ja-JP" altLang="en-US" sz="325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Noto Serif JP"/>
                <a:ea typeface="Noto Serif JP"/>
              </a:rPr>
              <a:t>両方</a:t>
            </a: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で打刻</a:t>
            </a:r>
            <a:endParaRPr lang="ja-JP" altLang="en-US" sz="3250" b="0" dirty="0"/>
          </a:p>
        </p:txBody>
      </p:sp>
      <p:sp>
        <p:nvSpPr>
          <p:cNvPr id="9" name="txt.body"/>
          <p:cNvSpPr txBox="1"/>
          <p:nvPr/>
        </p:nvSpPr>
        <p:spPr>
          <a:xfrm>
            <a:off x="5232400" y="3810000"/>
            <a:ext cx="63500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6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3月の並行期間は、紙のタイムカードとアプリの両方で打刻してください。どちらか一方だけだと、</a:t>
            </a:r>
            <a:r>
              <a:rPr lang="ja-JP" altLang="en-US" sz="16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 Medium"/>
                <a:ea typeface="Noto Sans JP Medium"/>
              </a:rPr>
              <a:t>給与の計算が合わなくなります</a:t>
            </a: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。</a:t>
            </a:r>
            <a:endParaRPr lang="ja-JP" altLang="en-US" sz="1600" b="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hero" descr="左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6426200" cy="6858000"/>
          </a:xfrm>
          <a:prstGeom prst="rect">
            <a:avLst/>
          </a:prstGeom>
        </p:spPr>
      </p:pic>
      <p:sp>
        <p:nvSpPr>
          <p:cNvPr id="3" name="deco.tri-1"/>
          <p:cNvSpPr/>
          <p:nvPr/>
        </p:nvSpPr>
        <p:spPr>
          <a:xfrm>
            <a:off x="-232410" y="78740"/>
            <a:ext cx="3328670" cy="3328670"/>
          </a:xfrm>
          <a:custGeom>
            <a:avLst/>
            <a:gdLst/>
            <a:ahLst/>
            <a:cxnLst/>
            <a:rect l="l" t="t" r="r" b="b"/>
            <a:pathLst>
              <a:path w="3328670" h="3328670">
                <a:moveTo>
                  <a:pt x="3328670" y="0"/>
                </a:moveTo>
                <a:lnTo>
                  <a:pt x="3328670" y="3328670"/>
                </a:lnTo>
                <a:lnTo>
                  <a:pt x="0" y="332867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4" name="deco.tri-2"/>
          <p:cNvSpPr/>
          <p:nvPr/>
        </p:nvSpPr>
        <p:spPr>
          <a:xfrm>
            <a:off x="-232410" y="3392170"/>
            <a:ext cx="3328670" cy="3328670"/>
          </a:xfrm>
          <a:custGeom>
            <a:avLst/>
            <a:gdLst/>
            <a:ahLst/>
            <a:cxnLst/>
            <a:rect l="l" t="t" r="r" b="b"/>
            <a:pathLst>
              <a:path w="3328670" h="3328670">
                <a:moveTo>
                  <a:pt x="0" y="3328670"/>
                </a:moveTo>
                <a:lnTo>
                  <a:pt x="0" y="0"/>
                </a:lnTo>
                <a:lnTo>
                  <a:pt x="3328670" y="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tri-3"/>
          <p:cNvSpPr/>
          <p:nvPr/>
        </p:nvSpPr>
        <p:spPr>
          <a:xfrm>
            <a:off x="3102610" y="106680"/>
            <a:ext cx="3328670" cy="3327400"/>
          </a:xfrm>
          <a:custGeom>
            <a:avLst/>
            <a:gdLst/>
            <a:ahLst/>
            <a:cxnLst/>
            <a:rect l="l" t="t" r="r" b="b"/>
            <a:pathLst>
              <a:path w="3328670" h="3327400">
                <a:moveTo>
                  <a:pt x="3328670" y="0"/>
                </a:moveTo>
                <a:lnTo>
                  <a:pt x="3328670" y="3327400"/>
                </a:lnTo>
                <a:lnTo>
                  <a:pt x="0" y="33274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tri-4"/>
          <p:cNvSpPr/>
          <p:nvPr/>
        </p:nvSpPr>
        <p:spPr>
          <a:xfrm>
            <a:off x="3102610" y="3420110"/>
            <a:ext cx="3328670" cy="3327400"/>
          </a:xfrm>
          <a:custGeom>
            <a:avLst/>
            <a:gdLst/>
            <a:ahLst/>
            <a:cxnLst/>
            <a:rect l="l" t="t" r="r" b="b"/>
            <a:pathLst>
              <a:path w="3328670" h="3327400">
                <a:moveTo>
                  <a:pt x="0" y="3327400"/>
                </a:moveTo>
                <a:lnTo>
                  <a:pt x="0" y="0"/>
                </a:lnTo>
                <a:lnTo>
                  <a:pt x="3328670" y="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7" name="txt.headline"/>
          <p:cNvSpPr txBox="1"/>
          <p:nvPr/>
        </p:nvSpPr>
        <p:spPr>
          <a:xfrm>
            <a:off x="7061200" y="889000"/>
            <a:ext cx="4699000" cy="10160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スマホが無い方は</a:t>
            </a:r>
            <a:endParaRPr lang="ja-JP" altLang="en-US" sz="3250" b="0" dirty="0"/>
          </a:p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共用端末で</a:t>
            </a:r>
            <a:endParaRPr lang="ja-JP" altLang="en-US" sz="3250" b="0" dirty="0"/>
          </a:p>
        </p:txBody>
      </p:sp>
      <p:sp>
        <p:nvSpPr>
          <p:cNvPr id="8" name="deco.point-1"/>
          <p:cNvSpPr/>
          <p:nvPr/>
        </p:nvSpPr>
        <p:spPr>
          <a:xfrm>
            <a:off x="7061200" y="2603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item.1"/>
          <p:cNvSpPr txBox="1"/>
          <p:nvPr/>
        </p:nvSpPr>
        <p:spPr>
          <a:xfrm>
            <a:off x="7366000" y="2540000"/>
            <a:ext cx="4394200" cy="838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共用端末は各事業所の入口に設置しています。</a:t>
            </a:r>
            <a:endParaRPr lang="ja-JP" altLang="en-US" sz="1600" b="0" dirty="0"/>
          </a:p>
        </p:txBody>
      </p:sp>
      <p:sp>
        <p:nvSpPr>
          <p:cNvPr id="10" name="deco.point-2"/>
          <p:cNvSpPr/>
          <p:nvPr/>
        </p:nvSpPr>
        <p:spPr>
          <a:xfrm>
            <a:off x="7061200" y="3771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item.2"/>
          <p:cNvSpPr txBox="1"/>
          <p:nvPr/>
        </p:nvSpPr>
        <p:spPr>
          <a:xfrm>
            <a:off x="7366000" y="3708400"/>
            <a:ext cx="4394200" cy="838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 Medium"/>
                <a:ea typeface="Noto Sans JP Medium"/>
              </a:rPr>
              <a:t>社員証をかざす</a:t>
            </a: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だけで打刻できます。</a:t>
            </a:r>
            <a:endParaRPr lang="ja-JP" altLang="en-US" sz="1600" b="0" dirty="0"/>
          </a:p>
        </p:txBody>
      </p:sp>
      <p:sp>
        <p:nvSpPr>
          <p:cNvPr id="12" name="deco.point-3"/>
          <p:cNvSpPr/>
          <p:nvPr/>
        </p:nvSpPr>
        <p:spPr>
          <a:xfrm>
            <a:off x="7061200" y="4940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3" name="txt.item.3"/>
          <p:cNvSpPr txBox="1"/>
          <p:nvPr/>
        </p:nvSpPr>
        <p:spPr>
          <a:xfrm>
            <a:off x="7366000" y="4876800"/>
            <a:ext cx="4394200" cy="838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問い合わせは総務部の勤怠担当、または</a:t>
            </a:r>
            <a:endParaRPr lang="ja-JP" altLang="en-US" sz="1600" b="0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社内チャット「勤怠切り替え」へ。</a:t>
            </a:r>
            <a:endParaRPr lang="ja-JP" altLang="en-US" sz="1600" b="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band"/>
          <p:cNvSpPr/>
          <p:nvPr/>
        </p:nvSpPr>
        <p:spPr>
          <a:xfrm>
            <a:off x="6941820" y="0"/>
            <a:ext cx="5250180" cy="4279900"/>
          </a:xfrm>
          <a:custGeom>
            <a:avLst/>
            <a:gdLst/>
            <a:ahLst/>
            <a:cxnLst/>
            <a:rect l="l" t="t" r="r" b="b"/>
            <a:pathLst>
              <a:path w="5250180" h="4279900">
                <a:moveTo>
                  <a:pt x="0" y="2753360"/>
                </a:moveTo>
                <a:lnTo>
                  <a:pt x="2753360" y="0"/>
                </a:lnTo>
                <a:lnTo>
                  <a:pt x="5250180" y="0"/>
                </a:lnTo>
                <a:lnTo>
                  <a:pt x="5250180" y="556260"/>
                </a:lnTo>
                <a:lnTo>
                  <a:pt x="1526540" y="42799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</p:sp>
      <p:sp>
        <p:nvSpPr>
          <p:cNvPr id="3" name="deco.tri"/>
          <p:cNvSpPr/>
          <p:nvPr/>
        </p:nvSpPr>
        <p:spPr>
          <a:xfrm>
            <a:off x="9098280" y="3736340"/>
            <a:ext cx="3216910" cy="3216910"/>
          </a:xfrm>
          <a:custGeom>
            <a:avLst/>
            <a:gdLst/>
            <a:ahLst/>
            <a:cxnLst/>
            <a:rect l="l" t="t" r="r" b="b"/>
            <a:pathLst>
              <a:path w="3216910" h="3216910">
                <a:moveTo>
                  <a:pt x="0" y="3216910"/>
                </a:moveTo>
                <a:lnTo>
                  <a:pt x="3216910" y="0"/>
                </a:lnTo>
                <a:lnTo>
                  <a:pt x="3216910" y="321691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-blue"/>
          <p:cNvSpPr/>
          <p:nvPr/>
        </p:nvSpPr>
        <p:spPr>
          <a:xfrm>
            <a:off x="8031480" y="5894070"/>
            <a:ext cx="1189990" cy="963930"/>
          </a:xfrm>
          <a:custGeom>
            <a:avLst/>
            <a:gdLst/>
            <a:ahLst/>
            <a:cxnLst/>
            <a:rect l="l" t="t" r="r" b="b"/>
            <a:pathLst>
              <a:path w="1189990" h="963930">
                <a:moveTo>
                  <a:pt x="0" y="963930"/>
                </a:moveTo>
                <a:lnTo>
                  <a:pt x="963930" y="0"/>
                </a:lnTo>
                <a:lnTo>
                  <a:pt x="1189990" y="0"/>
                </a:lnTo>
                <a:lnTo>
                  <a:pt x="226060" y="96393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line-yellow"/>
          <p:cNvSpPr/>
          <p:nvPr/>
        </p:nvSpPr>
        <p:spPr>
          <a:xfrm>
            <a:off x="7326630" y="381000"/>
            <a:ext cx="1574800" cy="1348740"/>
          </a:xfrm>
          <a:custGeom>
            <a:avLst/>
            <a:gdLst/>
            <a:ahLst/>
            <a:cxnLst/>
            <a:rect l="l" t="t" r="r" b="b"/>
            <a:pathLst>
              <a:path w="1574800" h="1348740">
                <a:moveTo>
                  <a:pt x="0" y="1348740"/>
                </a:moveTo>
                <a:lnTo>
                  <a:pt x="1348740" y="0"/>
                </a:lnTo>
                <a:lnTo>
                  <a:pt x="1574800" y="0"/>
                </a:lnTo>
                <a:lnTo>
                  <a:pt x="226060" y="134874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pic>
        <p:nvPicPr>
          <p:cNvPr id="6" name="img.hero" descr="菱形のコラージュ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1069340" y="1102360"/>
            <a:ext cx="7360920" cy="5345430"/>
          </a:xfrm>
          <a:custGeom>
            <a:avLst/>
            <a:gdLst/>
            <a:ahLst/>
            <a:cxnLst/>
            <a:rect l="l" t="t" r="r" b="b"/>
            <a:pathLst>
              <a:path w="7360920" h="5345430">
                <a:moveTo>
                  <a:pt x="2146300" y="1047750"/>
                </a:moveTo>
                <a:lnTo>
                  <a:pt x="3192780" y="0"/>
                </a:lnTo>
                <a:lnTo>
                  <a:pt x="4240530" y="1047750"/>
                </a:lnTo>
                <a:lnTo>
                  <a:pt x="3192780" y="2095500"/>
                </a:lnTo>
                <a:close/>
              </a:path>
              <a:path w="7360920" h="5345430">
                <a:moveTo>
                  <a:pt x="4307840" y="1049020"/>
                </a:moveTo>
                <a:lnTo>
                  <a:pt x="5355590" y="2540"/>
                </a:lnTo>
                <a:lnTo>
                  <a:pt x="6403340" y="1049020"/>
                </a:lnTo>
                <a:lnTo>
                  <a:pt x="5355590" y="2096770"/>
                </a:lnTo>
                <a:close/>
              </a:path>
              <a:path w="7360920" h="5345430">
                <a:moveTo>
                  <a:pt x="3228340" y="2129790"/>
                </a:moveTo>
                <a:lnTo>
                  <a:pt x="4274820" y="1082040"/>
                </a:lnTo>
                <a:lnTo>
                  <a:pt x="5322570" y="2129790"/>
                </a:lnTo>
                <a:lnTo>
                  <a:pt x="4274820" y="3177540"/>
                </a:lnTo>
                <a:close/>
              </a:path>
              <a:path w="7360920" h="5345430">
                <a:moveTo>
                  <a:pt x="0" y="3209290"/>
                </a:moveTo>
                <a:lnTo>
                  <a:pt x="2113280" y="1096010"/>
                </a:lnTo>
                <a:lnTo>
                  <a:pt x="4226560" y="3209290"/>
                </a:lnTo>
                <a:lnTo>
                  <a:pt x="2113280" y="5323840"/>
                </a:lnTo>
                <a:close/>
              </a:path>
              <a:path w="7360920" h="5345430">
                <a:moveTo>
                  <a:pt x="4307840" y="3209290"/>
                </a:moveTo>
                <a:lnTo>
                  <a:pt x="5834380" y="1682750"/>
                </a:lnTo>
                <a:lnTo>
                  <a:pt x="7360920" y="3209290"/>
                </a:lnTo>
                <a:lnTo>
                  <a:pt x="5834380" y="4737100"/>
                </a:lnTo>
                <a:close/>
              </a:path>
              <a:path w="7360920" h="5345430">
                <a:moveTo>
                  <a:pt x="3219450" y="4297680"/>
                </a:moveTo>
                <a:lnTo>
                  <a:pt x="4267200" y="3249930"/>
                </a:lnTo>
                <a:lnTo>
                  <a:pt x="5314950" y="4297680"/>
                </a:lnTo>
                <a:lnTo>
                  <a:pt x="4267200" y="5345430"/>
                </a:lnTo>
                <a:close/>
              </a:path>
            </a:pathLst>
          </a:custGeom>
        </p:spPr>
      </p:pic>
      <p:sp>
        <p:nvSpPr>
          <p:cNvPr id="7" name="txt.headline"/>
          <p:cNvSpPr txBox="1"/>
          <p:nvPr/>
        </p:nvSpPr>
        <p:spPr>
          <a:xfrm>
            <a:off x="609600" y="279400"/>
            <a:ext cx="6604000" cy="711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分からないことはお気軽に</a:t>
            </a:r>
            <a:endParaRPr lang="ja-JP" altLang="en-US" sz="3250" b="0" dirty="0"/>
          </a:p>
        </p:txBody>
      </p:sp>
      <p:sp>
        <p:nvSpPr>
          <p:cNvPr id="8" name="txt.subtitle"/>
          <p:cNvSpPr txBox="1"/>
          <p:nvPr/>
        </p:nvSpPr>
        <p:spPr>
          <a:xfrm>
            <a:off x="635000" y="1168400"/>
            <a:ext cx="24892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総務部の勤怠担当、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または</a:t>
            </a:r>
            <a:r>
              <a:rPr lang="ja-JP" altLang="en-US" sz="15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"/>
                <a:ea typeface="Noto Sans JP"/>
              </a:rPr>
              <a:t>勤怠切り替え</a:t>
            </a: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へ</a:t>
            </a:r>
            <a:endParaRPr lang="ja-JP" altLang="en-US" sz="15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rovisional Blue Yellow">
      <a:dk1>
        <a:srgbClr val="000000"/>
      </a:dk1>
      <a:lt1>
        <a:srgbClr val="FFFFFF"/>
      </a:lt1>
      <a:dk2>
        <a:srgbClr val="3D3D3D"/>
      </a:dk2>
      <a:lt2>
        <a:srgbClr val="ECECEC"/>
      </a:lt2>
      <a:accent1>
        <a:srgbClr val="0064D6"/>
      </a:accent1>
      <a:accent2>
        <a:srgbClr val="E4E74D"/>
      </a:accent2>
      <a:accent3>
        <a:srgbClr val="8FBDF0"/>
      </a:accent3>
      <a:accent4>
        <a:srgbClr val="003F8A"/>
      </a:accent4>
      <a:accent5>
        <a:srgbClr val="F7F8D0"/>
      </a:accent5>
      <a:accent6>
        <a:srgbClr val="9E9E9E"/>
      </a:accent6>
      <a:hlink>
        <a:srgbClr val="0000FF"/>
      </a:hlink>
      <a:folHlink>
        <a:srgbClr val="800080"/>
      </a:folHlink>
    </a:clrScheme>
    <a:fontScheme name="Provisional">
      <a:majorFont>
        <a:latin typeface="Barlow"/>
        <a:ea typeface="Noto Serif JP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Noto Sans JP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