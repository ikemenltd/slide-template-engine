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se.0"/>
          <p:cNvSpPr txBox="1"/>
          <p:nvPr/>
        </p:nvSpPr>
        <p:spPr>
          <a:xfrm>
            <a:off x="127000" y="127000"/>
            <a:ext cx="22860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  <a:noAutofit/>
          </a:bodyPr>
          <a:lstStyle/>
          <a:p>
            <a:r>
              <a:rPr sz="1200" b="0" lang="ja-JP">
                <a:latin typeface="Noto Sans JP"/>
                <a:ea typeface="Noto Sans JP"/>
              </a:rPr>
              <a:t>業務が属人化しており、自分がいないと回らない。採用コストも教育コストも高騰している。</a:t>
            </a:r>
          </a:p>
        </p:txBody>
      </p:sp>
      <p:sp>
        <p:nvSpPr>
          <p:cNvPr id="3" name="case.1"/>
          <p:cNvSpPr txBox="1"/>
          <p:nvPr/>
        </p:nvSpPr>
        <p:spPr>
          <a:xfrm>
            <a:off x="127000" y="1717040"/>
            <a:ext cx="33020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  <a:noAutofit/>
          </a:bodyPr>
          <a:lstStyle/>
          <a:p>
            <a:r>
              <a:rPr sz="1200" b="0" lang="ja-JP">
                <a:latin typeface="Noto Sans JP"/>
                <a:ea typeface="Noto Sans JP"/>
              </a:rPr>
              <a:t>見積もりを取ったら数百万〜数千万と言われた。補助金は書類が多く、何が自社に使えるか分からない。</a:t>
            </a:r>
          </a:p>
        </p:txBody>
      </p:sp>
      <p:sp>
        <p:nvSpPr>
          <p:cNvPr id="4" name="case.2"/>
          <p:cNvSpPr txBox="1"/>
          <p:nvPr/>
        </p:nvSpPr>
        <p:spPr>
          <a:xfrm>
            <a:off x="127000" y="3307080"/>
            <a:ext cx="43180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  <a:noAutofit/>
          </a:bodyPr>
          <a:lstStyle/>
          <a:p>
            <a:r>
              <a:rPr sz="1200" b="0" lang="ja-JP">
                <a:latin typeface="Noto Sans JP"/>
                <a:ea typeface="Noto Sans JP"/>
              </a:rPr>
              <a:t>省力化投資補助金は2024年に新設された制度で、最大補助額は2,000万円、補助率は2/3です。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se.3"/>
          <p:cNvSpPr txBox="1"/>
          <p:nvPr/>
        </p:nvSpPr>
        <p:spPr>
          <a:xfrm>
            <a:off x="127000" y="127000"/>
            <a:ext cx="2286000" cy="1950720"/>
          </a:xfrm>
          <a:prstGeom prst="rect">
            <a:avLst/>
          </a:prstGeom>
          <a:noFill/>
        </p:spPr>
        <p:txBody>
          <a:bodyPr wrap="square" lIns="0" rIns="0" tIns="0" bIns="0">
            <a:spAutoFit/>
            <a:noAutofit/>
          </a:bodyPr>
          <a:lstStyle/>
          <a:p>
            <a:r>
              <a:rPr sz="1600" b="0" lang="ja-JP">
                <a:latin typeface="Noto Sans JP"/>
                <a:ea typeface="Noto Sans JP"/>
              </a:rPr>
              <a:t>見積もりを取ったら数百万〜数千万と言われた。補助金は書類が多く、何が自社に使えるか分からない。</a:t>
            </a:r>
          </a:p>
        </p:txBody>
      </p:sp>
      <p:sp>
        <p:nvSpPr>
          <p:cNvPr id="3" name="case.4"/>
          <p:cNvSpPr txBox="1"/>
          <p:nvPr/>
        </p:nvSpPr>
        <p:spPr>
          <a:xfrm>
            <a:off x="127000" y="2204720"/>
            <a:ext cx="3302000" cy="1950720"/>
          </a:xfrm>
          <a:prstGeom prst="rect">
            <a:avLst/>
          </a:prstGeom>
          <a:noFill/>
        </p:spPr>
        <p:txBody>
          <a:bodyPr wrap="square" lIns="0" rIns="0" tIns="0" bIns="0">
            <a:spAutoFit/>
            <a:noAutofit/>
          </a:bodyPr>
          <a:lstStyle/>
          <a:p>
            <a:r>
              <a:rPr sz="1600" b="0" lang="ja-JP">
                <a:latin typeface="Noto Sans JP"/>
                <a:ea typeface="Noto Sans JP"/>
              </a:rPr>
              <a:t>省力化投資補助金は2024年に新設された制度で、最大補助額は2,000万円、補助率は2/3です。</a:t>
            </a:r>
          </a:p>
        </p:txBody>
      </p:sp>
      <p:sp>
        <p:nvSpPr>
          <p:cNvPr id="4" name="case.5"/>
          <p:cNvSpPr txBox="1"/>
          <p:nvPr/>
        </p:nvSpPr>
        <p:spPr>
          <a:xfrm>
            <a:off x="127000" y="4282440"/>
            <a:ext cx="4318000" cy="1950720"/>
          </a:xfrm>
          <a:prstGeom prst="rect">
            <a:avLst/>
          </a:prstGeom>
          <a:noFill/>
        </p:spPr>
        <p:txBody>
          <a:bodyPr wrap="square" lIns="0" rIns="0" tIns="0" bIns="0">
            <a:spAutoFit/>
            <a:noAutofit/>
          </a:bodyPr>
          <a:lstStyle/>
          <a:p>
            <a:r>
              <a:rPr sz="1600" b="0" lang="ja-JP">
                <a:latin typeface="Noto Sans JP"/>
                <a:ea typeface="Noto Sans JP"/>
              </a:rPr>
              <a:t>「丸投げOK」で申請代行の費用はゼロ。不採択時は0円です（2025年度対応版）。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se.6"/>
          <p:cNvSpPr txBox="1"/>
          <p:nvPr/>
        </p:nvSpPr>
        <p:spPr>
          <a:xfrm>
            <a:off x="127000" y="127000"/>
            <a:ext cx="2286000" cy="2438400"/>
          </a:xfrm>
          <a:prstGeom prst="rect">
            <a:avLst/>
          </a:prstGeom>
          <a:noFill/>
        </p:spPr>
        <p:txBody>
          <a:bodyPr wrap="square" lIns="0" rIns="0" tIns="0" bIns="0">
            <a:spAutoFit/>
            <a:noAutofit/>
          </a:bodyPr>
          <a:lstStyle/>
          <a:p>
            <a:r>
              <a:rPr sz="2000" b="0" lang="ja-JP">
                <a:latin typeface="Noto Sans JP"/>
                <a:ea typeface="Noto Sans JP"/>
              </a:rPr>
              <a:t>省力化投資補助金は2024年に新設された制度で、最大補助額は2,000万円、補助率は2/3です。</a:t>
            </a:r>
          </a:p>
        </p:txBody>
      </p:sp>
      <p:sp>
        <p:nvSpPr>
          <p:cNvPr id="3" name="case.7"/>
          <p:cNvSpPr txBox="1"/>
          <p:nvPr/>
        </p:nvSpPr>
        <p:spPr>
          <a:xfrm>
            <a:off x="127000" y="2692400"/>
            <a:ext cx="3302000" cy="2438400"/>
          </a:xfrm>
          <a:prstGeom prst="rect">
            <a:avLst/>
          </a:prstGeom>
          <a:noFill/>
        </p:spPr>
        <p:txBody>
          <a:bodyPr wrap="square" lIns="0" rIns="0" tIns="0" bIns="0">
            <a:spAutoFit/>
            <a:noAutofit/>
          </a:bodyPr>
          <a:lstStyle/>
          <a:p>
            <a:r>
              <a:rPr sz="2000" b="0" lang="ja-JP">
                <a:latin typeface="Noto Sans JP"/>
                <a:ea typeface="Noto Sans JP"/>
              </a:rPr>
              <a:t>「丸投げOK」で申請代行の費用はゼロ。不採択時は0円です（2025年度対応版）。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se.8"/>
          <p:cNvSpPr txBox="1"/>
          <p:nvPr/>
        </p:nvSpPr>
        <p:spPr>
          <a:xfrm>
            <a:off x="127000" y="127000"/>
            <a:ext cx="4318000" cy="2438400"/>
          </a:xfrm>
          <a:prstGeom prst="rect">
            <a:avLst/>
          </a:prstGeom>
          <a:noFill/>
        </p:spPr>
        <p:txBody>
          <a:bodyPr wrap="square" lIns="0" rIns="0" tIns="0" bIns="0">
            <a:spAutoFit/>
            <a:noAutofit/>
          </a:bodyPr>
          <a:lstStyle/>
          <a:p>
            <a:r>
              <a:rPr sz="2000" b="0" lang="ja-JP">
                <a:latin typeface="Noto Sans JP"/>
                <a:ea typeface="Noto Sans JP"/>
              </a:rPr>
              <a:t>社長が現場から離れられないという悩みは、業務システムの導入で解決できます。</a:t>
            </a:r>
          </a:p>
        </p:txBody>
      </p:sp>
      <p:sp>
        <p:nvSpPr>
          <p:cNvPr id="3" name="case.9"/>
          <p:cNvSpPr txBox="1"/>
          <p:nvPr/>
        </p:nvSpPr>
        <p:spPr>
          <a:xfrm>
            <a:off x="127000" y="2692400"/>
            <a:ext cx="22860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  <a:noAutofit/>
          </a:bodyPr>
          <a:lstStyle/>
          <a:p>
            <a:r>
              <a:rPr sz="1200" b="1" lang="ja-JP">
                <a:latin typeface="Noto Sans JP"/>
                <a:ea typeface="Noto Sans JP"/>
              </a:rPr>
              <a:t>見積もりを取ったら数百万〜数千万と言われた。補助金は書類が多く、何が自社に使えるか分からない。</a:t>
            </a:r>
          </a:p>
        </p:txBody>
      </p:sp>
      <p:sp>
        <p:nvSpPr>
          <p:cNvPr id="4" name="case.10"/>
          <p:cNvSpPr txBox="1"/>
          <p:nvPr/>
        </p:nvSpPr>
        <p:spPr>
          <a:xfrm>
            <a:off x="127000" y="4282440"/>
            <a:ext cx="33020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  <a:noAutofit/>
          </a:bodyPr>
          <a:lstStyle/>
          <a:p>
            <a:r>
              <a:rPr sz="1200" b="1" lang="ja-JP">
                <a:latin typeface="Noto Sans JP"/>
                <a:ea typeface="Noto Sans JP"/>
              </a:rPr>
              <a:t>省力化投資補助金は2024年に新設された制度で、最大補助額は2,000万円、補助率は2/3です。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se.11"/>
          <p:cNvSpPr txBox="1"/>
          <p:nvPr/>
        </p:nvSpPr>
        <p:spPr>
          <a:xfrm>
            <a:off x="127000" y="127000"/>
            <a:ext cx="43180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  <a:noAutofit/>
          </a:bodyPr>
          <a:lstStyle/>
          <a:p>
            <a:r>
              <a:rPr sz="1200" b="1" lang="ja-JP">
                <a:latin typeface="Noto Sans JP"/>
                <a:ea typeface="Noto Sans JP"/>
              </a:rPr>
              <a:t>「丸投げOK」で申請代行の費用はゼロ。不採択時は0円です（2025年度対応版）。</a:t>
            </a:r>
          </a:p>
        </p:txBody>
      </p:sp>
      <p:sp>
        <p:nvSpPr>
          <p:cNvPr id="3" name="case.12"/>
          <p:cNvSpPr txBox="1"/>
          <p:nvPr/>
        </p:nvSpPr>
        <p:spPr>
          <a:xfrm>
            <a:off x="127000" y="1717040"/>
            <a:ext cx="2286000" cy="1950720"/>
          </a:xfrm>
          <a:prstGeom prst="rect">
            <a:avLst/>
          </a:prstGeom>
          <a:noFill/>
        </p:spPr>
        <p:txBody>
          <a:bodyPr wrap="square" lIns="0" rIns="0" tIns="0" bIns="0">
            <a:spAutoFit/>
            <a:noAutofit/>
          </a:bodyPr>
          <a:lstStyle/>
          <a:p>
            <a:r>
              <a:rPr sz="1600" b="1" lang="ja-JP">
                <a:latin typeface="Noto Sans JP"/>
                <a:ea typeface="Noto Sans JP"/>
              </a:rPr>
              <a:t>省力化投資補助金は2024年に新設された制度で、最大補助額は2,000万円、補助率は2/3です。</a:t>
            </a:r>
          </a:p>
        </p:txBody>
      </p:sp>
      <p:sp>
        <p:nvSpPr>
          <p:cNvPr id="4" name="case.13"/>
          <p:cNvSpPr txBox="1"/>
          <p:nvPr/>
        </p:nvSpPr>
        <p:spPr>
          <a:xfrm>
            <a:off x="127000" y="3794760"/>
            <a:ext cx="3302000" cy="1950720"/>
          </a:xfrm>
          <a:prstGeom prst="rect">
            <a:avLst/>
          </a:prstGeom>
          <a:noFill/>
        </p:spPr>
        <p:txBody>
          <a:bodyPr wrap="square" lIns="0" rIns="0" tIns="0" bIns="0">
            <a:spAutoFit/>
            <a:noAutofit/>
          </a:bodyPr>
          <a:lstStyle/>
          <a:p>
            <a:r>
              <a:rPr sz="1600" b="1" lang="ja-JP">
                <a:latin typeface="Noto Sans JP"/>
                <a:ea typeface="Noto Sans JP"/>
              </a:rPr>
              <a:t>「丸投げOK」で申請代行の費用はゼロ。不採択時は0円です（2025年度対応版）。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se.14"/>
          <p:cNvSpPr txBox="1"/>
          <p:nvPr/>
        </p:nvSpPr>
        <p:spPr>
          <a:xfrm>
            <a:off x="127000" y="127000"/>
            <a:ext cx="4318000" cy="1950720"/>
          </a:xfrm>
          <a:prstGeom prst="rect">
            <a:avLst/>
          </a:prstGeom>
          <a:noFill/>
        </p:spPr>
        <p:txBody>
          <a:bodyPr wrap="square" lIns="0" rIns="0" tIns="0" bIns="0">
            <a:spAutoFit/>
            <a:noAutofit/>
          </a:bodyPr>
          <a:lstStyle/>
          <a:p>
            <a:r>
              <a:rPr sz="1600" b="1" lang="ja-JP">
                <a:latin typeface="Noto Sans JP"/>
                <a:ea typeface="Noto Sans JP"/>
              </a:rPr>
              <a:t>社長が現場から離れられないという悩みは、業務システムの導入で解決できます。</a:t>
            </a:r>
          </a:p>
        </p:txBody>
      </p:sp>
      <p:sp>
        <p:nvSpPr>
          <p:cNvPr id="3" name="case.15"/>
          <p:cNvSpPr txBox="1"/>
          <p:nvPr/>
        </p:nvSpPr>
        <p:spPr>
          <a:xfrm>
            <a:off x="127000" y="2204720"/>
            <a:ext cx="2286000" cy="2438400"/>
          </a:xfrm>
          <a:prstGeom prst="rect">
            <a:avLst/>
          </a:prstGeom>
          <a:noFill/>
        </p:spPr>
        <p:txBody>
          <a:bodyPr wrap="square" lIns="0" rIns="0" tIns="0" bIns="0">
            <a:spAutoFit/>
            <a:noAutofit/>
          </a:bodyPr>
          <a:lstStyle/>
          <a:p>
            <a:r>
              <a:rPr sz="2000" b="1" lang="ja-JP">
                <a:latin typeface="Noto Sans JP"/>
                <a:ea typeface="Noto Sans JP"/>
              </a:rPr>
              <a:t>「丸投げOK」で申請代行の費用はゼロ。不採択時は0円です（2025年度対応版）。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se.16"/>
          <p:cNvSpPr txBox="1"/>
          <p:nvPr/>
        </p:nvSpPr>
        <p:spPr>
          <a:xfrm>
            <a:off x="127000" y="127000"/>
            <a:ext cx="3302000" cy="2438400"/>
          </a:xfrm>
          <a:prstGeom prst="rect">
            <a:avLst/>
          </a:prstGeom>
          <a:noFill/>
        </p:spPr>
        <p:txBody>
          <a:bodyPr wrap="square" lIns="0" rIns="0" tIns="0" bIns="0">
            <a:spAutoFit/>
            <a:noAutofit/>
          </a:bodyPr>
          <a:lstStyle/>
          <a:p>
            <a:r>
              <a:rPr sz="2000" b="1" lang="ja-JP">
                <a:latin typeface="Noto Sans JP"/>
                <a:ea typeface="Noto Sans JP"/>
              </a:rPr>
              <a:t>社長が現場から離れられないという悩みは、業務システムの導入で解決できます。</a:t>
            </a:r>
          </a:p>
        </p:txBody>
      </p:sp>
      <p:sp>
        <p:nvSpPr>
          <p:cNvPr id="3" name="case.17"/>
          <p:cNvSpPr txBox="1"/>
          <p:nvPr/>
        </p:nvSpPr>
        <p:spPr>
          <a:xfrm>
            <a:off x="127000" y="2692400"/>
            <a:ext cx="4318000" cy="2438400"/>
          </a:xfrm>
          <a:prstGeom prst="rect">
            <a:avLst/>
          </a:prstGeom>
          <a:noFill/>
        </p:spPr>
        <p:txBody>
          <a:bodyPr wrap="square" lIns="0" rIns="0" tIns="0" bIns="0">
            <a:spAutoFit/>
            <a:noAutofit/>
          </a:bodyPr>
          <a:lstStyle/>
          <a:p>
            <a:r>
              <a:rPr sz="2000" b="1" lang="ja-JP">
                <a:latin typeface="Noto Sans JP"/>
                <a:ea typeface="Noto Sans JP"/>
              </a:rPr>
              <a:t>DX推進とAI活用でBackOffice業務を効率化し、Excel管理から脱却する。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se.18"/>
          <p:cNvSpPr txBox="1"/>
          <p:nvPr/>
        </p:nvSpPr>
        <p:spPr>
          <a:xfrm>
            <a:off x="127000" y="127000"/>
            <a:ext cx="22860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  <a:noAutofit/>
          </a:bodyPr>
          <a:lstStyle/>
          <a:p>
            <a:r>
              <a:rPr sz="1200" b="0" lang="ja-JP">
                <a:latin typeface="Noto Sans JP Medium"/>
                <a:ea typeface="Noto Sans JP Medium"/>
              </a:rPr>
              <a:t>省力化投資補助金は2024年に新設された制度で、最大補助額は2,000万円、補助率は2/3です。</a:t>
            </a:r>
          </a:p>
        </p:txBody>
      </p:sp>
      <p:sp>
        <p:nvSpPr>
          <p:cNvPr id="3" name="case.19"/>
          <p:cNvSpPr txBox="1"/>
          <p:nvPr/>
        </p:nvSpPr>
        <p:spPr>
          <a:xfrm>
            <a:off x="127000" y="1717040"/>
            <a:ext cx="33020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  <a:noAutofit/>
          </a:bodyPr>
          <a:lstStyle/>
          <a:p>
            <a:r>
              <a:rPr sz="1200" b="0" lang="ja-JP">
                <a:latin typeface="Noto Sans JP Medium"/>
                <a:ea typeface="Noto Sans JP Medium"/>
              </a:rPr>
              <a:t>「丸投げOK」で申請代行の費用はゼロ。不採択時は0円です（2025年度対応版）。</a:t>
            </a:r>
          </a:p>
        </p:txBody>
      </p:sp>
      <p:sp>
        <p:nvSpPr>
          <p:cNvPr id="4" name="case.20"/>
          <p:cNvSpPr txBox="1"/>
          <p:nvPr/>
        </p:nvSpPr>
        <p:spPr>
          <a:xfrm>
            <a:off x="127000" y="3307080"/>
            <a:ext cx="43180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  <a:noAutofit/>
          </a:bodyPr>
          <a:lstStyle/>
          <a:p>
            <a:r>
              <a:rPr sz="1200" b="0" lang="ja-JP">
                <a:latin typeface="Noto Sans JP Medium"/>
                <a:ea typeface="Noto Sans JP Medium"/>
              </a:rPr>
              <a:t>社長が現場から離れられないという悩みは、業務システムの導入で解決できます。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se.21"/>
          <p:cNvSpPr txBox="1"/>
          <p:nvPr/>
        </p:nvSpPr>
        <p:spPr>
          <a:xfrm>
            <a:off x="127000" y="127000"/>
            <a:ext cx="2286000" cy="1950720"/>
          </a:xfrm>
          <a:prstGeom prst="rect">
            <a:avLst/>
          </a:prstGeom>
          <a:noFill/>
        </p:spPr>
        <p:txBody>
          <a:bodyPr wrap="square" lIns="0" rIns="0" tIns="0" bIns="0">
            <a:spAutoFit/>
            <a:noAutofit/>
          </a:bodyPr>
          <a:lstStyle/>
          <a:p>
            <a:r>
              <a:rPr sz="1600" b="0" lang="ja-JP">
                <a:latin typeface="Noto Sans JP Medium"/>
                <a:ea typeface="Noto Sans JP Medium"/>
              </a:rPr>
              <a:t>「丸投げOK」で申請代行の費用はゼロ。不採択時は0円です（2025年度対応版）。</a:t>
            </a:r>
          </a:p>
        </p:txBody>
      </p:sp>
      <p:sp>
        <p:nvSpPr>
          <p:cNvPr id="3" name="case.22"/>
          <p:cNvSpPr txBox="1"/>
          <p:nvPr/>
        </p:nvSpPr>
        <p:spPr>
          <a:xfrm>
            <a:off x="127000" y="2204720"/>
            <a:ext cx="3302000" cy="1950720"/>
          </a:xfrm>
          <a:prstGeom prst="rect">
            <a:avLst/>
          </a:prstGeom>
          <a:noFill/>
        </p:spPr>
        <p:txBody>
          <a:bodyPr wrap="square" lIns="0" rIns="0" tIns="0" bIns="0">
            <a:spAutoFit/>
            <a:noAutofit/>
          </a:bodyPr>
          <a:lstStyle/>
          <a:p>
            <a:r>
              <a:rPr sz="1600" b="0" lang="ja-JP">
                <a:latin typeface="Noto Sans JP Medium"/>
                <a:ea typeface="Noto Sans JP Medium"/>
              </a:rPr>
              <a:t>社長が現場から離れられないという悩みは、業務システムの導入で解決できます。</a:t>
            </a:r>
          </a:p>
        </p:txBody>
      </p:sp>
      <p:sp>
        <p:nvSpPr>
          <p:cNvPr id="4" name="case.23"/>
          <p:cNvSpPr txBox="1"/>
          <p:nvPr/>
        </p:nvSpPr>
        <p:spPr>
          <a:xfrm>
            <a:off x="127000" y="4282440"/>
            <a:ext cx="4318000" cy="1950720"/>
          </a:xfrm>
          <a:prstGeom prst="rect">
            <a:avLst/>
          </a:prstGeom>
          <a:noFill/>
        </p:spPr>
        <p:txBody>
          <a:bodyPr wrap="square" lIns="0" rIns="0" tIns="0" bIns="0">
            <a:spAutoFit/>
            <a:noAutofit/>
          </a:bodyPr>
          <a:lstStyle/>
          <a:p>
            <a:r>
              <a:rPr sz="1600" b="0" lang="ja-JP">
                <a:latin typeface="Noto Sans JP Medium"/>
                <a:ea typeface="Noto Sans JP Medium"/>
              </a:rPr>
              <a:t>DX推進とAI活用でBackOffice業務を効率化し、Excel管理から脱却する。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se.24"/>
          <p:cNvSpPr txBox="1"/>
          <p:nvPr/>
        </p:nvSpPr>
        <p:spPr>
          <a:xfrm>
            <a:off x="127000" y="127000"/>
            <a:ext cx="2286000" cy="2438400"/>
          </a:xfrm>
          <a:prstGeom prst="rect">
            <a:avLst/>
          </a:prstGeom>
          <a:noFill/>
        </p:spPr>
        <p:txBody>
          <a:bodyPr wrap="square" lIns="0" rIns="0" tIns="0" bIns="0">
            <a:spAutoFit/>
            <a:noAutofit/>
          </a:bodyPr>
          <a:lstStyle/>
          <a:p>
            <a:r>
              <a:rPr sz="2000" b="0" lang="ja-JP">
                <a:latin typeface="Noto Sans JP Medium"/>
                <a:ea typeface="Noto Sans JP Medium"/>
              </a:rPr>
              <a:t>社長が現場から離れられないという悩みは、業務システムの導入で解決できます。</a:t>
            </a:r>
          </a:p>
        </p:txBody>
      </p:sp>
      <p:sp>
        <p:nvSpPr>
          <p:cNvPr id="3" name="case.25"/>
          <p:cNvSpPr txBox="1"/>
          <p:nvPr/>
        </p:nvSpPr>
        <p:spPr>
          <a:xfrm>
            <a:off x="127000" y="2692400"/>
            <a:ext cx="3302000" cy="2438400"/>
          </a:xfrm>
          <a:prstGeom prst="rect">
            <a:avLst/>
          </a:prstGeom>
          <a:noFill/>
        </p:spPr>
        <p:txBody>
          <a:bodyPr wrap="square" lIns="0" rIns="0" tIns="0" bIns="0">
            <a:spAutoFit/>
            <a:noAutofit/>
          </a:bodyPr>
          <a:lstStyle/>
          <a:p>
            <a:r>
              <a:rPr sz="2000" b="0" lang="ja-JP">
                <a:latin typeface="Noto Sans JP Medium"/>
                <a:ea typeface="Noto Sans JP Medium"/>
              </a:rPr>
              <a:t>DX推進とAI活用でBackOffice業務を効率化し、Excel管理から脱却する。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se.26"/>
          <p:cNvSpPr txBox="1"/>
          <p:nvPr/>
        </p:nvSpPr>
        <p:spPr>
          <a:xfrm>
            <a:off x="127000" y="127000"/>
            <a:ext cx="4318000" cy="2438400"/>
          </a:xfrm>
          <a:prstGeom prst="rect">
            <a:avLst/>
          </a:prstGeom>
          <a:noFill/>
        </p:spPr>
        <p:txBody>
          <a:bodyPr wrap="square" lIns="0" rIns="0" tIns="0" bIns="0">
            <a:spAutoFit/>
            <a:noAutofit/>
          </a:bodyPr>
          <a:lstStyle/>
          <a:p>
            <a:r>
              <a:rPr sz="2000" b="0" lang="ja-JP">
                <a:latin typeface="Noto Sans JP Medium"/>
                <a:ea typeface="Noto Sans JP Medium"/>
              </a:rPr>
              <a:t>業務が属人化しており、自分がいないと回らない。採用コストも教育コストも高騰している。</a:t>
            </a:r>
          </a:p>
        </p:txBody>
      </p:sp>
      <p:sp>
        <p:nvSpPr>
          <p:cNvPr id="3" name="case.27"/>
          <p:cNvSpPr txBox="1"/>
          <p:nvPr/>
        </p:nvSpPr>
        <p:spPr>
          <a:xfrm>
            <a:off x="127000" y="2692400"/>
            <a:ext cx="22860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  <a:noAutofit/>
          </a:bodyPr>
          <a:lstStyle/>
          <a:p>
            <a:r>
              <a:rPr sz="1200" b="0" lang="ja-JP">
                <a:latin typeface="Noto Serif JP"/>
                <a:ea typeface="Noto Serif JP"/>
              </a:rPr>
              <a:t>「丸投げOK」で申請代行の費用はゼロ。不採択時は0円です（2025年度対応版）。</a:t>
            </a:r>
          </a:p>
        </p:txBody>
      </p:sp>
      <p:sp>
        <p:nvSpPr>
          <p:cNvPr id="4" name="case.28"/>
          <p:cNvSpPr txBox="1"/>
          <p:nvPr/>
        </p:nvSpPr>
        <p:spPr>
          <a:xfrm>
            <a:off x="127000" y="4282440"/>
            <a:ext cx="33020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  <a:noAutofit/>
          </a:bodyPr>
          <a:lstStyle/>
          <a:p>
            <a:r>
              <a:rPr sz="1200" b="0" lang="ja-JP">
                <a:latin typeface="Noto Serif JP"/>
                <a:ea typeface="Noto Serif JP"/>
              </a:rPr>
              <a:t>社長が現場から離れられないという悩みは、業務システムの導入で解決できます。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se.29"/>
          <p:cNvSpPr txBox="1"/>
          <p:nvPr/>
        </p:nvSpPr>
        <p:spPr>
          <a:xfrm>
            <a:off x="127000" y="127000"/>
            <a:ext cx="43180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  <a:noAutofit/>
          </a:bodyPr>
          <a:lstStyle/>
          <a:p>
            <a:r>
              <a:rPr sz="1200" b="0" lang="ja-JP">
                <a:latin typeface="Noto Serif JP"/>
                <a:ea typeface="Noto Serif JP"/>
              </a:rPr>
              <a:t>DX推進とAI活用でBackOffice業務を効率化し、Excel管理から脱却する。</a:t>
            </a:r>
          </a:p>
        </p:txBody>
      </p:sp>
      <p:sp>
        <p:nvSpPr>
          <p:cNvPr id="3" name="case.30"/>
          <p:cNvSpPr txBox="1"/>
          <p:nvPr/>
        </p:nvSpPr>
        <p:spPr>
          <a:xfrm>
            <a:off x="127000" y="1717040"/>
            <a:ext cx="2286000" cy="1950720"/>
          </a:xfrm>
          <a:prstGeom prst="rect">
            <a:avLst/>
          </a:prstGeom>
          <a:noFill/>
        </p:spPr>
        <p:txBody>
          <a:bodyPr wrap="square" lIns="0" rIns="0" tIns="0" bIns="0">
            <a:spAutoFit/>
            <a:noAutofit/>
          </a:bodyPr>
          <a:lstStyle/>
          <a:p>
            <a:r>
              <a:rPr sz="1600" b="0" lang="ja-JP">
                <a:latin typeface="Noto Serif JP"/>
                <a:ea typeface="Noto Serif JP"/>
              </a:rPr>
              <a:t>社長が現場から離れられないという悩みは、業務システムの導入で解決できます。</a:t>
            </a:r>
          </a:p>
        </p:txBody>
      </p:sp>
      <p:sp>
        <p:nvSpPr>
          <p:cNvPr id="4" name="case.31"/>
          <p:cNvSpPr txBox="1"/>
          <p:nvPr/>
        </p:nvSpPr>
        <p:spPr>
          <a:xfrm>
            <a:off x="127000" y="3794760"/>
            <a:ext cx="3302000" cy="1950720"/>
          </a:xfrm>
          <a:prstGeom prst="rect">
            <a:avLst/>
          </a:prstGeom>
          <a:noFill/>
        </p:spPr>
        <p:txBody>
          <a:bodyPr wrap="square" lIns="0" rIns="0" tIns="0" bIns="0">
            <a:spAutoFit/>
            <a:noAutofit/>
          </a:bodyPr>
          <a:lstStyle/>
          <a:p>
            <a:r>
              <a:rPr sz="1600" b="0" lang="ja-JP">
                <a:latin typeface="Noto Serif JP"/>
                <a:ea typeface="Noto Serif JP"/>
              </a:rPr>
              <a:t>DX推進とAI活用でBackOffice業務を効率化し、Excel管理から脱却する。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se.32"/>
          <p:cNvSpPr txBox="1"/>
          <p:nvPr/>
        </p:nvSpPr>
        <p:spPr>
          <a:xfrm>
            <a:off x="127000" y="127000"/>
            <a:ext cx="4318000" cy="1950720"/>
          </a:xfrm>
          <a:prstGeom prst="rect">
            <a:avLst/>
          </a:prstGeom>
          <a:noFill/>
        </p:spPr>
        <p:txBody>
          <a:bodyPr wrap="square" lIns="0" rIns="0" tIns="0" bIns="0">
            <a:spAutoFit/>
            <a:noAutofit/>
          </a:bodyPr>
          <a:lstStyle/>
          <a:p>
            <a:r>
              <a:rPr sz="1600" b="0" lang="ja-JP">
                <a:latin typeface="Noto Serif JP"/>
                <a:ea typeface="Noto Serif JP"/>
              </a:rPr>
              <a:t>業務が属人化しており、自分がいないと回らない。採用コストも教育コストも高騰している。</a:t>
            </a:r>
          </a:p>
        </p:txBody>
      </p:sp>
      <p:sp>
        <p:nvSpPr>
          <p:cNvPr id="3" name="case.33"/>
          <p:cNvSpPr txBox="1"/>
          <p:nvPr/>
        </p:nvSpPr>
        <p:spPr>
          <a:xfrm>
            <a:off x="127000" y="2204720"/>
            <a:ext cx="2286000" cy="2438400"/>
          </a:xfrm>
          <a:prstGeom prst="rect">
            <a:avLst/>
          </a:prstGeom>
          <a:noFill/>
        </p:spPr>
        <p:txBody>
          <a:bodyPr wrap="square" lIns="0" rIns="0" tIns="0" bIns="0">
            <a:spAutoFit/>
            <a:noAutofit/>
          </a:bodyPr>
          <a:lstStyle/>
          <a:p>
            <a:r>
              <a:rPr sz="2000" b="0" lang="ja-JP">
                <a:latin typeface="Noto Serif JP"/>
                <a:ea typeface="Noto Serif JP"/>
              </a:rPr>
              <a:t>DX推進とAI活用でBackOffice業務を効率化し、Excel管理から脱却する。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se.34"/>
          <p:cNvSpPr txBox="1"/>
          <p:nvPr/>
        </p:nvSpPr>
        <p:spPr>
          <a:xfrm>
            <a:off x="127000" y="127000"/>
            <a:ext cx="3302000" cy="2438400"/>
          </a:xfrm>
          <a:prstGeom prst="rect">
            <a:avLst/>
          </a:prstGeom>
          <a:noFill/>
        </p:spPr>
        <p:txBody>
          <a:bodyPr wrap="square" lIns="0" rIns="0" tIns="0" bIns="0">
            <a:spAutoFit/>
            <a:noAutofit/>
          </a:bodyPr>
          <a:lstStyle/>
          <a:p>
            <a:r>
              <a:rPr sz="2000" b="0" lang="ja-JP">
                <a:latin typeface="Noto Serif JP"/>
                <a:ea typeface="Noto Serif JP"/>
              </a:rPr>
              <a:t>業務が属人化しており、自分がいないと回らない。採用コストも教育コストも高騰している。</a:t>
            </a:r>
          </a:p>
        </p:txBody>
      </p:sp>
      <p:sp>
        <p:nvSpPr>
          <p:cNvPr id="3" name="case.35"/>
          <p:cNvSpPr txBox="1"/>
          <p:nvPr/>
        </p:nvSpPr>
        <p:spPr>
          <a:xfrm>
            <a:off x="127000" y="2692400"/>
            <a:ext cx="4318000" cy="2438400"/>
          </a:xfrm>
          <a:prstGeom prst="rect">
            <a:avLst/>
          </a:prstGeom>
          <a:noFill/>
        </p:spPr>
        <p:txBody>
          <a:bodyPr wrap="square" lIns="0" rIns="0" tIns="0" bIns="0">
            <a:spAutoFit/>
            <a:noAutofit/>
          </a:bodyPr>
          <a:lstStyle/>
          <a:p>
            <a:r>
              <a:rPr sz="2000" b="0" lang="ja-JP">
                <a:latin typeface="Noto Serif JP"/>
                <a:ea typeface="Noto Serif JP"/>
              </a:rPr>
              <a:t>見積もりを取ったら数百万〜数千万と言われた。補助金は書類が多く、何が自社に使えるか分からない。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