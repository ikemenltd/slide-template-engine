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10-created" id="256"/>
    <p:sldId r:id="rId11-created" id="257"/>
    <p:sldId r:id="rId12-created" id="25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10-created" Type="http://schemas.openxmlformats.org/officeDocument/2006/relationships/slide" Target="slides/slide3.xml"/><Relationship Id="rId11-created" Type="http://schemas.openxmlformats.org/officeDocument/2006/relationships/slide" Target="slides/slide4.xml"/><Relationship Id="rId12-created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probe-issues</a:t>
            </a:r>
          </a:p>
          <a:p>
            <a:r>
              <a:t>variant: "2"</a:t>
            </a:r>
          </a:p>
          <a:p>
            <a:r>
              <a:t>role: [problem]</a:t>
            </a:r>
          </a:p>
          <a:p>
            <a:r>
              <a:t>label: 検証用（課題2件）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probe-section</a:t>
            </a:r>
          </a:p>
          <a:p>
            <a:r>
              <a:t>role: [section]</a:t>
            </a:r>
          </a:p>
          <a:p>
            <a:r>
              <a:t>label: 検証用（中扉）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probe-issues</a:t>
            </a:r>
          </a:p>
          <a:p>
            <a:r>
              <a:t>variant: "2"</a:t>
            </a:r>
          </a:p>
          <a:p>
            <a:r>
              <a:t>role: [problem]</a:t>
            </a:r>
          </a:p>
          <a:p>
            <a:r>
              <a:t>label: 検証用（課題2件）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probe-issues</a:t>
            </a:r>
          </a:p>
          <a:p>
            <a:r>
              <a:t>variant: "2"</a:t>
            </a:r>
          </a:p>
          <a:p>
            <a:r>
              <a:t>role: [problem]</a:t>
            </a:r>
          </a:p>
          <a:p>
            <a:r>
              <a:t>label: 検証用（課題2件）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probe-section</a:t>
            </a:r>
          </a:p>
          <a:p>
            <a:r>
              <a:t>role: [section]</a:t>
            </a:r>
          </a:p>
          <a:p>
            <a:r>
              <a:t>label: 検証用（中扉）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-created" Type="http://schemas.openxmlformats.org/officeDocument/2006/relationships/image" Target="../media/0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-created" Type="http://schemas.openxmlformats.org/officeDocument/2006/relationships/image" Target="../media/0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itle-band"/>
          <p:cNvSpPr/>
          <p:nvPr/>
        </p:nvSpPr>
        <p:spPr>
          <a:xfrm>
            <a:off x="4673600" y="177800"/>
            <a:ext cx="7010400" cy="355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.corner-triangle"/>
          <p:cNvSpPr/>
          <p:nvPr/>
        </p:nvSpPr>
        <p:spPr>
          <a:xfrm rot="16200000">
            <a:off x="11430000" y="6096000"/>
            <a:ext cx="762000" cy="76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.eyebrow-band"/>
          <p:cNvSpPr/>
          <p:nvPr/>
        </p:nvSpPr>
        <p:spPr>
          <a:xfrm>
            <a:off x="0" y="0"/>
            <a:ext cx="2159000" cy="88900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xt.headline"/>
          <p:cNvSpPr txBox="1"/>
          <p:nvPr/>
        </p:nvSpPr>
        <p:spPr>
          <a:xfrm>
            <a:off x="4902200" y="177800"/>
            <a:ext cx="66040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 lang="ja-JP">
                <a:solidFill>
                  <a:schemeClr val="tx1"/>
                </a:solidFill>
                <a:latin typeface="Noto Serif JP"/>
                <a:ea typeface="Noto Serif JP"/>
              </a:rPr>
              <a:t>経営の現場で、こんな</a:t>
            </a:r>
            <a:r>
              <a:rPr sz="2000" b="1" lang="ja-JP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限界</a:t>
            </a:r>
            <a:r>
              <a:rPr sz="2000" b="0" lang="ja-JP">
                <a:solidFill>
                  <a:schemeClr val="tx1"/>
                </a:solidFill>
                <a:latin typeface="Noto Serif JP"/>
                <a:ea typeface="Noto Serif JP"/>
              </a:rPr>
              <a:t>を感じていませんか？</a:t>
            </a:r>
          </a:p>
        </p:txBody>
      </p:sp>
      <p:pic>
        <p:nvPicPr>
          <p:cNvPr id="6" name="img.hero" descr="dummy-photo.png"/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08000" y="1524000"/>
            <a:ext cx="3810000" cy="3810000"/>
          </a:xfrm>
          <a:prstGeom prst="parallelogram">
            <a:avLst>
              <a:gd name="adj" fmla="val 50000"/>
            </a:avLst>
          </a:prstGeom>
        </p:spPr>
      </p:pic>
      <p:sp>
        <p:nvSpPr>
          <p:cNvPr id="7" name="txt.item.1"/>
          <p:cNvSpPr txBox="1"/>
          <p:nvPr/>
        </p:nvSpPr>
        <p:spPr>
          <a:xfrm>
            <a:off x="4826000" y="1524000"/>
            <a:ext cx="2794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lang="ja-JP">
                <a:solidFill>
                  <a:schemeClr val="tx1"/>
                </a:solidFill>
                <a:latin typeface="Noto Sans JP"/>
                <a:ea typeface="Noto Sans JP"/>
              </a:rPr>
              <a:t>社長が現場から</a:t>
            </a:r>
          </a:p>
          <a:p>
            <a:pPr algn="l"/>
            <a:r>
              <a:rPr sz="1600" b="1" lang="ja-JP">
                <a:solidFill>
                  <a:schemeClr val="tx1"/>
                </a:solidFill>
                <a:latin typeface="Noto Sans JP"/>
                <a:ea typeface="Noto Sans JP"/>
              </a:rPr>
              <a:t>離れられない</a:t>
            </a:r>
          </a:p>
        </p:txBody>
      </p:sp>
      <p:sp>
        <p:nvSpPr>
          <p:cNvPr id="8" name="txt.item.2"/>
          <p:cNvSpPr txBox="1"/>
          <p:nvPr/>
        </p:nvSpPr>
        <p:spPr>
          <a:xfrm>
            <a:off x="8128000" y="1524000"/>
            <a:ext cx="2794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lang="ja-JP">
                <a:solidFill>
                  <a:schemeClr val="tx1"/>
                </a:solidFill>
                <a:latin typeface="Noto Sans JP"/>
                <a:ea typeface="Noto Sans JP"/>
              </a:rPr>
              <a:t>人件費が厳しい</a:t>
            </a:r>
          </a:p>
        </p:txBody>
      </p:sp>
      <p:sp>
        <p:nvSpPr>
          <p:cNvPr id="9" name="txt.body"/>
          <p:cNvSpPr txBox="1"/>
          <p:nvPr/>
        </p:nvSpPr>
        <p:spPr>
          <a:xfrm>
            <a:off x="4826000" y="2540000"/>
            <a:ext cx="6096000" cy="15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lang="ja-JP">
                <a:solidFill>
                  <a:schemeClr val="tx1"/>
                </a:solidFill>
                <a:latin typeface="Noto Sans JP"/>
                <a:ea typeface="Noto Sans JP"/>
              </a:rPr>
              <a:t>業務が属人化しており、自分がいないと回らない。採用コストも教育コストも高騰している。</a:t>
            </a:r>
          </a:p>
        </p:txBody>
      </p:sp>
      <p:sp>
        <p:nvSpPr>
          <p:cNvPr id="10" name="num.rate"/>
          <p:cNvSpPr txBox="1"/>
          <p:nvPr/>
        </p:nvSpPr>
        <p:spPr>
          <a:xfrm>
            <a:off x="4826000" y="4318000"/>
            <a:ext cx="2794000" cy="101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000" b="0" lang="ja-JP">
                <a:solidFill>
                  <a:schemeClr val="tx1"/>
                </a:solidFill>
                <a:latin typeface="Barlow"/>
                <a:ea typeface="Noto Sans JP"/>
              </a:rPr>
              <a:t>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itle-band"/>
          <p:cNvSpPr/>
          <p:nvPr/>
        </p:nvSpPr>
        <p:spPr>
          <a:xfrm>
            <a:off x="4673600" y="177800"/>
            <a:ext cx="7010400" cy="355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.corner-triangle"/>
          <p:cNvSpPr/>
          <p:nvPr/>
        </p:nvSpPr>
        <p:spPr>
          <a:xfrm rot="16200000">
            <a:off x="11430000" y="6096000"/>
            <a:ext cx="762000" cy="76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.eyebrow-band"/>
          <p:cNvSpPr/>
          <p:nvPr/>
        </p:nvSpPr>
        <p:spPr>
          <a:xfrm>
            <a:off x="0" y="0"/>
            <a:ext cx="2159000" cy="88900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xt.headline"/>
          <p:cNvSpPr txBox="1"/>
          <p:nvPr/>
        </p:nvSpPr>
        <p:spPr>
          <a:xfrm>
            <a:off x="4902200" y="177800"/>
            <a:ext cx="66040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 lang="ja-JP">
                <a:solidFill>
                  <a:schemeClr val="tx1"/>
                </a:solidFill>
                <a:latin typeface="Noto Serif JP"/>
                <a:ea typeface="Noto Serif JP"/>
              </a:rPr>
              <a:t>同じ見本の2枚目（複製の確認）</a:t>
            </a:r>
          </a:p>
        </p:txBody>
      </p:sp>
      <p:pic>
        <p:nvPicPr>
          <p:cNvPr id="6" name="img.hero" descr="dummy-photo.png"/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08000" y="1524000"/>
            <a:ext cx="3810000" cy="3810000"/>
          </a:xfrm>
          <a:prstGeom prst="parallelogram">
            <a:avLst>
              <a:gd name="adj" fmla="val 50000"/>
            </a:avLst>
          </a:prstGeom>
        </p:spPr>
      </p:pic>
      <p:sp>
        <p:nvSpPr>
          <p:cNvPr id="7" name="txt.item.1"/>
          <p:cNvSpPr txBox="1"/>
          <p:nvPr/>
        </p:nvSpPr>
        <p:spPr>
          <a:xfrm>
            <a:off x="4826000" y="1524000"/>
            <a:ext cx="2794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lang="ja-JP">
                <a:solidFill>
                  <a:schemeClr val="tx1"/>
                </a:solidFill>
                <a:latin typeface="Noto Sans JP"/>
                <a:ea typeface="Noto Sans JP"/>
              </a:rPr>
              <a:t>開発費が高すぎる</a:t>
            </a:r>
          </a:p>
        </p:txBody>
      </p:sp>
      <p:sp>
        <p:nvSpPr>
          <p:cNvPr id="8" name="txt.item.2"/>
          <p:cNvSpPr txBox="1"/>
          <p:nvPr/>
        </p:nvSpPr>
        <p:spPr>
          <a:xfrm>
            <a:off x="8128000" y="1524000"/>
            <a:ext cx="2794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lang="ja-JP">
                <a:solidFill>
                  <a:schemeClr val="tx1"/>
                </a:solidFill>
                <a:latin typeface="Noto Sans JP"/>
                <a:ea typeface="Noto Sans JP"/>
              </a:rPr>
              <a:t>補助金は</a:t>
            </a:r>
            <a:r>
              <a:rPr sz="1600" b="1" lang="ja-JP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ans JP"/>
                <a:ea typeface="Noto Sans JP"/>
              </a:rPr>
              <a:t>難しそう</a:t>
            </a:r>
          </a:p>
        </p:txBody>
      </p:sp>
      <p:sp>
        <p:nvSpPr>
          <p:cNvPr id="9" name="txt.body"/>
          <p:cNvSpPr txBox="1"/>
          <p:nvPr/>
        </p:nvSpPr>
        <p:spPr>
          <a:xfrm>
            <a:off x="4826000" y="2540000"/>
            <a:ext cx="6096000" cy="15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lang="ja-JP">
                <a:solidFill>
                  <a:schemeClr val="tx1"/>
                </a:solidFill>
                <a:latin typeface="Noto Sans JP"/>
                <a:ea typeface="Noto Sans JP"/>
              </a:rPr>
              <a:t>見積もりを取ったら数百万〜数千万と言われた。</a:t>
            </a:r>
          </a:p>
        </p:txBody>
      </p:sp>
      <p:sp>
        <p:nvSpPr>
          <p:cNvPr id="10" name="num.rate"/>
          <p:cNvSpPr txBox="1"/>
          <p:nvPr/>
        </p:nvSpPr>
        <p:spPr>
          <a:xfrm>
            <a:off x="4826000" y="4318000"/>
            <a:ext cx="2794000" cy="101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000" b="0" lang="ja-JP">
                <a:solidFill>
                  <a:schemeClr val="tx1"/>
                </a:solidFill>
                <a:latin typeface="Barlow"/>
                <a:ea typeface="Noto Sans JP"/>
              </a:rPr>
              <a:t>2/3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section-band"/>
          <p:cNvSpPr/>
          <p:nvPr/>
        </p:nvSpPr>
        <p:spPr>
          <a:xfrm>
            <a:off x="4318000" y="1524000"/>
            <a:ext cx="7112000" cy="91440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xt.headline"/>
          <p:cNvSpPr txBox="1"/>
          <p:nvPr/>
        </p:nvSpPr>
        <p:spPr>
          <a:xfrm>
            <a:off x="4826000" y="1651000"/>
            <a:ext cx="6096000" cy="66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800" b="1" lang="ja-JP">
                <a:solidFill>
                  <a:schemeClr val="bg1"/>
                </a:solidFill>
                <a:latin typeface="Noto Sans JP"/>
                <a:ea typeface="Noto Sans JP"/>
              </a:rPr>
              <a:t>制度の核心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beBlue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eFonts">
      <a:maj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