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23-created" id="256"/>
    <p:sldId r:id="rId24-created" id="257"/>
    <p:sldId r:id="rId25-created" id="258"/>
    <p:sldId r:id="rId26-created" id="259"/>
    <p:sldId r:id="rId27-created" id="260"/>
    <p:sldId r:id="rId28-created" id="261"/>
    <p:sldId r:id="rId29-created" id="262"/>
    <p:sldId r:id="rId30-created" id="263"/>
    <p:sldId r:id="rId31-created" id="264"/>
    <p:sldId r:id="rId32-created" id="265"/>
    <p:sldId r:id="rId33-created" id="266"/>
    <p:sldId r:id="rId34-created" id="267"/>
    <p:sldId r:id="rId35-created" id="268"/>
    <p:sldId r:id="rId36-created" id="269"/>
    <p:sldId r:id="rId37-created" id="270"/>
    <p:sldId r:id="rId38-created" id="271"/>
    <p:sldId r:id="rId39-created" id="272"/>
    <p:sldId r:id="rId40-created" id="273"/>
    <p:sldId r:id="rId41-created" id="274"/>
    <p:sldId r:id="rId42-created" id="27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3-created" Type="http://schemas.openxmlformats.org/officeDocument/2006/relationships/slide" Target="slides/slide16.xml"/><Relationship Id="rId24-created" Type="http://schemas.openxmlformats.org/officeDocument/2006/relationships/slide" Target="slides/slide17.xml"/><Relationship Id="rId25-created" Type="http://schemas.openxmlformats.org/officeDocument/2006/relationships/slide" Target="slides/slide18.xml"/><Relationship Id="rId26-created" Type="http://schemas.openxmlformats.org/officeDocument/2006/relationships/slide" Target="slides/slide19.xml"/><Relationship Id="rId27-created" Type="http://schemas.openxmlformats.org/officeDocument/2006/relationships/slide" Target="slides/slide20.xml"/><Relationship Id="rId28-created" Type="http://schemas.openxmlformats.org/officeDocument/2006/relationships/slide" Target="slides/slide21.xml"/><Relationship Id="rId29-created" Type="http://schemas.openxmlformats.org/officeDocument/2006/relationships/slide" Target="slides/slide22.xml"/><Relationship Id="rId30-created" Type="http://schemas.openxmlformats.org/officeDocument/2006/relationships/slide" Target="slides/slide23.xml"/><Relationship Id="rId31-created" Type="http://schemas.openxmlformats.org/officeDocument/2006/relationships/slide" Target="slides/slide24.xml"/><Relationship Id="rId32-created" Type="http://schemas.openxmlformats.org/officeDocument/2006/relationships/slide" Target="slides/slide25.xml"/><Relationship Id="rId33-created" Type="http://schemas.openxmlformats.org/officeDocument/2006/relationships/slide" Target="slides/slide26.xml"/><Relationship Id="rId34-created" Type="http://schemas.openxmlformats.org/officeDocument/2006/relationships/slide" Target="slides/slide27.xml"/><Relationship Id="rId35-created" Type="http://schemas.openxmlformats.org/officeDocument/2006/relationships/slide" Target="slides/slide28.xml"/><Relationship Id="rId36-created" Type="http://schemas.openxmlformats.org/officeDocument/2006/relationships/slide" Target="slides/slide29.xml"/><Relationship Id="rId37-created" Type="http://schemas.openxmlformats.org/officeDocument/2006/relationships/slide" Target="slides/slide30.xml"/><Relationship Id="rId38-created" Type="http://schemas.openxmlformats.org/officeDocument/2006/relationships/slide" Target="slides/slide31.xml"/><Relationship Id="rId39-created" Type="http://schemas.openxmlformats.org/officeDocument/2006/relationships/slide" Target="slides/slide32.xml"/><Relationship Id="rId40-created" Type="http://schemas.openxmlformats.org/officeDocument/2006/relationships/slide" Target="slides/slide33.xml"/><Relationship Id="rId41-created" Type="http://schemas.openxmlformats.org/officeDocument/2006/relationships/slide" Target="slides/slide34.xml"/><Relationship Id="rId42-created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1-img.hero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2-img.side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04-img.right.jpg"/><Relationship Id="rId6-created" Type="http://schemas.openxmlformats.org/officeDocument/2006/relationships/image" Target="../media/p04-img.left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7-created" Type="http://schemas.openxmlformats.org/officeDocument/2006/relationships/image" Target="../media/p05-img.item.1.jpg"/><Relationship Id="rId8-created" Type="http://schemas.openxmlformats.org/officeDocument/2006/relationships/image" Target="../media/p05-img.item.2.jpg"/><Relationship Id="rId9-created" Type="http://schemas.openxmlformats.org/officeDocument/2006/relationships/image" Target="../media/p05-img.item.3.jpg"/><Relationship Id="rId10-created" Type="http://schemas.openxmlformats.org/officeDocument/2006/relationships/image" Target="../media/p05-img.item.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6-img.side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08-img.right.jpg"/><Relationship Id="rId6-created" Type="http://schemas.openxmlformats.org/officeDocument/2006/relationships/image" Target="../media/p08-img.left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9-img.side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1-img.hero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2-img.hero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14-img.item.1.jpg"/><Relationship Id="rId7-created" Type="http://schemas.openxmlformats.org/officeDocument/2006/relationships/image" Target="../media/p14-img.item.2.jpg"/><Relationship Id="rId8-created" Type="http://schemas.openxmlformats.org/officeDocument/2006/relationships/image" Target="../media/p14-img.item.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15-img.right.jpg"/><Relationship Id="rId6-created" Type="http://schemas.openxmlformats.org/officeDocument/2006/relationships/image" Target="../media/p15-img.left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6-img.hero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8-img.side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9-img.hero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20-img.hero.jp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受注・指示書</a:t>
            </a:r>
            <a:endParaRPr lang="ja-JP" altLang="en-US" sz="1350" b="0" dirty="0"/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デジタル化</a:t>
            </a:r>
            <a:endParaRPr lang="ja-JP" altLang="en-US" sz="1700" b="0" dirty="0"/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機械の稼働</a:t>
            </a:r>
            <a:endParaRPr lang="ja-JP" altLang="en-US" sz="1350" b="0" dirty="0"/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見える化</a:t>
            </a:r>
            <a:endParaRPr lang="ja-JP" altLang="en-US" sz="1700" b="0" dirty="0"/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日程づくり</a:t>
            </a:r>
            <a:endParaRPr lang="ja-JP" altLang="en-US" sz="1350" b="0" dirty="0"/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仕組み化</a:t>
            </a:r>
            <a:endParaRPr lang="ja-JP" altLang="en-US" sz="1700" b="0" dirty="0"/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部品加工工場の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1" u="heavy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デジタル化</a:t>
            </a: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計画 2026</a:t>
            </a:r>
            <a:endParaRPr lang="ja-JP" altLang="en-US" sz="3250" b="0" dirty="0"/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紙と勘に頼る仕事を、データで</a:t>
            </a:r>
            <a:endParaRPr lang="ja-JP" altLang="en-US" sz="1500" b="1" dirty="0"/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回る仕事に変える3年間の計画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CONTENTS</a:t>
            </a:r>
            <a:endParaRPr lang="ja-JP" altLang="en-US" sz="2050" b="0" dirty="0" spc="400"/>
          </a:p>
        </p:txBody>
      </p:sp>
      <p:sp>
        <p:nvSpPr>
          <p:cNvPr id="7" name="deco.toc-no-1"/>
          <p:cNvSpPr txBox="1"/>
          <p:nvPr/>
        </p:nvSpPr>
        <p:spPr>
          <a:xfrm>
            <a:off x="2921000" y="2159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26416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1590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工場の現状と課題</a:t>
            </a:r>
            <a:endParaRPr lang="ja-JP" altLang="en-US" sz="1800" b="0" dirty="0"/>
          </a:p>
        </p:txBody>
      </p:sp>
      <p:sp>
        <p:nvSpPr>
          <p:cNvPr id="10" name="deco.toc-no-2"/>
          <p:cNvSpPr txBox="1"/>
          <p:nvPr/>
        </p:nvSpPr>
        <p:spPr>
          <a:xfrm>
            <a:off x="2413000" y="294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4290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29464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目指す姿</a:t>
            </a:r>
            <a:endParaRPr lang="ja-JP" altLang="en-US" sz="1800" b="0" dirty="0"/>
          </a:p>
        </p:txBody>
      </p:sp>
      <p:sp>
        <p:nvSpPr>
          <p:cNvPr id="13" name="deco.toc-no-3"/>
          <p:cNvSpPr txBox="1"/>
          <p:nvPr/>
        </p:nvSpPr>
        <p:spPr>
          <a:xfrm>
            <a:off x="1905000" y="37338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2164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37338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3つの取り組み</a:t>
            </a:r>
            <a:endParaRPr lang="ja-JP" altLang="en-US" sz="1800" b="0" dirty="0"/>
          </a:p>
        </p:txBody>
      </p:sp>
      <p:sp>
        <p:nvSpPr>
          <p:cNvPr id="16" name="deco.toc-no-4"/>
          <p:cNvSpPr txBox="1"/>
          <p:nvPr/>
        </p:nvSpPr>
        <p:spPr>
          <a:xfrm>
            <a:off x="1397000" y="45212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0038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52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進め方と体制</a:t>
            </a:r>
            <a:endParaRPr lang="ja-JP" altLang="en-US" sz="1800" b="0" dirty="0"/>
          </a:p>
        </p:txBody>
      </p:sp>
      <p:sp>
        <p:nvSpPr>
          <p:cNvPr id="19" name="deco.toc-no-5"/>
          <p:cNvSpPr txBox="1"/>
          <p:nvPr/>
        </p:nvSpPr>
        <p:spPr>
          <a:xfrm>
            <a:off x="889000" y="53086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05</a:t>
            </a:r>
          </a:p>
        </p:txBody>
      </p:sp>
      <p:sp>
        <p:nvSpPr>
          <p:cNvPr id="20" name="deco.toc-rule-5"/>
          <p:cNvSpPr/>
          <p:nvPr/>
        </p:nvSpPr>
        <p:spPr>
          <a:xfrm>
            <a:off x="1651000" y="57912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item.5"/>
          <p:cNvSpPr txBox="1"/>
          <p:nvPr/>
        </p:nvSpPr>
        <p:spPr>
          <a:xfrm>
            <a:off x="1651000" y="53086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投資と効果</a:t>
            </a:r>
            <a:endParaRPr lang="ja-JP" altLang="en-US" sz="1800" b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現状と課題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受注から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出荷まで紙で動く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受注は電話とファクスで受け、営業担当が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紙の指示書</a:t>
            </a: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を作る。指示書は工場に回り、班長が手書きで日程を組んでいる。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PROBLEMS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現場で起きている問題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2032000" y="24511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段取り替えに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時間がかかる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31750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平均で45分かかる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7035800" y="24511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不良の原因が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分からない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81788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機械と条件を後から追えない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9-created"/>
          <a:srcRect/>
          <a:stretch>
            <a:fillRect/>
          </a:stretch>
        </p:blipFill>
        <p:spPr>
          <a:xfrm>
            <a:off x="2032000" y="4318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31750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1" spc="350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熟練者</a:t>
            </a: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に頼っている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31750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31750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日程を組めるのは班長2人だけ</a:t>
            </a:r>
            <a:endParaRPr lang="ja-JP" altLang="en-US" sz="1200" b="1" dirty="0"/>
          </a:p>
        </p:txBody>
      </p:sp>
      <p:pic>
        <p:nvPicPr>
          <p:cNvPr id="20" name="img.item.4" descr="課題4の写真"/>
          <p:cNvPicPr>
            <a:picLocks noChangeAspect="1"/>
          </p:cNvPicPr>
          <p:nvPr/>
        </p:nvPicPr>
        <p:blipFill>
          <a:blip r:embed="rId10-created"/>
          <a:srcRect/>
          <a:stretch>
            <a:fillRect/>
          </a:stretch>
        </p:blipFill>
        <p:spPr>
          <a:xfrm>
            <a:off x="7035800" y="4318000"/>
            <a:ext cx="990600" cy="990600"/>
          </a:xfrm>
          <a:prstGeom prst="rect">
            <a:avLst/>
          </a:prstGeom>
        </p:spPr>
      </p:pic>
      <p:sp>
        <p:nvSpPr>
          <p:cNvPr id="21" name="txt.item.4.title"/>
          <p:cNvSpPr txBox="1"/>
          <p:nvPr/>
        </p:nvSpPr>
        <p:spPr>
          <a:xfrm>
            <a:off x="81788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在庫が多すぎる</a:t>
            </a:r>
            <a:endParaRPr lang="ja-JP" altLang="en-US" sz="2100" b="0" dirty="0" spc="350"/>
          </a:p>
        </p:txBody>
      </p:sp>
      <p:sp>
        <p:nvSpPr>
          <p:cNvPr id="22" name="deco.item-4-rule"/>
          <p:cNvSpPr/>
          <p:nvPr/>
        </p:nvSpPr>
        <p:spPr>
          <a:xfrm>
            <a:off x="81788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3" name="txt.item.4.body"/>
          <p:cNvSpPr txBox="1"/>
          <p:nvPr/>
        </p:nvSpPr>
        <p:spPr>
          <a:xfrm>
            <a:off x="81788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必要な量の2倍近くある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NOW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数字で見る現状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設備の稼働率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62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機械が動いている割合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不良率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3.8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不良品が出てしまう割合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納期遅れ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14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月に発生している件数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3年後の目標は、稼働率80%、不良率1.5%、納期遅れ月2件。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目指す姿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情報が1つに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つながる工場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3年後には、受注から出荷までの情報がすべて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1つの仕組み</a:t>
            </a: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でつながり、誰でも工場の状態をすぐに確認できる姿を目指します。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Goals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3年後の目標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設備の稼働率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80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現状62%から引き上げ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不良率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1.5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現状3.8%から低減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納期遅れ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件/月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現状は月14件から減らす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目標は3年計画の最終年に向けて、受注・稼働・日程づくりのデジタル化で達成を目指します。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3つの取り組み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3つの取り組みで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工場を変える</a:t>
            </a:r>
            <a:endParaRPr lang="ja-JP" altLang="en-US" sz="3250" b="0" dirty="0"/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受注と指示書のデジタル化。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画面で入力し、指示書を自動で作る</a:t>
            </a:r>
            <a:endParaRPr lang="ja-JP" altLang="en-US" sz="1600" b="0" dirty="0"/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機械の稼働を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見える化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。センサーで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動作を記録し、止まった理由を入力する</a:t>
            </a:r>
            <a:endParaRPr lang="ja-JP" altLang="en-US" sz="1600" b="0" dirty="0"/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日程づくりを誰でもできるように。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ルールを基に仕組みが案を作る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Rules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班長の頭の中を、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ルール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にする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班長が頭の中で組んでいた日程の決め方を、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ルール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として書き出します。日程の案は仕組みが作り、人が確認して決めます。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進め方と体制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Roadmap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3年間の進め方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2049780" y="1905000"/>
            <a:ext cx="2540000" cy="254000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1年目：指示書の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デジタル化で紙を無くす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5396230" y="1905000"/>
            <a:ext cx="2540000" cy="254000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539623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539623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2年目：全20台の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センサーで稼働を見える化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8742680" y="1905000"/>
            <a:ext cx="2540000" cy="254000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87426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87426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3年目：班長以外も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日程を組める仕組みに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社長が責任者、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現場で試して広げる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社長を責任者に、製造部・営業部・総務部から1名ずつ集めた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推進チーム</a:t>
            </a: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を作る。外部の専門家が月1回助言し、現場の作業者が試して直しながら広げる。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Our Goal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目的は、熟練者に頼らない工場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仕組みを入れることが目的ではない。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熟練者に頼らなくても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工場が回るように、現場の知恵を書き出してみんなのものにする。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投資と効果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Expected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Effects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期待する効果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段取り替え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20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分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平均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45分から20分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へ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短縮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月の残業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10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時間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1人あたり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20時間から10時間へ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材料の在庫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1/2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へ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今の半分まで減らす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段取り替えは平均の時間。残業は月あたり1人の時間。材料の在庫は現在の量との比較。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投資額と、浮いた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時間の使い道</a:t>
            </a:r>
            <a:endParaRPr lang="ja-JP" altLang="en-US" sz="3250" b="0" dirty="0"/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3年間の投資額は合計で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4,800万円</a:t>
            </a:r>
            <a:endParaRPr lang="ja-JP" altLang="en-US" sz="1600" b="0" dirty="0"/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うち1,600万円は国の補助金の活用を予定</a:t>
            </a:r>
            <a:endParaRPr lang="ja-JP" altLang="en-US" sz="1600" b="0" dirty="0"/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浮いた時間で、熟練者が若手に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毎週2時間技術を教える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全員でつくる工場の未来</a:t>
            </a:r>
            <a:endParaRPr lang="ja-JP" altLang="en-US" sz="3250" b="0" dirty="0"/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小さく始めて、効果を確かめながら、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一歩ずつ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進める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