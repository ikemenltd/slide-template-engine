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  <p:sldId r:id="rId28-created" id="261"/>
    <p:sldId r:id="rId29-created" id="262"/>
    <p:sldId r:id="rId30-created" id="263"/>
    <p:sldId r:id="rId31-created" id="264"/>
    <p:sldId r:id="rId32-created" id="265"/>
    <p:sldId r:id="rId33-created" id="266"/>
    <p:sldId r:id="rId34-created" id="267"/>
    <p:sldId r:id="rId35-created" id="268"/>
    <p:sldId r:id="rId36-created" id="269"/>
    <p:sldId r:id="rId37-created" id="270"/>
    <p:sldId r:id="rId38-created" id="2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Relationship Id="rId28-created" Type="http://schemas.openxmlformats.org/officeDocument/2006/relationships/slide" Target="slides/slide21.xml"/><Relationship Id="rId29-created" Type="http://schemas.openxmlformats.org/officeDocument/2006/relationships/slide" Target="slides/slide22.xml"/><Relationship Id="rId30-created" Type="http://schemas.openxmlformats.org/officeDocument/2006/relationships/slide" Target="slides/slide23.xml"/><Relationship Id="rId31-created" Type="http://schemas.openxmlformats.org/officeDocument/2006/relationships/slide" Target="slides/slide24.xml"/><Relationship Id="rId32-created" Type="http://schemas.openxmlformats.org/officeDocument/2006/relationships/slide" Target="slides/slide25.xml"/><Relationship Id="rId33-created" Type="http://schemas.openxmlformats.org/officeDocument/2006/relationships/slide" Target="slides/slide26.xml"/><Relationship Id="rId34-created" Type="http://schemas.openxmlformats.org/officeDocument/2006/relationships/slide" Target="slides/slide27.xml"/><Relationship Id="rId35-created" Type="http://schemas.openxmlformats.org/officeDocument/2006/relationships/slide" Target="slides/slide28.xml"/><Relationship Id="rId36-created" Type="http://schemas.openxmlformats.org/officeDocument/2006/relationships/slide" Target="slides/slide29.xml"/><Relationship Id="rId37-created" Type="http://schemas.openxmlformats.org/officeDocument/2006/relationships/slide" Target="slides/slide30.xml"/><Relationship Id="rId38-created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2-img.sid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4-img.item.1.jpg"/><Relationship Id="rId8-created" Type="http://schemas.openxmlformats.org/officeDocument/2006/relationships/image" Target="../media/p04-img.item.2.jpg"/><Relationship Id="rId9-created" Type="http://schemas.openxmlformats.org/officeDocument/2006/relationships/image" Target="../media/p04-img.item.3.jpg"/><Relationship Id="rId10-created" Type="http://schemas.openxmlformats.org/officeDocument/2006/relationships/image" Target="../media/p04-img.item.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5-img.side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7-img.side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9-img.item.1.jpg"/><Relationship Id="rId7-created" Type="http://schemas.openxmlformats.org/officeDocument/2006/relationships/image" Target="../media/p09-img.item.2.jpg"/><Relationship Id="rId8-created" Type="http://schemas.openxmlformats.org/officeDocument/2006/relationships/image" Target="../media/p09-img.item.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10-img.right.jpg"/><Relationship Id="rId6-created" Type="http://schemas.openxmlformats.org/officeDocument/2006/relationships/image" Target="../media/p10-img.left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11-img.item.1.jpg"/><Relationship Id="rId7-created" Type="http://schemas.openxmlformats.org/officeDocument/2006/relationships/image" Target="../media/p11-img.item.2.jpg"/><Relationship Id="rId8-created" Type="http://schemas.openxmlformats.org/officeDocument/2006/relationships/image" Target="../media/p11-img.item.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2-img.hero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3-img.hero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4-img.side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5-img.hero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6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受注から出荷まで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1つにつなぐ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受注・機械・日程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3年間の投資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4,800万円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部品加工工場の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デジタル化</a:t>
            </a: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計画 2026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紙と勘に頼ってきた工場の仕事を、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データで回る仕事に変える3年間の計画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159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26416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1590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目指す姿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進め方と体制</a:t>
            </a:r>
            <a:endParaRPr lang="ja-JP" altLang="en-US" sz="1800" b="0" dirty="0"/>
          </a:p>
        </p:txBody>
      </p:sp>
      <p:sp>
        <p:nvSpPr>
          <p:cNvPr id="19" name="deco.toc-no-5"/>
          <p:cNvSpPr txBox="1"/>
          <p:nvPr/>
        </p:nvSpPr>
        <p:spPr>
          <a:xfrm>
            <a:off x="889000" y="53086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05</a:t>
            </a:r>
          </a:p>
        </p:txBody>
      </p:sp>
      <p:sp>
        <p:nvSpPr>
          <p:cNvPr id="20" name="deco.toc-rule-5"/>
          <p:cNvSpPr/>
          <p:nvPr/>
        </p:nvSpPr>
        <p:spPr>
          <a:xfrm>
            <a:off x="1651000" y="57912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item.5"/>
          <p:cNvSpPr txBox="1"/>
          <p:nvPr/>
        </p:nvSpPr>
        <p:spPr>
          <a:xfrm>
            <a:off x="1651000" y="53086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工場の現状と課題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現場で起きている問題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段取り替えに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時間がかかる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機械の設定変更に平均45分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不良の原因が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どの機械・条件か後から追えない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に頼っている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日程を組めるのは班長2人だけ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在庫が多すぎる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必要な量の2倍近くある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Current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Status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数字で見る現状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設備の稼働率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62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稼働率は低いまま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不良率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3.8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不良が続いている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月の納期遅れ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14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納期遅れが毎月出ている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稼働率は低く、不良と納期遅れが続いている。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目指す姿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Our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Goals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3年後の目標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設備の稼働率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80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62%から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80%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へ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不良率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1.5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3.8%から下げる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件/月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月14件から減らす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情報がすべてつながり、誰でも工場の状態を確認できる姿を目指す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3つの取り組み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Key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Actions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3つの取り組み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指示書を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画面入力で自動作成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センサーで稼働を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記録し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見える化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ルール化し、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案は仕組みが作る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班長の頭の中を、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みんなのものに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班長が頭の中で組んでいた日程の決め方を、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ルール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として書き出します。日程の案は仕組みが作り、人が確認して決めます。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Our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Roadmap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3年間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の進め方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1年目：紙の指示書を無くす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2年目：全20台にセンサー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3年目：班長以外も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日程を組める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現場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で使われる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仕組みにする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社長を責任者に、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製造部・営業部・総務部から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1名ずつの推進チーム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外部の専門家から月に1回助言をもらう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各段階で作業者に試して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もらい、直してから広げる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Our Goal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目的は熟練者に頼らない工場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仕組みを入れることが目的ではありません。目的は、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熟練者に頼らなくても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工場が回るようにすることです。そのために、現場の知恵を書き出してみんなのものにします。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Investment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and Effect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投資と期待する効果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段取り替え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分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平均45分から短縮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残業時間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10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時間/月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月あたり1人20時間から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育成の時間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時間/週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熟練者が若手に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教える時間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3年間の投資額は合計で</a:t>
            </a:r>
            <a:r>
              <a:rPr lang="ja-JP" altLang="en-US" sz="13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4,800万円</a:t>
            </a: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。うち1,600万円は国の補助金の活用を予定。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浮いた時間を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若手の育成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へ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材料の在庫を今の半分へ減らします。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残業時間を月1人20時間から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10時間へ減らします。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熟練者が若手に技術を教える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時間を毎週2時間確保します。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全員でつくる工場の計画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小さく始め、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確かめながら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一歩ずつ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