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23-created" id="256"/>
    <p:sldId r:id="rId24-created" id="257"/>
    <p:sldId r:id="rId25-created" id="258"/>
    <p:sldId r:id="rId26-created" id="259"/>
    <p:sldId r:id="rId27-created" id="260"/>
    <p:sldId r:id="rId28-created" id="261"/>
    <p:sldId r:id="rId29-created" id="262"/>
    <p:sldId r:id="rId30-created" id="263"/>
    <p:sldId r:id="rId31-created" id="264"/>
    <p:sldId r:id="rId32-created" id="265"/>
    <p:sldId r:id="rId33-created" id="266"/>
    <p:sldId r:id="rId34-created" id="267"/>
    <p:sldId r:id="rId35-created" id="268"/>
    <p:sldId r:id="rId36-created" id="269"/>
    <p:sldId r:id="rId37-created" id="270"/>
    <p:sldId r:id="rId38-created" id="271"/>
    <p:sldId r:id="rId39-created" id="272"/>
    <p:sldId r:id="rId40-created" id="273"/>
    <p:sldId r:id="rId41-created" id="274"/>
    <p:sldId r:id="rId42-created" id="27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23-created" Type="http://schemas.openxmlformats.org/officeDocument/2006/relationships/slide" Target="slides/slide16.xml"/><Relationship Id="rId24-created" Type="http://schemas.openxmlformats.org/officeDocument/2006/relationships/slide" Target="slides/slide17.xml"/><Relationship Id="rId25-created" Type="http://schemas.openxmlformats.org/officeDocument/2006/relationships/slide" Target="slides/slide18.xml"/><Relationship Id="rId26-created" Type="http://schemas.openxmlformats.org/officeDocument/2006/relationships/slide" Target="slides/slide19.xml"/><Relationship Id="rId27-created" Type="http://schemas.openxmlformats.org/officeDocument/2006/relationships/slide" Target="slides/slide20.xml"/><Relationship Id="rId28-created" Type="http://schemas.openxmlformats.org/officeDocument/2006/relationships/slide" Target="slides/slide21.xml"/><Relationship Id="rId29-created" Type="http://schemas.openxmlformats.org/officeDocument/2006/relationships/slide" Target="slides/slide22.xml"/><Relationship Id="rId30-created" Type="http://schemas.openxmlformats.org/officeDocument/2006/relationships/slide" Target="slides/slide23.xml"/><Relationship Id="rId31-created" Type="http://schemas.openxmlformats.org/officeDocument/2006/relationships/slide" Target="slides/slide24.xml"/><Relationship Id="rId32-created" Type="http://schemas.openxmlformats.org/officeDocument/2006/relationships/slide" Target="slides/slide25.xml"/><Relationship Id="rId33-created" Type="http://schemas.openxmlformats.org/officeDocument/2006/relationships/slide" Target="slides/slide26.xml"/><Relationship Id="rId34-created" Type="http://schemas.openxmlformats.org/officeDocument/2006/relationships/slide" Target="slides/slide27.xml"/><Relationship Id="rId35-created" Type="http://schemas.openxmlformats.org/officeDocument/2006/relationships/slide" Target="slides/slide28.xml"/><Relationship Id="rId36-created" Type="http://schemas.openxmlformats.org/officeDocument/2006/relationships/slide" Target="slides/slide29.xml"/><Relationship Id="rId37-created" Type="http://schemas.openxmlformats.org/officeDocument/2006/relationships/slide" Target="slides/slide30.xml"/><Relationship Id="rId38-created" Type="http://schemas.openxmlformats.org/officeDocument/2006/relationships/slide" Target="slides/slide31.xml"/><Relationship Id="rId39-created" Type="http://schemas.openxmlformats.org/officeDocument/2006/relationships/slide" Target="slides/slide32.xml"/><Relationship Id="rId40-created" Type="http://schemas.openxmlformats.org/officeDocument/2006/relationships/slide" Target="slides/slide33.xml"/><Relationship Id="rId41-created" Type="http://schemas.openxmlformats.org/officeDocument/2006/relationships/slide" Target="slides/slide34.xml"/><Relationship Id="rId42-created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1-img.hero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2-img.side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04-img.right.jpg"/><Relationship Id="rId6-created" Type="http://schemas.openxmlformats.org/officeDocument/2006/relationships/image" Target="../media/p04-img.left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7-created" Type="http://schemas.openxmlformats.org/officeDocument/2006/relationships/image" Target="../media/p05-img.item.1.jpg"/><Relationship Id="rId8-created" Type="http://schemas.openxmlformats.org/officeDocument/2006/relationships/image" Target="../media/p05-img.item.2.jpg"/><Relationship Id="rId9-created" Type="http://schemas.openxmlformats.org/officeDocument/2006/relationships/image" Target="../media/p05-img.item.3.jpg"/><Relationship Id="rId10-created" Type="http://schemas.openxmlformats.org/officeDocument/2006/relationships/image" Target="../media/p05-img.item.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6-img.side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8-img.side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09-img.hero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5-created" Type="http://schemas.openxmlformats.org/officeDocument/2006/relationships/image" Target="../media/p10-img.right.jpg"/><Relationship Id="rId6-created" Type="http://schemas.openxmlformats.org/officeDocument/2006/relationships/image" Target="../media/p10-img.left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1-img.hero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2-img.hero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6-created" Type="http://schemas.openxmlformats.org/officeDocument/2006/relationships/image" Target="../media/p14-img.item.1.jpg"/><Relationship Id="rId7-created" Type="http://schemas.openxmlformats.org/officeDocument/2006/relationships/image" Target="../media/p14-img.item.2.jpg"/><Relationship Id="rId8-created" Type="http://schemas.openxmlformats.org/officeDocument/2006/relationships/image" Target="../media/p14-img.item.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5-img.hero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6-img.hero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8-img.side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19-img.hero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p20-img.hero.jpg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表紙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10350500" cy="6851650"/>
          </a:xfrm>
          <a:custGeom>
            <a:avLst/>
            <a:gdLst/>
            <a:ahLst/>
            <a:cxnLst/>
            <a:rect l="l" t="t" r="r" b="b"/>
            <a:pathLst>
              <a:path w="10350500" h="6851650">
                <a:moveTo>
                  <a:pt x="4737100" y="0"/>
                </a:moveTo>
                <a:lnTo>
                  <a:pt x="10350500" y="0"/>
                </a:lnTo>
                <a:lnTo>
                  <a:pt x="3498850" y="6851650"/>
                </a:lnTo>
                <a:lnTo>
                  <a:pt x="0" y="6851650"/>
                </a:lnTo>
                <a:lnTo>
                  <a:pt x="0" y="4737100"/>
                </a:lnTo>
                <a:close/>
              </a:path>
            </a:pathLst>
          </a:custGeom>
        </p:spPr>
      </p:pic>
      <p:sp>
        <p:nvSpPr>
          <p:cNvPr id="3" name="deco.headline-band"/>
          <p:cNvSpPr/>
          <p:nvPr/>
        </p:nvSpPr>
        <p:spPr>
          <a:xfrm>
            <a:off x="-107950" y="1631950"/>
            <a:ext cx="6623050" cy="1073150"/>
          </a:xfrm>
          <a:custGeom>
            <a:avLst/>
            <a:gdLst/>
            <a:ahLst/>
            <a:cxnLst/>
            <a:rect l="l" t="t" r="r" b="b"/>
            <a:pathLst>
              <a:path w="6623050" h="1073150">
                <a:moveTo>
                  <a:pt x="0" y="0"/>
                </a:moveTo>
                <a:lnTo>
                  <a:pt x="6623050" y="0"/>
                </a:lnTo>
                <a:lnTo>
                  <a:pt x="5549900" y="1073150"/>
                </a:lnTo>
                <a:lnTo>
                  <a:pt x="0" y="107315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</p:sp>
      <p:sp>
        <p:nvSpPr>
          <p:cNvPr id="4" name="deco.subtitle-plate"/>
          <p:cNvSpPr/>
          <p:nvPr/>
        </p:nvSpPr>
        <p:spPr>
          <a:xfrm>
            <a:off x="5568950" y="1638300"/>
            <a:ext cx="5505450" cy="1066800"/>
          </a:xfrm>
          <a:custGeom>
            <a:avLst/>
            <a:gdLst/>
            <a:ahLst/>
            <a:cxnLst/>
            <a:rect l="l" t="t" r="r" b="b"/>
            <a:pathLst>
              <a:path w="5505450" h="1066800">
                <a:moveTo>
                  <a:pt x="0" y="1066800"/>
                </a:moveTo>
                <a:lnTo>
                  <a:pt x="1073150" y="0"/>
                </a:lnTo>
                <a:lnTo>
                  <a:pt x="5505450" y="0"/>
                </a:lnTo>
                <a:lnTo>
                  <a:pt x="550545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5" name="deco.line-1"/>
          <p:cNvSpPr/>
          <p:nvPr/>
        </p:nvSpPr>
        <p:spPr>
          <a:xfrm>
            <a:off x="2470150" y="527050"/>
            <a:ext cx="1612900" cy="1479550"/>
          </a:xfrm>
          <a:custGeom>
            <a:avLst/>
            <a:gdLst/>
            <a:ahLst/>
            <a:cxnLst/>
            <a:rect l="l" t="t" r="r" b="b"/>
            <a:pathLst>
              <a:path w="1612900" h="1479550">
                <a:moveTo>
                  <a:pt x="0" y="1479550"/>
                </a:moveTo>
                <a:lnTo>
                  <a:pt x="133350" y="1479550"/>
                </a:lnTo>
                <a:lnTo>
                  <a:pt x="1612900" y="0"/>
                </a:lnTo>
                <a:lnTo>
                  <a:pt x="14795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deco.line-2"/>
          <p:cNvSpPr/>
          <p:nvPr/>
        </p:nvSpPr>
        <p:spPr>
          <a:xfrm>
            <a:off x="6610350" y="3175000"/>
            <a:ext cx="965200" cy="831850"/>
          </a:xfrm>
          <a:custGeom>
            <a:avLst/>
            <a:gdLst/>
            <a:ahLst/>
            <a:cxnLst/>
            <a:rect l="l" t="t" r="r" b="b"/>
            <a:pathLst>
              <a:path w="965200" h="831850">
                <a:moveTo>
                  <a:pt x="0" y="831850"/>
                </a:moveTo>
                <a:lnTo>
                  <a:pt x="133350" y="831850"/>
                </a:lnTo>
                <a:lnTo>
                  <a:pt x="965200" y="0"/>
                </a:lnTo>
                <a:lnTo>
                  <a:pt x="8318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deco.point-box-1"/>
          <p:cNvSpPr/>
          <p:nvPr/>
        </p:nvSpPr>
        <p:spPr>
          <a:xfrm>
            <a:off x="563880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txt.point.1.lead"/>
          <p:cNvSpPr txBox="1"/>
          <p:nvPr/>
        </p:nvSpPr>
        <p:spPr>
          <a:xfrm>
            <a:off x="576580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</a:t>
            </a:r>
            <a:endParaRPr lang="ja-JP" altLang="en-US" sz="1350" b="0" dirty="0"/>
          </a:p>
        </p:txBody>
      </p:sp>
      <p:sp>
        <p:nvSpPr>
          <p:cNvPr id="9" name="txt.point.1.main"/>
          <p:cNvSpPr txBox="1"/>
          <p:nvPr/>
        </p:nvSpPr>
        <p:spPr>
          <a:xfrm>
            <a:off x="576580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デジタル化</a:t>
            </a:r>
            <a:endParaRPr lang="ja-JP" altLang="en-US" sz="1700" b="0" dirty="0"/>
          </a:p>
        </p:txBody>
      </p:sp>
      <p:sp>
        <p:nvSpPr>
          <p:cNvPr id="10" name="deco.point-box-2"/>
          <p:cNvSpPr/>
          <p:nvPr/>
        </p:nvSpPr>
        <p:spPr>
          <a:xfrm>
            <a:off x="77025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point.2.lead"/>
          <p:cNvSpPr txBox="1"/>
          <p:nvPr/>
        </p:nvSpPr>
        <p:spPr>
          <a:xfrm>
            <a:off x="78295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機械の稼働</a:t>
            </a:r>
            <a:endParaRPr lang="ja-JP" altLang="en-US" sz="1350" b="0" dirty="0"/>
          </a:p>
        </p:txBody>
      </p:sp>
      <p:sp>
        <p:nvSpPr>
          <p:cNvPr id="12" name="txt.point.2.main"/>
          <p:cNvSpPr txBox="1"/>
          <p:nvPr/>
        </p:nvSpPr>
        <p:spPr>
          <a:xfrm>
            <a:off x="78295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見える化</a:t>
            </a:r>
            <a:endParaRPr lang="ja-JP" altLang="en-US" sz="1700" b="0" dirty="0"/>
          </a:p>
        </p:txBody>
      </p:sp>
      <p:sp>
        <p:nvSpPr>
          <p:cNvPr id="13" name="deco.point-box-3"/>
          <p:cNvSpPr/>
          <p:nvPr/>
        </p:nvSpPr>
        <p:spPr>
          <a:xfrm>
            <a:off x="9759950" y="4146550"/>
            <a:ext cx="1784350" cy="1784350"/>
          </a:xfrm>
          <a:custGeom>
            <a:avLst/>
            <a:gdLst/>
            <a:ahLst/>
            <a:cxnLst/>
            <a:rect l="l" t="t" r="r" b="b"/>
            <a:pathLst>
              <a:path w="1784350" h="1784350">
                <a:moveTo>
                  <a:pt x="0" y="0"/>
                </a:moveTo>
                <a:lnTo>
                  <a:pt x="1784350" y="0"/>
                </a:lnTo>
                <a:lnTo>
                  <a:pt x="1784350" y="1784350"/>
                </a:lnTo>
                <a:lnTo>
                  <a:pt x="0" y="17843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4" name="txt.point.3.lead"/>
          <p:cNvSpPr txBox="1"/>
          <p:nvPr/>
        </p:nvSpPr>
        <p:spPr>
          <a:xfrm>
            <a:off x="9886950" y="4279900"/>
            <a:ext cx="1587500" cy="457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800"/>
              </a:lnSpc>
            </a:pPr>
            <a:r>
              <a:rPr lang="ja-JP" altLang="en-US" sz="1350" b="0">
                <a:solidFill>
                  <a:schemeClr val="tx1"/>
                </a:solidFill>
                <a:latin typeface="Barlow Medium"/>
                <a:ea typeface="Noto Sans JP Medium"/>
              </a:rPr>
              <a:t>日程づくり</a:t>
            </a:r>
            <a:endParaRPr lang="ja-JP" altLang="en-US" sz="1350" b="0" dirty="0"/>
          </a:p>
        </p:txBody>
      </p:sp>
      <p:sp>
        <p:nvSpPr>
          <p:cNvPr id="15" name="txt.point.3.main"/>
          <p:cNvSpPr txBox="1"/>
          <p:nvPr/>
        </p:nvSpPr>
        <p:spPr>
          <a:xfrm>
            <a:off x="9886950" y="4787900"/>
            <a:ext cx="1587500" cy="635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300"/>
              </a:lnSpc>
            </a:pPr>
            <a:r>
              <a:rPr lang="ja-JP" altLang="en-US" sz="1700" b="0">
                <a:solidFill>
                  <a:schemeClr val="tx1"/>
                </a:solidFill>
                <a:latin typeface="Barlow Medium"/>
                <a:ea typeface="Noto Sans JP Medium"/>
              </a:rPr>
              <a:t>誰でもできる</a:t>
            </a:r>
            <a:endParaRPr lang="ja-JP" altLang="en-US" sz="1700" b="0" dirty="0"/>
          </a:p>
        </p:txBody>
      </p:sp>
      <p:sp>
        <p:nvSpPr>
          <p:cNvPr id="16" name="txt.headline"/>
          <p:cNvSpPr txBox="1"/>
          <p:nvPr/>
        </p:nvSpPr>
        <p:spPr>
          <a:xfrm>
            <a:off x="1212850" y="1663700"/>
            <a:ext cx="4381500" cy="1016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部品加工工場の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bg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デジタル化</a:t>
            </a:r>
            <a:r>
              <a:rPr lang="ja-JP" altLang="en-US" sz="3250" b="0">
                <a:solidFill>
                  <a:schemeClr val="bg1"/>
                </a:solidFill>
                <a:latin typeface="Noto Serif JP"/>
                <a:ea typeface="Noto Serif JP"/>
              </a:rPr>
              <a:t>計画 2026</a:t>
            </a:r>
            <a:endParaRPr lang="ja-JP" altLang="en-US" sz="3250" b="0" dirty="0"/>
          </a:p>
        </p:txBody>
      </p:sp>
      <p:sp>
        <p:nvSpPr>
          <p:cNvPr id="17" name="txt.subtitle"/>
          <p:cNvSpPr txBox="1"/>
          <p:nvPr/>
        </p:nvSpPr>
        <p:spPr>
          <a:xfrm>
            <a:off x="6673850" y="1905000"/>
            <a:ext cx="5486400" cy="660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紙と勘に頼る仕事を、データで</a:t>
            </a:r>
            <a:endParaRPr lang="ja-JP" altLang="en-US" sz="1500" b="1" dirty="0"/>
          </a:p>
          <a:p>
            <a:pPr algn="l" eaLnBrk="1" hangingPunct="1" latinLnBrk="0">
              <a:lnSpc>
                <a:spcPts val="255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回る仕事に変える3年間の計画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4311650" cy="4311650"/>
          </a:xfrm>
          <a:custGeom>
            <a:avLst/>
            <a:gdLst/>
            <a:ahLst/>
            <a:cxnLst/>
            <a:rect l="l" t="t" r="r" b="b"/>
            <a:pathLst>
              <a:path w="4311650" h="4311650">
                <a:moveTo>
                  <a:pt x="0" y="0"/>
                </a:moveTo>
                <a:lnTo>
                  <a:pt x="4311650" y="0"/>
                </a:lnTo>
                <a:lnTo>
                  <a:pt x="0" y="43116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5247640" y="-27940"/>
            <a:ext cx="6958330" cy="6958330"/>
          </a:xfrm>
          <a:custGeom>
            <a:avLst/>
            <a:gdLst/>
            <a:ahLst/>
            <a:cxnLst/>
            <a:rect l="l" t="t" r="r" b="b"/>
            <a:pathLst>
              <a:path w="6958330" h="6958330">
                <a:moveTo>
                  <a:pt x="0" y="6958330"/>
                </a:moveTo>
                <a:lnTo>
                  <a:pt x="6958330" y="0"/>
                </a:lnTo>
                <a:lnTo>
                  <a:pt x="6958330" y="69583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"/>
          <p:cNvSpPr/>
          <p:nvPr/>
        </p:nvSpPr>
        <p:spPr>
          <a:xfrm>
            <a:off x="9556750" y="4993640"/>
            <a:ext cx="2118360" cy="1864360"/>
          </a:xfrm>
          <a:custGeom>
            <a:avLst/>
            <a:gdLst/>
            <a:ahLst/>
            <a:cxnLst/>
            <a:rect l="l" t="t" r="r" b="b"/>
            <a:pathLst>
              <a:path w="2118360" h="1864360">
                <a:moveTo>
                  <a:pt x="0" y="1864360"/>
                </a:moveTo>
                <a:lnTo>
                  <a:pt x="1864360" y="0"/>
                </a:lnTo>
                <a:lnTo>
                  <a:pt x="2118360" y="0"/>
                </a:lnTo>
                <a:lnTo>
                  <a:pt x="254000" y="18643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5" name="img.side" descr="目次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6303010" y="2644140"/>
            <a:ext cx="5363210" cy="2772410"/>
          </a:xfrm>
          <a:custGeom>
            <a:avLst/>
            <a:gdLst/>
            <a:ahLst/>
            <a:cxnLst/>
            <a:rect l="l" t="t" r="r" b="b"/>
            <a:pathLst>
              <a:path w="5363210" h="2772410">
                <a:moveTo>
                  <a:pt x="0" y="2772410"/>
                </a:moveTo>
                <a:lnTo>
                  <a:pt x="2772410" y="0"/>
                </a:lnTo>
                <a:lnTo>
                  <a:pt x="5363210" y="0"/>
                </a:lnTo>
                <a:lnTo>
                  <a:pt x="2590800" y="2772410"/>
                </a:lnTo>
                <a:close/>
              </a:path>
            </a:pathLst>
          </a:custGeom>
        </p:spPr>
      </p:pic>
      <p:sp>
        <p:nvSpPr>
          <p:cNvPr id="6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CONTENTS</a:t>
            </a:r>
            <a:endParaRPr lang="ja-JP" altLang="en-US" sz="2050" b="0" dirty="0" spc="400"/>
          </a:p>
        </p:txBody>
      </p:sp>
      <p:sp>
        <p:nvSpPr>
          <p:cNvPr id="7" name="deco.toc-no-1"/>
          <p:cNvSpPr txBox="1"/>
          <p:nvPr/>
        </p:nvSpPr>
        <p:spPr>
          <a:xfrm>
            <a:off x="2921000" y="21590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01</a:t>
            </a:r>
          </a:p>
        </p:txBody>
      </p:sp>
      <p:sp>
        <p:nvSpPr>
          <p:cNvPr id="8" name="deco.toc-rule-1"/>
          <p:cNvSpPr/>
          <p:nvPr/>
        </p:nvSpPr>
        <p:spPr>
          <a:xfrm>
            <a:off x="3683000" y="26416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3683000" y="21590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工場の現状と課題</a:t>
            </a:r>
            <a:endParaRPr lang="ja-JP" altLang="en-US" sz="1800" b="0" dirty="0"/>
          </a:p>
        </p:txBody>
      </p:sp>
      <p:sp>
        <p:nvSpPr>
          <p:cNvPr id="10" name="deco.toc-no-2"/>
          <p:cNvSpPr txBox="1"/>
          <p:nvPr/>
        </p:nvSpPr>
        <p:spPr>
          <a:xfrm>
            <a:off x="2413000" y="29464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02</a:t>
            </a:r>
          </a:p>
        </p:txBody>
      </p:sp>
      <p:sp>
        <p:nvSpPr>
          <p:cNvPr id="11" name="deco.toc-rule-2"/>
          <p:cNvSpPr/>
          <p:nvPr/>
        </p:nvSpPr>
        <p:spPr>
          <a:xfrm>
            <a:off x="3175000" y="34290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2" name="txt.item.2"/>
          <p:cNvSpPr txBox="1"/>
          <p:nvPr/>
        </p:nvSpPr>
        <p:spPr>
          <a:xfrm>
            <a:off x="3175000" y="29464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目指す姿</a:t>
            </a:r>
            <a:endParaRPr lang="ja-JP" altLang="en-US" sz="1800" b="0" dirty="0"/>
          </a:p>
        </p:txBody>
      </p:sp>
      <p:sp>
        <p:nvSpPr>
          <p:cNvPr id="13" name="deco.toc-no-3"/>
          <p:cNvSpPr txBox="1"/>
          <p:nvPr/>
        </p:nvSpPr>
        <p:spPr>
          <a:xfrm>
            <a:off x="1905000" y="37338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03</a:t>
            </a:r>
          </a:p>
        </p:txBody>
      </p:sp>
      <p:sp>
        <p:nvSpPr>
          <p:cNvPr id="14" name="deco.toc-rule-3"/>
          <p:cNvSpPr/>
          <p:nvPr/>
        </p:nvSpPr>
        <p:spPr>
          <a:xfrm>
            <a:off x="2667000" y="42164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3"/>
          <p:cNvSpPr txBox="1"/>
          <p:nvPr/>
        </p:nvSpPr>
        <p:spPr>
          <a:xfrm>
            <a:off x="2667000" y="37338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3つの取り組み</a:t>
            </a:r>
            <a:endParaRPr lang="ja-JP" altLang="en-US" sz="1800" b="0" dirty="0"/>
          </a:p>
        </p:txBody>
      </p:sp>
      <p:sp>
        <p:nvSpPr>
          <p:cNvPr id="16" name="deco.toc-no-4"/>
          <p:cNvSpPr txBox="1"/>
          <p:nvPr/>
        </p:nvSpPr>
        <p:spPr>
          <a:xfrm>
            <a:off x="1397000" y="45212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04</a:t>
            </a:r>
          </a:p>
        </p:txBody>
      </p:sp>
      <p:sp>
        <p:nvSpPr>
          <p:cNvPr id="17" name="deco.toc-rule-4"/>
          <p:cNvSpPr/>
          <p:nvPr/>
        </p:nvSpPr>
        <p:spPr>
          <a:xfrm>
            <a:off x="2159000" y="50038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8" name="txt.item.4"/>
          <p:cNvSpPr txBox="1"/>
          <p:nvPr/>
        </p:nvSpPr>
        <p:spPr>
          <a:xfrm>
            <a:off x="2159000" y="452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進め方と体制</a:t>
            </a:r>
            <a:endParaRPr lang="ja-JP" altLang="en-US" sz="1800" b="0" dirty="0"/>
          </a:p>
        </p:txBody>
      </p:sp>
      <p:sp>
        <p:nvSpPr>
          <p:cNvPr id="19" name="deco.toc-no-5"/>
          <p:cNvSpPr txBox="1"/>
          <p:nvPr/>
        </p:nvSpPr>
        <p:spPr>
          <a:xfrm>
            <a:off x="889000" y="5308600"/>
            <a:ext cx="660400" cy="508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400" b="0" dirty="0">
                <a:solidFill>
                  <a:schemeClr val="accent1"/>
                </a:solidFill>
                <a:latin typeface="Barlow Medium"/>
                <a:ea typeface="Noto Sans JP"/>
              </a:rPr>
              <a:t>05</a:t>
            </a:r>
          </a:p>
        </p:txBody>
      </p:sp>
      <p:sp>
        <p:nvSpPr>
          <p:cNvPr id="20" name="deco.toc-rule-5"/>
          <p:cNvSpPr/>
          <p:nvPr/>
        </p:nvSpPr>
        <p:spPr>
          <a:xfrm>
            <a:off x="1651000" y="5791200"/>
            <a:ext cx="3810000" cy="13970"/>
          </a:xfrm>
          <a:custGeom>
            <a:avLst/>
            <a:gdLst/>
            <a:ahLst/>
            <a:cxnLst/>
            <a:rect l="l" t="t" r="r" b="b"/>
            <a:pathLst>
              <a:path w="3810000" h="13970">
                <a:moveTo>
                  <a:pt x="0" y="0"/>
                </a:moveTo>
                <a:lnTo>
                  <a:pt x="3810000" y="0"/>
                </a:lnTo>
                <a:lnTo>
                  <a:pt x="38100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item.5"/>
          <p:cNvSpPr txBox="1"/>
          <p:nvPr/>
        </p:nvSpPr>
        <p:spPr>
          <a:xfrm>
            <a:off x="1651000" y="53086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2400"/>
              </a:lnSpc>
            </a:pPr>
            <a:r>
              <a:rPr lang="ja-JP" altLang="en-US" sz="1800" b="0">
                <a:solidFill>
                  <a:schemeClr val="tx1"/>
                </a:solidFill>
                <a:latin typeface="Barlow Medium"/>
                <a:ea typeface="Noto Sans JP Medium"/>
              </a:rPr>
              <a:t>投資と効果</a:t>
            </a:r>
            <a:endParaRPr lang="ja-JP" altLang="en-US" sz="1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工場の現状と課題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受注から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出荷まで紙で回る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受注は電話とファクスで受け、営業担当が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紙の指示書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を作ります。指示書は工場に回り、班長が手書きで日程を組みます。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2717800" cy="2717800"/>
          </a:xfrm>
          <a:custGeom>
            <a:avLst/>
            <a:gdLst/>
            <a:ahLst/>
            <a:cxnLst/>
            <a:rect l="l" t="t" r="r" b="b"/>
            <a:pathLst>
              <a:path w="2717800" h="2717800">
                <a:moveTo>
                  <a:pt x="0" y="0"/>
                </a:moveTo>
                <a:lnTo>
                  <a:pt x="2717800" y="0"/>
                </a:lnTo>
                <a:lnTo>
                  <a:pt x="0" y="2717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corner-line"/>
          <p:cNvSpPr/>
          <p:nvPr/>
        </p:nvSpPr>
        <p:spPr>
          <a:xfrm>
            <a:off x="57150" y="167005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5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txt.eyebrow"/>
          <p:cNvSpPr txBox="1"/>
          <p:nvPr/>
        </p:nvSpPr>
        <p:spPr>
          <a:xfrm rot="-2700000">
            <a:off x="-406400" y="9144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PROBLEMS</a:t>
            </a:r>
            <a:endParaRPr lang="ja-JP" altLang="en-US" sz="2050" b="0" dirty="0" spc="400"/>
          </a:p>
        </p:txBody>
      </p:sp>
      <p:sp>
        <p:nvSpPr>
          <p:cNvPr id="7" name="txt.headline"/>
          <p:cNvSpPr txBox="1"/>
          <p:nvPr/>
        </p:nvSpPr>
        <p:spPr>
          <a:xfrm>
            <a:off x="2355850" y="660400"/>
            <a:ext cx="9398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現場で起きている問題</a:t>
            </a:r>
            <a:endParaRPr lang="ja-JP" altLang="en-US" sz="3250" b="0" dirty="0"/>
          </a:p>
        </p:txBody>
      </p:sp>
      <p:pic>
        <p:nvPicPr>
          <p:cNvPr id="8" name="img.item.1" descr="課題1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2032000" y="2451100"/>
            <a:ext cx="990600" cy="990600"/>
          </a:xfrm>
          <a:prstGeom prst="rect">
            <a:avLst/>
          </a:prstGeom>
        </p:spPr>
      </p:pic>
      <p:sp>
        <p:nvSpPr>
          <p:cNvPr id="9" name="txt.item.1.title"/>
          <p:cNvSpPr txBox="1"/>
          <p:nvPr/>
        </p:nvSpPr>
        <p:spPr>
          <a:xfrm>
            <a:off x="31750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段取り替えに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時間がかかる</a:t>
            </a:r>
            <a:endParaRPr lang="ja-JP" altLang="en-US" sz="2100" b="0" dirty="0" spc="350"/>
          </a:p>
        </p:txBody>
      </p:sp>
      <p:sp>
        <p:nvSpPr>
          <p:cNvPr id="10" name="deco.item-1-rule"/>
          <p:cNvSpPr/>
          <p:nvPr/>
        </p:nvSpPr>
        <p:spPr>
          <a:xfrm>
            <a:off x="31750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1.body"/>
          <p:cNvSpPr txBox="1"/>
          <p:nvPr/>
        </p:nvSpPr>
        <p:spPr>
          <a:xfrm>
            <a:off x="31750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機械の設定変更に平均45分</a:t>
            </a:r>
            <a:endParaRPr lang="ja-JP" altLang="en-US" sz="1200" b="1" dirty="0"/>
          </a:p>
        </p:txBody>
      </p:sp>
      <p:pic>
        <p:nvPicPr>
          <p:cNvPr id="12" name="img.item.2" descr="課題2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7035800" y="2451100"/>
            <a:ext cx="990600" cy="990600"/>
          </a:xfrm>
          <a:prstGeom prst="rect">
            <a:avLst/>
          </a:prstGeom>
        </p:spPr>
      </p:pic>
      <p:sp>
        <p:nvSpPr>
          <p:cNvPr id="13" name="txt.item.2.title"/>
          <p:cNvSpPr txBox="1"/>
          <p:nvPr/>
        </p:nvSpPr>
        <p:spPr>
          <a:xfrm>
            <a:off x="8178800" y="22606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不良の原因が</a:t>
            </a:r>
            <a:endParaRPr lang="ja-JP" altLang="en-US" sz="2100" b="0" dirty="0" spc="350"/>
          </a:p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分からない</a:t>
            </a:r>
            <a:endParaRPr lang="ja-JP" altLang="en-US" sz="2100" b="0" dirty="0" spc="350"/>
          </a:p>
        </p:txBody>
      </p:sp>
      <p:sp>
        <p:nvSpPr>
          <p:cNvPr id="14" name="deco.item-2-rule"/>
          <p:cNvSpPr/>
          <p:nvPr/>
        </p:nvSpPr>
        <p:spPr>
          <a:xfrm>
            <a:off x="8178800" y="30734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5" name="txt.item.2.body"/>
          <p:cNvSpPr txBox="1"/>
          <p:nvPr/>
        </p:nvSpPr>
        <p:spPr>
          <a:xfrm>
            <a:off x="8178800" y="31877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どの条件で作ったか追えない</a:t>
            </a:r>
            <a:endParaRPr lang="ja-JP" altLang="en-US" sz="1200" b="1" dirty="0"/>
          </a:p>
        </p:txBody>
      </p:sp>
      <p:pic>
        <p:nvPicPr>
          <p:cNvPr id="16" name="img.item.3" descr="課題3の写真"/>
          <p:cNvPicPr>
            <a:picLocks noChangeAspect="1"/>
          </p:cNvPicPr>
          <p:nvPr/>
        </p:nvPicPr>
        <p:blipFill>
          <a:blip r:embed="rId9-created"/>
          <a:srcRect/>
          <a:stretch>
            <a:fillRect/>
          </a:stretch>
        </p:blipFill>
        <p:spPr>
          <a:xfrm>
            <a:off x="2032000" y="4318000"/>
            <a:ext cx="990600" cy="990600"/>
          </a:xfrm>
          <a:prstGeom prst="rect">
            <a:avLst/>
          </a:prstGeom>
        </p:spPr>
      </p:pic>
      <p:sp>
        <p:nvSpPr>
          <p:cNvPr id="17" name="txt.item.3.title"/>
          <p:cNvSpPr txBox="1"/>
          <p:nvPr/>
        </p:nvSpPr>
        <p:spPr>
          <a:xfrm>
            <a:off x="31750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1" spc="350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熟練者に頼っている</a:t>
            </a:r>
            <a:endParaRPr lang="ja-JP" altLang="en-US" sz="2100" b="0" dirty="0" spc="350"/>
          </a:p>
        </p:txBody>
      </p:sp>
      <p:sp>
        <p:nvSpPr>
          <p:cNvPr id="18" name="deco.item-3-rule"/>
          <p:cNvSpPr/>
          <p:nvPr/>
        </p:nvSpPr>
        <p:spPr>
          <a:xfrm>
            <a:off x="31750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9" name="txt.item.3.body"/>
          <p:cNvSpPr txBox="1"/>
          <p:nvPr/>
        </p:nvSpPr>
        <p:spPr>
          <a:xfrm>
            <a:off x="31750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日程を組めるのは班長2人だけ</a:t>
            </a:r>
            <a:endParaRPr lang="ja-JP" altLang="en-US" sz="1200" b="1" dirty="0"/>
          </a:p>
        </p:txBody>
      </p:sp>
      <p:pic>
        <p:nvPicPr>
          <p:cNvPr id="20" name="img.item.4" descr="課題4の写真"/>
          <p:cNvPicPr>
            <a:picLocks noChangeAspect="1"/>
          </p:cNvPicPr>
          <p:nvPr/>
        </p:nvPicPr>
        <p:blipFill>
          <a:blip r:embed="rId10-created"/>
          <a:srcRect/>
          <a:stretch>
            <a:fillRect/>
          </a:stretch>
        </p:blipFill>
        <p:spPr>
          <a:xfrm>
            <a:off x="7035800" y="4318000"/>
            <a:ext cx="990600" cy="990600"/>
          </a:xfrm>
          <a:prstGeom prst="rect">
            <a:avLst/>
          </a:prstGeom>
        </p:spPr>
      </p:pic>
      <p:sp>
        <p:nvSpPr>
          <p:cNvPr id="21" name="txt.item.4.title"/>
          <p:cNvSpPr txBox="1"/>
          <p:nvPr/>
        </p:nvSpPr>
        <p:spPr>
          <a:xfrm>
            <a:off x="8178800" y="4127500"/>
            <a:ext cx="3479800" cy="7747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2900"/>
              </a:lnSpc>
            </a:pPr>
            <a:r>
              <a:rPr lang="ja-JP" altLang="en-US" sz="2100" b="0" spc="350">
                <a:solidFill>
                  <a:schemeClr val="tx1"/>
                </a:solidFill>
                <a:latin typeface="Barlow Medium"/>
                <a:ea typeface="Noto Sans JP Medium"/>
              </a:rPr>
              <a:t>在庫が多すぎる</a:t>
            </a:r>
            <a:endParaRPr lang="ja-JP" altLang="en-US" sz="2100" b="0" dirty="0" spc="350"/>
          </a:p>
        </p:txBody>
      </p:sp>
      <p:sp>
        <p:nvSpPr>
          <p:cNvPr id="22" name="deco.item-4-rule"/>
          <p:cNvSpPr/>
          <p:nvPr/>
        </p:nvSpPr>
        <p:spPr>
          <a:xfrm>
            <a:off x="8178800" y="4940300"/>
            <a:ext cx="3479800" cy="13970"/>
          </a:xfrm>
          <a:custGeom>
            <a:avLst/>
            <a:gdLst/>
            <a:ahLst/>
            <a:cxnLst/>
            <a:rect l="l" t="t" r="r" b="b"/>
            <a:pathLst>
              <a:path w="3479800" h="13970">
                <a:moveTo>
                  <a:pt x="0" y="0"/>
                </a:moveTo>
                <a:lnTo>
                  <a:pt x="3479800" y="0"/>
                </a:lnTo>
                <a:lnTo>
                  <a:pt x="3479800" y="13970"/>
                </a:lnTo>
                <a:lnTo>
                  <a:pt x="0" y="139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3" name="txt.item.4.body"/>
          <p:cNvSpPr txBox="1"/>
          <p:nvPr/>
        </p:nvSpPr>
        <p:spPr>
          <a:xfrm>
            <a:off x="8178800" y="5054600"/>
            <a:ext cx="3479800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700"/>
              </a:lnSpc>
            </a:pPr>
            <a:r>
              <a:rPr lang="ja-JP" altLang="en-US" sz="1200" b="1">
                <a:solidFill>
                  <a:schemeClr val="tx1"/>
                </a:solidFill>
                <a:latin typeface="Barlow"/>
                <a:ea typeface="Noto Sans JP"/>
              </a:rPr>
              <a:t>必要な量の2倍近くある</a:t>
            </a:r>
            <a:endParaRPr lang="ja-JP" altLang="en-US" sz="12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CURRENT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STATUS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数字で見る現状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62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設備が動いている割合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3.8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不良品が出る割合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14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件／月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月あたりの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納期遅れの件数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数値は現状（検証用の架空の数字）。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目指す姿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Our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Targets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3年後の目標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設備の稼働率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80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62%から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80%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へ向上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不良率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1.5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%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3.8%から1.5%へ低減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納期遅れ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件/月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月14件から月2件へ削減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受注から出荷までの情報が1つの仕組みでつながり、誰でも工場の状態を確認できる姿を目指します。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3つの取り組み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受注と指示書をデジタル化する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機械の稼働を見える化する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日程づくりを誰でもできるようにする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right" descr="右の写真"/>
          <p:cNvPicPr>
            <a:picLocks noChangeAspect="1"/>
          </p:cNvPicPr>
          <p:nvPr/>
        </p:nvPicPr>
        <p:blipFill>
          <a:blip r:embed="rId5-created"/>
          <a:srcRect/>
          <a:stretch>
            <a:fillRect/>
          </a:stretch>
        </p:blipFill>
        <p:spPr>
          <a:xfrm>
            <a:off x="2647950" y="0"/>
            <a:ext cx="3333750" cy="6858000"/>
          </a:xfrm>
          <a:prstGeom prst="rect">
            <a:avLst/>
          </a:prstGeom>
        </p:spPr>
      </p:pic>
      <p:pic>
        <p:nvPicPr>
          <p:cNvPr id="3" name="img.left" descr="左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393700" y="0"/>
            <a:ext cx="2254250" cy="6858000"/>
          </a:xfrm>
          <a:prstGeom prst="rect">
            <a:avLst/>
          </a:prstGeom>
        </p:spPr>
      </p:pic>
      <p:sp>
        <p:nvSpPr>
          <p:cNvPr id="4" name="deco.tri-top"/>
          <p:cNvSpPr/>
          <p:nvPr/>
        </p:nvSpPr>
        <p:spPr>
          <a:xfrm>
            <a:off x="2647950" y="0"/>
            <a:ext cx="3326130" cy="3315970"/>
          </a:xfrm>
          <a:custGeom>
            <a:avLst/>
            <a:gdLst/>
            <a:ahLst/>
            <a:cxnLst/>
            <a:rect l="l" t="t" r="r" b="b"/>
            <a:pathLst>
              <a:path w="3326130" h="3315970">
                <a:moveTo>
                  <a:pt x="0" y="0"/>
                </a:moveTo>
                <a:lnTo>
                  <a:pt x="3326130" y="0"/>
                </a:lnTo>
                <a:lnTo>
                  <a:pt x="0" y="33159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bottom"/>
          <p:cNvSpPr/>
          <p:nvPr/>
        </p:nvSpPr>
        <p:spPr>
          <a:xfrm>
            <a:off x="958850" y="5090160"/>
            <a:ext cx="1689100" cy="1687830"/>
          </a:xfrm>
          <a:custGeom>
            <a:avLst/>
            <a:gdLst/>
            <a:ahLst/>
            <a:cxnLst/>
            <a:rect l="l" t="t" r="r" b="b"/>
            <a:pathLst>
              <a:path w="1689100" h="1687830">
                <a:moveTo>
                  <a:pt x="0" y="1687830"/>
                </a:moveTo>
                <a:lnTo>
                  <a:pt x="1689100" y="0"/>
                </a:lnTo>
                <a:lnTo>
                  <a:pt x="1689100" y="168783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6604000" y="889000"/>
            <a:ext cx="5080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受注と指示書の</a:t>
            </a:r>
            <a:endParaRPr lang="ja-JP" altLang="en-US" sz="3250" b="0" dirty="0"/>
          </a:p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デジタル化</a:t>
            </a:r>
            <a:endParaRPr lang="ja-JP" altLang="en-US" sz="3250" b="0" dirty="0"/>
          </a:p>
        </p:txBody>
      </p:sp>
      <p:sp>
        <p:nvSpPr>
          <p:cNvPr id="8" name="deco.rule"/>
          <p:cNvSpPr/>
          <p:nvPr/>
        </p:nvSpPr>
        <p:spPr>
          <a:xfrm>
            <a:off x="6604000" y="2108200"/>
            <a:ext cx="762000" cy="50800"/>
          </a:xfrm>
          <a:custGeom>
            <a:avLst/>
            <a:gdLst/>
            <a:ahLst/>
            <a:cxnLst/>
            <a:rect l="l" t="t" r="r" b="b"/>
            <a:pathLst>
              <a:path w="762000" h="50800">
                <a:moveTo>
                  <a:pt x="0" y="0"/>
                </a:moveTo>
                <a:lnTo>
                  <a:pt x="762000" y="0"/>
                </a:lnTo>
                <a:lnTo>
                  <a:pt x="762000" y="50800"/>
                </a:lnTo>
                <a:lnTo>
                  <a:pt x="0" y="50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body"/>
          <p:cNvSpPr txBox="1"/>
          <p:nvPr/>
        </p:nvSpPr>
        <p:spPr>
          <a:xfrm>
            <a:off x="6604000" y="2489200"/>
            <a:ext cx="5080000" cy="2311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受注の内容を画面で入力し、指示書を</a:t>
            </a: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自動で作ります</a:t>
            </a:r>
            <a:r>
              <a:rPr lang="ja-JP" altLang="en-US" sz="1500" b="0">
                <a:solidFill>
                  <a:schemeClr val="tx1"/>
                </a:solidFill>
                <a:latin typeface="Barlow"/>
                <a:ea typeface="Noto Sans JP"/>
              </a:rPr>
              <a:t>。ファクスで届いた注文も、読み取って入力の手間を減らします。</a:t>
            </a:r>
            <a:endParaRPr lang="ja-JP" altLang="en-US" sz="1500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Visualize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機械の稼働を見える化する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各機械に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センサー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を付け、動いているか止まっているかを記録します。止まった理由を現場で選んで入力し、改善の材料にします。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Schedule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日程づくりを誰でも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班長が頭の中で組んでいた日程の決め方を、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ルール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として書き出します。そのルールで仕組みが日程の案を作り、人が確認して決めます。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進め方と体制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corner"/>
          <p:cNvSpPr/>
          <p:nvPr/>
        </p:nvSpPr>
        <p:spPr>
          <a:xfrm>
            <a:off x="0" y="0"/>
            <a:ext cx="5469890" cy="5469890"/>
          </a:xfrm>
          <a:custGeom>
            <a:avLst/>
            <a:gdLst/>
            <a:ahLst/>
            <a:cxnLst/>
            <a:rect l="l" t="t" r="r" b="b"/>
            <a:pathLst>
              <a:path w="5469890" h="5469890">
                <a:moveTo>
                  <a:pt x="0" y="0"/>
                </a:moveTo>
                <a:lnTo>
                  <a:pt x="5469890" y="0"/>
                </a:lnTo>
                <a:lnTo>
                  <a:pt x="0" y="54698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deco.end-triangle"/>
          <p:cNvSpPr/>
          <p:nvPr/>
        </p:nvSpPr>
        <p:spPr>
          <a:xfrm>
            <a:off x="10995660" y="570484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 Medium"/>
              </a:rPr>
              <a:t>Roadmap</a:t>
            </a:r>
            <a:endParaRPr lang="ja-JP" altLang="en-US" sz="2050" b="0" dirty="0" spc="400"/>
          </a:p>
        </p:txBody>
      </p:sp>
      <p:sp>
        <p:nvSpPr>
          <p:cNvPr id="5" name="txt.headline"/>
          <p:cNvSpPr txBox="1"/>
          <p:nvPr/>
        </p:nvSpPr>
        <p:spPr>
          <a:xfrm>
            <a:off x="5740400" y="812800"/>
            <a:ext cx="6096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3年間の進め方</a:t>
            </a:r>
            <a:endParaRPr lang="ja-JP" altLang="en-US" sz="3250" b="0" dirty="0"/>
          </a:p>
        </p:txBody>
      </p:sp>
      <p:pic>
        <p:nvPicPr>
          <p:cNvPr id="6" name="img.item.1" descr="手順1の写真"/>
          <p:cNvPicPr>
            <a:picLocks noChangeAspect="1"/>
          </p:cNvPicPr>
          <p:nvPr/>
        </p:nvPicPr>
        <p:blipFill>
          <a:blip r:embed="rId6-created"/>
          <a:srcRect/>
          <a:stretch>
            <a:fillRect/>
          </a:stretch>
        </p:blipFill>
        <p:spPr>
          <a:xfrm>
            <a:off x="2049780" y="1905000"/>
            <a:ext cx="2540000" cy="2540000"/>
          </a:xfrm>
          <a:prstGeom prst="rect">
            <a:avLst/>
          </a:prstGeom>
        </p:spPr>
      </p:pic>
      <p:sp>
        <p:nvSpPr>
          <p:cNvPr id="7" name="deco.item-1-rule"/>
          <p:cNvSpPr/>
          <p:nvPr/>
        </p:nvSpPr>
        <p:spPr>
          <a:xfrm>
            <a:off x="20497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" name="txt.item.1.caption"/>
          <p:cNvSpPr txBox="1"/>
          <p:nvPr/>
        </p:nvSpPr>
        <p:spPr>
          <a:xfrm>
            <a:off x="20497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1年目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：受注と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指示書のデジタル化</a:t>
            </a:r>
            <a:endParaRPr lang="ja-JP" altLang="en-US" sz="1500" b="1" dirty="0"/>
          </a:p>
        </p:txBody>
      </p:sp>
      <p:pic>
        <p:nvPicPr>
          <p:cNvPr id="9" name="img.item.2" descr="手順2の写真"/>
          <p:cNvPicPr>
            <a:picLocks noChangeAspect="1"/>
          </p:cNvPicPr>
          <p:nvPr/>
        </p:nvPicPr>
        <p:blipFill>
          <a:blip r:embed="rId7-created"/>
          <a:srcRect/>
          <a:stretch>
            <a:fillRect/>
          </a:stretch>
        </p:blipFill>
        <p:spPr>
          <a:xfrm>
            <a:off x="5396230" y="1905000"/>
            <a:ext cx="2540000" cy="2540000"/>
          </a:xfrm>
          <a:prstGeom prst="rect">
            <a:avLst/>
          </a:prstGeom>
        </p:spPr>
      </p:pic>
      <p:sp>
        <p:nvSpPr>
          <p:cNvPr id="10" name="deco.item-2-rule"/>
          <p:cNvSpPr/>
          <p:nvPr/>
        </p:nvSpPr>
        <p:spPr>
          <a:xfrm>
            <a:off x="539623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xt.item.2.caption"/>
          <p:cNvSpPr txBox="1"/>
          <p:nvPr/>
        </p:nvSpPr>
        <p:spPr>
          <a:xfrm>
            <a:off x="539623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2年目：全20台に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センサーを付ける</a:t>
            </a:r>
            <a:endParaRPr lang="ja-JP" altLang="en-US" sz="1500" b="1" dirty="0"/>
          </a:p>
        </p:txBody>
      </p:sp>
      <p:pic>
        <p:nvPicPr>
          <p:cNvPr id="12" name="img.item.3" descr="手順3の写真"/>
          <p:cNvPicPr>
            <a:picLocks noChangeAspect="1"/>
          </p:cNvPicPr>
          <p:nvPr/>
        </p:nvPicPr>
        <p:blipFill>
          <a:blip r:embed="rId8-created"/>
          <a:srcRect/>
          <a:stretch>
            <a:fillRect/>
          </a:stretch>
        </p:blipFill>
        <p:spPr>
          <a:xfrm>
            <a:off x="8742680" y="1905000"/>
            <a:ext cx="2540000" cy="2540000"/>
          </a:xfrm>
          <a:prstGeom prst="rect">
            <a:avLst/>
          </a:prstGeom>
        </p:spPr>
      </p:pic>
      <p:sp>
        <p:nvSpPr>
          <p:cNvPr id="13" name="deco.item-3-rule"/>
          <p:cNvSpPr/>
          <p:nvPr/>
        </p:nvSpPr>
        <p:spPr>
          <a:xfrm>
            <a:off x="8742680" y="4546600"/>
            <a:ext cx="355600" cy="38100"/>
          </a:xfrm>
          <a:custGeom>
            <a:avLst/>
            <a:gdLst/>
            <a:ahLst/>
            <a:cxnLst/>
            <a:rect l="l" t="t" r="r" b="b"/>
            <a:pathLst>
              <a:path w="355600" h="38100">
                <a:moveTo>
                  <a:pt x="0" y="0"/>
                </a:moveTo>
                <a:lnTo>
                  <a:pt x="355600" y="0"/>
                </a:lnTo>
                <a:lnTo>
                  <a:pt x="355600" y="38100"/>
                </a:lnTo>
                <a:lnTo>
                  <a:pt x="0" y="38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4" name="txt.item.3.caption"/>
          <p:cNvSpPr txBox="1"/>
          <p:nvPr/>
        </p:nvSpPr>
        <p:spPr>
          <a:xfrm>
            <a:off x="8742680" y="4673600"/>
            <a:ext cx="254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3年目：班長以外でも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日程を組める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推進の体制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社長を責任者に、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製造部・営業部・総務部から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1名ずつ集めた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推進チーム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を作る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外部の専門家にも、月に1回助言をもらう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各段階で現場の作業者に試して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もらい、直してから広げる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注意のページ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8331200" cy="6858000"/>
          </a:xfrm>
          <a:custGeom>
            <a:avLst/>
            <a:gdLst/>
            <a:ahLst/>
            <a:cxnLst/>
            <a:rect l="l" t="t" r="r" b="b"/>
            <a:pathLst>
              <a:path w="8331200" h="6858000">
                <a:moveTo>
                  <a:pt x="5308600" y="0"/>
                </a:moveTo>
                <a:lnTo>
                  <a:pt x="8331200" y="0"/>
                </a:lnTo>
                <a:lnTo>
                  <a:pt x="1473200" y="6858000"/>
                </a:lnTo>
                <a:lnTo>
                  <a:pt x="0" y="6858000"/>
                </a:lnTo>
                <a:lnTo>
                  <a:pt x="0" y="5302250"/>
                </a:lnTo>
                <a:close/>
              </a:path>
            </a:pathLst>
          </a:custGeom>
        </p:spPr>
      </p:pic>
      <p:sp>
        <p:nvSpPr>
          <p:cNvPr id="3" name="deco.line-yellow"/>
          <p:cNvSpPr/>
          <p:nvPr/>
        </p:nvSpPr>
        <p:spPr>
          <a:xfrm>
            <a:off x="1606550" y="2082800"/>
            <a:ext cx="1418590" cy="1263650"/>
          </a:xfrm>
          <a:custGeom>
            <a:avLst/>
            <a:gdLst/>
            <a:ahLst/>
            <a:cxnLst/>
            <a:rect l="l" t="t" r="r" b="b"/>
            <a:pathLst>
              <a:path w="1418590" h="1263650">
                <a:moveTo>
                  <a:pt x="0" y="1263650"/>
                </a:moveTo>
                <a:lnTo>
                  <a:pt x="1263650" y="0"/>
                </a:lnTo>
                <a:lnTo>
                  <a:pt x="1418590" y="0"/>
                </a:lnTo>
                <a:lnTo>
                  <a:pt x="154940" y="12636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2117090" y="4464050"/>
            <a:ext cx="2327910" cy="2073910"/>
          </a:xfrm>
          <a:custGeom>
            <a:avLst/>
            <a:gdLst/>
            <a:ahLst/>
            <a:cxnLst/>
            <a:rect l="l" t="t" r="r" b="b"/>
            <a:pathLst>
              <a:path w="2327910" h="2073910">
                <a:moveTo>
                  <a:pt x="0" y="2073910"/>
                </a:moveTo>
                <a:lnTo>
                  <a:pt x="2073910" y="0"/>
                </a:lnTo>
                <a:lnTo>
                  <a:pt x="2327910" y="0"/>
                </a:lnTo>
                <a:lnTo>
                  <a:pt x="254000" y="20739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band"/>
          <p:cNvSpPr/>
          <p:nvPr/>
        </p:nvSpPr>
        <p:spPr>
          <a:xfrm>
            <a:off x="3686810" y="2209800"/>
            <a:ext cx="8680450" cy="1070610"/>
          </a:xfrm>
          <a:custGeom>
            <a:avLst/>
            <a:gdLst/>
            <a:ahLst/>
            <a:cxnLst/>
            <a:rect l="l" t="t" r="r" b="b"/>
            <a:pathLst>
              <a:path w="8680450" h="1070610">
                <a:moveTo>
                  <a:pt x="0" y="1070610"/>
                </a:moveTo>
                <a:lnTo>
                  <a:pt x="1070610" y="0"/>
                </a:lnTo>
                <a:lnTo>
                  <a:pt x="8680450" y="0"/>
                </a:lnTo>
                <a:lnTo>
                  <a:pt x="8680450" y="10706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txt.eyebrow"/>
          <p:cNvSpPr txBox="1"/>
          <p:nvPr/>
        </p:nvSpPr>
        <p:spPr>
          <a:xfrm rot="-2700000">
            <a:off x="-355600" y="100330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tx1"/>
                </a:solidFill>
                <a:latin typeface="Barlow"/>
                <a:ea typeface="Noto Sans JP"/>
              </a:rPr>
              <a:t>Purpose</a:t>
            </a:r>
            <a:endParaRPr lang="ja-JP" altLang="en-US" sz="2050" b="0" dirty="0" spc="400"/>
          </a:p>
        </p:txBody>
      </p:sp>
      <p:sp>
        <p:nvSpPr>
          <p:cNvPr id="8" name="txt.headline"/>
          <p:cNvSpPr txBox="1"/>
          <p:nvPr/>
        </p:nvSpPr>
        <p:spPr>
          <a:xfrm>
            <a:off x="4978400" y="2362200"/>
            <a:ext cx="7112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目的は熟練者に頼らない工場</a:t>
            </a:r>
            <a:endParaRPr lang="ja-JP" altLang="en-US" sz="3250" b="0" dirty="0"/>
          </a:p>
        </p:txBody>
      </p:sp>
      <p:sp>
        <p:nvSpPr>
          <p:cNvPr id="9" name="txt.body"/>
          <p:cNvSpPr txBox="1"/>
          <p:nvPr/>
        </p:nvSpPr>
        <p:spPr>
          <a:xfrm>
            <a:off x="5232400" y="3810000"/>
            <a:ext cx="6350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6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仕組みを入れることが目的ではありません。目的は、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熟練者に頼らなくても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工場が回るようにすることです。現場の知恵を書き出してみんなのものにします。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ri-left"/>
          <p:cNvSpPr/>
          <p:nvPr/>
        </p:nvSpPr>
        <p:spPr>
          <a:xfrm>
            <a:off x="0" y="4014470"/>
            <a:ext cx="1177290" cy="1176020"/>
          </a:xfrm>
          <a:custGeom>
            <a:avLst/>
            <a:gdLst/>
            <a:ahLst/>
            <a:cxnLst/>
            <a:rect l="l" t="t" r="r" b="b"/>
            <a:pathLst>
              <a:path w="1177290" h="1176020">
                <a:moveTo>
                  <a:pt x="0" y="0"/>
                </a:moveTo>
                <a:lnTo>
                  <a:pt x="1177290" y="0"/>
                </a:lnTo>
                <a:lnTo>
                  <a:pt x="0" y="11760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deco.tri-right"/>
          <p:cNvSpPr/>
          <p:nvPr/>
        </p:nvSpPr>
        <p:spPr>
          <a:xfrm>
            <a:off x="8135620" y="1460500"/>
            <a:ext cx="4103370" cy="4103370"/>
          </a:xfrm>
          <a:custGeom>
            <a:avLst/>
            <a:gdLst/>
            <a:ahLst/>
            <a:cxnLst/>
            <a:rect l="l" t="t" r="r" b="b"/>
            <a:pathLst>
              <a:path w="4103370" h="4103370">
                <a:moveTo>
                  <a:pt x="4103370" y="0"/>
                </a:moveTo>
                <a:lnTo>
                  <a:pt x="4103370" y="4103370"/>
                </a:lnTo>
                <a:lnTo>
                  <a:pt x="0" y="41033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plate"/>
          <p:cNvSpPr/>
          <p:nvPr/>
        </p:nvSpPr>
        <p:spPr>
          <a:xfrm>
            <a:off x="1083310" y="2186940"/>
            <a:ext cx="9500870" cy="2772410"/>
          </a:xfrm>
          <a:custGeom>
            <a:avLst/>
            <a:gdLst/>
            <a:ahLst/>
            <a:cxnLst/>
            <a:rect l="l" t="t" r="r" b="b"/>
            <a:pathLst>
              <a:path w="9500870" h="2772410">
                <a:moveTo>
                  <a:pt x="0" y="2760980"/>
                </a:moveTo>
                <a:lnTo>
                  <a:pt x="2759710" y="0"/>
                </a:lnTo>
                <a:lnTo>
                  <a:pt x="9500870" y="0"/>
                </a:lnTo>
                <a:lnTo>
                  <a:pt x="6728460" y="2772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"/>
          <p:cNvSpPr/>
          <p:nvPr/>
        </p:nvSpPr>
        <p:spPr>
          <a:xfrm>
            <a:off x="5046980" y="6168390"/>
            <a:ext cx="1640840" cy="689610"/>
          </a:xfrm>
          <a:custGeom>
            <a:avLst/>
            <a:gdLst/>
            <a:ahLst/>
            <a:cxnLst/>
            <a:rect l="l" t="t" r="r" b="b"/>
            <a:pathLst>
              <a:path w="1640840" h="689610">
                <a:moveTo>
                  <a:pt x="0" y="689610"/>
                </a:moveTo>
                <a:lnTo>
                  <a:pt x="689610" y="0"/>
                </a:lnTo>
                <a:lnTo>
                  <a:pt x="1640840" y="0"/>
                </a:lnTo>
                <a:lnTo>
                  <a:pt x="951230" y="6896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txt.headline"/>
          <p:cNvSpPr txBox="1"/>
          <p:nvPr/>
        </p:nvSpPr>
        <p:spPr>
          <a:xfrm>
            <a:off x="3175000" y="3187700"/>
            <a:ext cx="5588000" cy="7620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5000"/>
              </a:lnSpc>
            </a:pPr>
            <a:r>
              <a:rPr lang="ja-JP" altLang="en-US" sz="4000" b="1">
                <a:solidFill>
                  <a:schemeClr val="bg1"/>
                </a:solidFill>
                <a:latin typeface="Barlow"/>
                <a:ea typeface="Noto Sans JP"/>
              </a:rPr>
              <a:t>投資と効果</a:t>
            </a:r>
            <a:endParaRPr lang="ja-JP" altLang="en-US" sz="4000" b="1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side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3035300" cy="6858000"/>
          </a:xfrm>
          <a:prstGeom prst="rect">
            <a:avLst/>
          </a:prstGeom>
        </p:spPr>
      </p:pic>
      <p:sp>
        <p:nvSpPr>
          <p:cNvPr id="3" name="deco.side-tri-1"/>
          <p:cNvSpPr/>
          <p:nvPr/>
        </p:nvSpPr>
        <p:spPr>
          <a:xfrm>
            <a:off x="0" y="-3238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3035300"/>
                </a:moveTo>
                <a:lnTo>
                  <a:pt x="3035300" y="0"/>
                </a:lnTo>
                <a:lnTo>
                  <a:pt x="303530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side-tri-2"/>
          <p:cNvSpPr/>
          <p:nvPr/>
        </p:nvSpPr>
        <p:spPr>
          <a:xfrm>
            <a:off x="0" y="2698750"/>
            <a:ext cx="3035300" cy="3035300"/>
          </a:xfrm>
          <a:custGeom>
            <a:avLst/>
            <a:gdLst/>
            <a:ahLst/>
            <a:cxnLst/>
            <a:rect l="l" t="t" r="r" b="b"/>
            <a:pathLst>
              <a:path w="3035300" h="3035300">
                <a:moveTo>
                  <a:pt x="0" y="0"/>
                </a:moveTo>
                <a:lnTo>
                  <a:pt x="3035300" y="0"/>
                </a:lnTo>
                <a:lnTo>
                  <a:pt x="0" y="30353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side-tri-3"/>
          <p:cNvSpPr/>
          <p:nvPr/>
        </p:nvSpPr>
        <p:spPr>
          <a:xfrm>
            <a:off x="990600" y="4832350"/>
            <a:ext cx="2044700" cy="2044700"/>
          </a:xfrm>
          <a:custGeom>
            <a:avLst/>
            <a:gdLst/>
            <a:ahLst/>
            <a:cxnLst/>
            <a:rect l="l" t="t" r="r" b="b"/>
            <a:pathLst>
              <a:path w="2044700" h="2044700">
                <a:moveTo>
                  <a:pt x="0" y="2044700"/>
                </a:moveTo>
                <a:lnTo>
                  <a:pt x="2044700" y="0"/>
                </a:lnTo>
                <a:lnTo>
                  <a:pt x="2044700" y="20447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side-line"/>
          <p:cNvSpPr/>
          <p:nvPr/>
        </p:nvSpPr>
        <p:spPr>
          <a:xfrm>
            <a:off x="76200" y="1727200"/>
            <a:ext cx="1244600" cy="1111250"/>
          </a:xfrm>
          <a:custGeom>
            <a:avLst/>
            <a:gdLst/>
            <a:ahLst/>
            <a:cxnLst/>
            <a:rect l="l" t="t" r="r" b="b"/>
            <a:pathLst>
              <a:path w="1244600" h="1111250">
                <a:moveTo>
                  <a:pt x="0" y="1111250"/>
                </a:moveTo>
                <a:lnTo>
                  <a:pt x="133350" y="1111250"/>
                </a:lnTo>
                <a:lnTo>
                  <a:pt x="1244600" y="0"/>
                </a:lnTo>
                <a:lnTo>
                  <a:pt x="1111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7" name="deco.top-band"/>
          <p:cNvSpPr/>
          <p:nvPr/>
        </p:nvSpPr>
        <p:spPr>
          <a:xfrm>
            <a:off x="9455150" y="-482600"/>
            <a:ext cx="3371850" cy="933450"/>
          </a:xfrm>
          <a:custGeom>
            <a:avLst/>
            <a:gdLst/>
            <a:ahLst/>
            <a:cxnLst/>
            <a:rect l="l" t="t" r="r" b="b"/>
            <a:pathLst>
              <a:path w="3371850" h="933450">
                <a:moveTo>
                  <a:pt x="0" y="933450"/>
                </a:moveTo>
                <a:lnTo>
                  <a:pt x="933450" y="0"/>
                </a:lnTo>
                <a:lnTo>
                  <a:pt x="3371850" y="0"/>
                </a:lnTo>
                <a:lnTo>
                  <a:pt x="244475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8" name="deco.slant-plate"/>
          <p:cNvSpPr/>
          <p:nvPr/>
        </p:nvSpPr>
        <p:spPr>
          <a:xfrm>
            <a:off x="4819650" y="1689100"/>
            <a:ext cx="6350000" cy="3384550"/>
          </a:xfrm>
          <a:custGeom>
            <a:avLst/>
            <a:gdLst/>
            <a:ahLst/>
            <a:cxnLst/>
            <a:rect l="l" t="t" r="r" b="b"/>
            <a:pathLst>
              <a:path w="6350000" h="3384550">
                <a:moveTo>
                  <a:pt x="0" y="3384550"/>
                </a:moveTo>
                <a:lnTo>
                  <a:pt x="3384550" y="0"/>
                </a:lnTo>
                <a:lnTo>
                  <a:pt x="6350000" y="0"/>
                </a:lnTo>
                <a:lnTo>
                  <a:pt x="2965450" y="3384550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>
            <a:noFill/>
          </a:ln>
        </p:spPr>
      </p:sp>
      <p:sp>
        <p:nvSpPr>
          <p:cNvPr id="9" name="deco.title-band"/>
          <p:cNvSpPr/>
          <p:nvPr/>
        </p:nvSpPr>
        <p:spPr>
          <a:xfrm>
            <a:off x="1377950" y="520700"/>
            <a:ext cx="10731500" cy="1073150"/>
          </a:xfrm>
          <a:custGeom>
            <a:avLst/>
            <a:gdLst/>
            <a:ahLst/>
            <a:cxnLst/>
            <a:rect l="l" t="t" r="r" b="b"/>
            <a:pathLst>
              <a:path w="10731500" h="1073150">
                <a:moveTo>
                  <a:pt x="0" y="1073150"/>
                </a:moveTo>
                <a:lnTo>
                  <a:pt x="1066800" y="0"/>
                </a:lnTo>
                <a:lnTo>
                  <a:pt x="10731500" y="0"/>
                </a:lnTo>
                <a:lnTo>
                  <a:pt x="10731500" y="1073150"/>
                </a:lnTo>
                <a:close/>
              </a:path>
            </a:pathLst>
          </a:custGeom>
          <a:solidFill>
            <a:schemeClr val="bg2">
              <a:alpha val="92000"/>
            </a:schemeClr>
          </a:solidFill>
          <a:ln>
            <a:noFill/>
          </a:ln>
        </p:spPr>
      </p:sp>
      <p:sp>
        <p:nvSpPr>
          <p:cNvPr id="10" name="deco.end-triangle"/>
          <p:cNvSpPr/>
          <p:nvPr/>
        </p:nvSpPr>
        <p:spPr>
          <a:xfrm>
            <a:off x="10998200" y="5702300"/>
            <a:ext cx="933450" cy="933450"/>
          </a:xfrm>
          <a:custGeom>
            <a:avLst/>
            <a:gdLst/>
            <a:ahLst/>
            <a:cxnLst/>
            <a:rect l="l" t="t" r="r" b="b"/>
            <a:pathLst>
              <a:path w="933450" h="933450">
                <a:moveTo>
                  <a:pt x="933450" y="0"/>
                </a:moveTo>
                <a:lnTo>
                  <a:pt x="933450" y="933450"/>
                </a:lnTo>
                <a:lnTo>
                  <a:pt x="0" y="93345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eyebrow"/>
          <p:cNvSpPr txBox="1"/>
          <p:nvPr/>
        </p:nvSpPr>
        <p:spPr>
          <a:xfrm rot="-2700000">
            <a:off x="-431800" y="736600"/>
            <a:ext cx="3048000" cy="711200"/>
          </a:xfrm>
          <a:prstGeom prst="rect">
            <a:avLst/>
          </a:prstGeom>
          <a:noFill/>
        </p:spPr>
        <p:txBody>
          <a:bodyPr wrap="none" lIns="0" tIns="0" rIns="0" bIns="0" anchor="ctr" rtlCol="0">
            <a:noAutofit/>
          </a:bodyPr>
          <a:lstStyle/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Investment</a:t>
            </a:r>
            <a:endParaRPr lang="ja-JP" altLang="en-US" sz="2050" b="0" dirty="0" spc="400"/>
          </a:p>
          <a:p>
            <a:pPr algn="ctr" eaLnBrk="1" hangingPunct="1" latinLnBrk="0">
              <a:lnSpc>
                <a:spcPts val="2600"/>
              </a:lnSpc>
            </a:pPr>
            <a:r>
              <a:rPr lang="ja-JP" altLang="en-US" sz="2050" b="0" spc="400">
                <a:solidFill>
                  <a:schemeClr val="bg1"/>
                </a:solidFill>
                <a:latin typeface="Barlow"/>
                <a:ea typeface="Noto Sans JP"/>
              </a:rPr>
              <a:t>Plan</a:t>
            </a:r>
            <a:endParaRPr lang="ja-JP" altLang="en-US" sz="2050" b="0" dirty="0" spc="400"/>
          </a:p>
        </p:txBody>
      </p:sp>
      <p:sp>
        <p:nvSpPr>
          <p:cNvPr id="12" name="txt.headline"/>
          <p:cNvSpPr txBox="1"/>
          <p:nvPr/>
        </p:nvSpPr>
        <p:spPr>
          <a:xfrm>
            <a:off x="3416300" y="660400"/>
            <a:ext cx="8382000" cy="7874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3年間の</a:t>
            </a:r>
            <a:r>
              <a:rPr lang="ja-JP" altLang="en-US" sz="325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投資額</a:t>
            </a:r>
            <a:endParaRPr lang="ja-JP" altLang="en-US" sz="3250" b="0" dirty="0"/>
          </a:p>
        </p:txBody>
      </p:sp>
      <p:sp>
        <p:nvSpPr>
          <p:cNvPr id="13" name="txt.label.1"/>
          <p:cNvSpPr txBox="1"/>
          <p:nvPr/>
        </p:nvSpPr>
        <p:spPr>
          <a:xfrm>
            <a:off x="37655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投資期間</a:t>
            </a:r>
            <a:endParaRPr lang="ja-JP" altLang="en-US" sz="2300" b="1" dirty="0"/>
          </a:p>
        </p:txBody>
      </p:sp>
      <p:sp>
        <p:nvSpPr>
          <p:cNvPr id="14" name="num.value.1"/>
          <p:cNvSpPr txBox="1"/>
          <p:nvPr/>
        </p:nvSpPr>
        <p:spPr>
          <a:xfrm>
            <a:off x="3765550" y="2692400"/>
            <a:ext cx="24892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3</a:t>
            </a:r>
            <a:endParaRPr lang="ja-JP" altLang="en-US" sz="9900" b="0" dirty="0"/>
          </a:p>
        </p:txBody>
      </p:sp>
      <p:sp>
        <p:nvSpPr>
          <p:cNvPr id="15" name="deco.value-1-rule"/>
          <p:cNvSpPr/>
          <p:nvPr/>
        </p:nvSpPr>
        <p:spPr>
          <a:xfrm>
            <a:off x="37084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6" name="txt.unit.1"/>
          <p:cNvSpPr txBox="1"/>
          <p:nvPr/>
        </p:nvSpPr>
        <p:spPr>
          <a:xfrm>
            <a:off x="37655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年間</a:t>
            </a:r>
            <a:endParaRPr lang="ja-JP" altLang="en-US" sz="2300" b="1" dirty="0"/>
          </a:p>
        </p:txBody>
      </p:sp>
      <p:sp>
        <p:nvSpPr>
          <p:cNvPr id="17" name="txt.note.1"/>
          <p:cNvSpPr txBox="1"/>
          <p:nvPr/>
        </p:nvSpPr>
        <p:spPr>
          <a:xfrm>
            <a:off x="38417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小さく始めて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段階的に進める</a:t>
            </a:r>
            <a:endParaRPr lang="ja-JP" altLang="en-US" sz="1500" b="1" dirty="0"/>
          </a:p>
        </p:txBody>
      </p:sp>
      <p:sp>
        <p:nvSpPr>
          <p:cNvPr id="18" name="txt.label.2"/>
          <p:cNvSpPr txBox="1"/>
          <p:nvPr/>
        </p:nvSpPr>
        <p:spPr>
          <a:xfrm>
            <a:off x="63182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投資額合計</a:t>
            </a:r>
            <a:endParaRPr lang="ja-JP" altLang="en-US" sz="2300" b="1" dirty="0"/>
          </a:p>
        </p:txBody>
      </p:sp>
      <p:sp>
        <p:nvSpPr>
          <p:cNvPr id="19" name="num.value.2"/>
          <p:cNvSpPr txBox="1"/>
          <p:nvPr/>
        </p:nvSpPr>
        <p:spPr>
          <a:xfrm>
            <a:off x="6318250" y="2692400"/>
            <a:ext cx="32766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4,800</a:t>
            </a:r>
            <a:endParaRPr lang="ja-JP" altLang="en-US" sz="9900" b="0" dirty="0"/>
          </a:p>
        </p:txBody>
      </p:sp>
      <p:sp>
        <p:nvSpPr>
          <p:cNvPr id="20" name="deco.value-2-rule"/>
          <p:cNvSpPr/>
          <p:nvPr/>
        </p:nvSpPr>
        <p:spPr>
          <a:xfrm>
            <a:off x="62611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1" name="txt.unit.2"/>
          <p:cNvSpPr txBox="1"/>
          <p:nvPr/>
        </p:nvSpPr>
        <p:spPr>
          <a:xfrm>
            <a:off x="63182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万円</a:t>
            </a:r>
            <a:endParaRPr lang="ja-JP" altLang="en-US" sz="2300" b="1" dirty="0"/>
          </a:p>
        </p:txBody>
      </p:sp>
      <p:sp>
        <p:nvSpPr>
          <p:cNvPr id="22" name="txt.note.2"/>
          <p:cNvSpPr txBox="1"/>
          <p:nvPr/>
        </p:nvSpPr>
        <p:spPr>
          <a:xfrm>
            <a:off x="63944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うち1,600万円は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国の補助金を予定</a:t>
            </a:r>
            <a:endParaRPr lang="ja-JP" altLang="en-US" sz="1500" b="1" dirty="0"/>
          </a:p>
        </p:txBody>
      </p:sp>
      <p:sp>
        <p:nvSpPr>
          <p:cNvPr id="23" name="txt.label.3"/>
          <p:cNvSpPr txBox="1"/>
          <p:nvPr/>
        </p:nvSpPr>
        <p:spPr>
          <a:xfrm>
            <a:off x="9683750" y="2286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30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センサー</a:t>
            </a:r>
            <a:endParaRPr lang="ja-JP" altLang="en-US" sz="2300" b="1" dirty="0"/>
          </a:p>
        </p:txBody>
      </p:sp>
      <p:sp>
        <p:nvSpPr>
          <p:cNvPr id="24" name="num.value.3"/>
          <p:cNvSpPr txBox="1"/>
          <p:nvPr/>
        </p:nvSpPr>
        <p:spPr>
          <a:xfrm>
            <a:off x="9683750" y="2692400"/>
            <a:ext cx="2413000" cy="1320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10400"/>
              </a:lnSpc>
            </a:pPr>
            <a:r>
              <a:rPr lang="ja-JP" altLang="en-US" sz="9900" b="0">
                <a:solidFill>
                  <a:schemeClr val="tx1"/>
                </a:solidFill>
                <a:latin typeface="Barlow"/>
                <a:ea typeface="Noto Sans JP"/>
              </a:rPr>
              <a:t>20</a:t>
            </a:r>
            <a:endParaRPr lang="ja-JP" altLang="en-US" sz="9900" b="0" dirty="0"/>
          </a:p>
        </p:txBody>
      </p:sp>
      <p:sp>
        <p:nvSpPr>
          <p:cNvPr id="25" name="deco.value-3-rule"/>
          <p:cNvSpPr/>
          <p:nvPr/>
        </p:nvSpPr>
        <p:spPr>
          <a:xfrm>
            <a:off x="9626600" y="3848100"/>
            <a:ext cx="1854200" cy="95250"/>
          </a:xfrm>
          <a:custGeom>
            <a:avLst/>
            <a:gdLst/>
            <a:ahLst/>
            <a:cxnLst/>
            <a:rect l="l" t="t" r="r" b="b"/>
            <a:pathLst>
              <a:path w="1854200" h="95250">
                <a:moveTo>
                  <a:pt x="0" y="95250"/>
                </a:moveTo>
                <a:lnTo>
                  <a:pt x="1854200" y="95250"/>
                </a:lnTo>
                <a:lnTo>
                  <a:pt x="1765300" y="0"/>
                </a:lnTo>
                <a:lnTo>
                  <a:pt x="952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6" name="txt.unit.3"/>
          <p:cNvSpPr txBox="1"/>
          <p:nvPr/>
        </p:nvSpPr>
        <p:spPr>
          <a:xfrm>
            <a:off x="9683750" y="3962400"/>
            <a:ext cx="1797050" cy="355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eaLnBrk="1" hangingPunct="1" latinLnBrk="0">
              <a:lnSpc>
                <a:spcPts val="2800"/>
              </a:lnSpc>
            </a:pPr>
            <a:r>
              <a:rPr lang="ja-JP" altLang="en-US" sz="2300" b="1">
                <a:solidFill>
                  <a:schemeClr val="tx1"/>
                </a:solidFill>
                <a:latin typeface="Barlow"/>
                <a:ea typeface="Noto Sans JP"/>
              </a:rPr>
              <a:t>台</a:t>
            </a:r>
            <a:endParaRPr lang="ja-JP" altLang="en-US" sz="2300" b="1" dirty="0"/>
          </a:p>
        </p:txBody>
      </p:sp>
      <p:sp>
        <p:nvSpPr>
          <p:cNvPr id="27" name="txt.note.3"/>
          <p:cNvSpPr txBox="1"/>
          <p:nvPr/>
        </p:nvSpPr>
        <p:spPr>
          <a:xfrm>
            <a:off x="9759950" y="4368800"/>
            <a:ext cx="22860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2年目に全台へ</a:t>
            </a:r>
            <a:endParaRPr lang="ja-JP" altLang="en-US" sz="1500" b="1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取り付ける</a:t>
            </a:r>
            <a:endParaRPr lang="ja-JP" altLang="en-US" sz="1500" b="1" dirty="0"/>
          </a:p>
        </p:txBody>
      </p:sp>
      <p:sp>
        <p:nvSpPr>
          <p:cNvPr id="28" name="txt.footnote"/>
          <p:cNvSpPr txBox="1"/>
          <p:nvPr/>
        </p:nvSpPr>
        <p:spPr>
          <a:xfrm>
            <a:off x="3816350" y="5867400"/>
            <a:ext cx="7620000" cy="5588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300" b="1">
                <a:solidFill>
                  <a:schemeClr val="tx1"/>
                </a:solidFill>
                <a:latin typeface="Barlow"/>
                <a:ea typeface="Noto Sans JP"/>
              </a:rPr>
              <a:t>3年間の投資額は合計で4,800万円。うち1,600万円は国の補助金の活用を予定しています。</a:t>
            </a:r>
            <a:endParaRPr lang="ja-JP" altLang="en-US" sz="1300" b="1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g.hero" descr="左の写真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0" y="0"/>
            <a:ext cx="6426200" cy="6858000"/>
          </a:xfrm>
          <a:prstGeom prst="rect">
            <a:avLst/>
          </a:prstGeom>
        </p:spPr>
      </p:pic>
      <p:sp>
        <p:nvSpPr>
          <p:cNvPr id="3" name="deco.tri-1"/>
          <p:cNvSpPr/>
          <p:nvPr/>
        </p:nvSpPr>
        <p:spPr>
          <a:xfrm>
            <a:off x="-232410" y="7874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3328670" y="0"/>
                </a:moveTo>
                <a:lnTo>
                  <a:pt x="3328670" y="3328670"/>
                </a:lnTo>
                <a:lnTo>
                  <a:pt x="0" y="332867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4" name="deco.tri-2"/>
          <p:cNvSpPr/>
          <p:nvPr/>
        </p:nvSpPr>
        <p:spPr>
          <a:xfrm>
            <a:off x="-232410" y="3392170"/>
            <a:ext cx="3328670" cy="3328670"/>
          </a:xfrm>
          <a:custGeom>
            <a:avLst/>
            <a:gdLst/>
            <a:ahLst/>
            <a:cxnLst/>
            <a:rect l="l" t="t" r="r" b="b"/>
            <a:pathLst>
              <a:path w="3328670" h="3328670">
                <a:moveTo>
                  <a:pt x="0" y="332867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5" name="deco.tri-3"/>
          <p:cNvSpPr/>
          <p:nvPr/>
        </p:nvSpPr>
        <p:spPr>
          <a:xfrm>
            <a:off x="3102610" y="10668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3328670" y="0"/>
                </a:moveTo>
                <a:lnTo>
                  <a:pt x="3328670" y="3327400"/>
                </a:lnTo>
                <a:lnTo>
                  <a:pt x="0" y="332740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6" name="deco.tri-4"/>
          <p:cNvSpPr/>
          <p:nvPr/>
        </p:nvSpPr>
        <p:spPr>
          <a:xfrm>
            <a:off x="3102610" y="3420110"/>
            <a:ext cx="3328670" cy="3327400"/>
          </a:xfrm>
          <a:custGeom>
            <a:avLst/>
            <a:gdLst/>
            <a:ahLst/>
            <a:cxnLst/>
            <a:rect l="l" t="t" r="r" b="b"/>
            <a:pathLst>
              <a:path w="3328670" h="3327400">
                <a:moveTo>
                  <a:pt x="0" y="3327400"/>
                </a:moveTo>
                <a:lnTo>
                  <a:pt x="0" y="0"/>
                </a:lnTo>
                <a:lnTo>
                  <a:pt x="3328670" y="0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>
            <a:noFill/>
          </a:ln>
        </p:spPr>
      </p:sp>
      <p:sp>
        <p:nvSpPr>
          <p:cNvPr id="7" name="txt.headline"/>
          <p:cNvSpPr txBox="1"/>
          <p:nvPr/>
        </p:nvSpPr>
        <p:spPr>
          <a:xfrm>
            <a:off x="7061200" y="889000"/>
            <a:ext cx="4699000" cy="101600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期待する効果</a:t>
            </a:r>
            <a:endParaRPr lang="ja-JP" altLang="en-US" sz="3250" b="0" dirty="0"/>
          </a:p>
        </p:txBody>
      </p:sp>
      <p:sp>
        <p:nvSpPr>
          <p:cNvPr id="8" name="deco.point-1"/>
          <p:cNvSpPr/>
          <p:nvPr/>
        </p:nvSpPr>
        <p:spPr>
          <a:xfrm>
            <a:off x="7061200" y="2603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" name="txt.item.1"/>
          <p:cNvSpPr txBox="1"/>
          <p:nvPr/>
        </p:nvSpPr>
        <p:spPr>
          <a:xfrm>
            <a:off x="7366000" y="25400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段取り替えの時間は、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平均</a:t>
            </a:r>
            <a:r>
              <a:rPr lang="ja-JP" altLang="en-US" sz="16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 Medium"/>
                <a:ea typeface="Noto Sans JP Medium"/>
              </a:rPr>
              <a:t>45分から20分</a:t>
            </a: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へ短縮します。</a:t>
            </a:r>
            <a:endParaRPr lang="ja-JP" altLang="en-US" sz="1600" b="0" dirty="0"/>
          </a:p>
        </p:txBody>
      </p:sp>
      <p:sp>
        <p:nvSpPr>
          <p:cNvPr id="10" name="deco.point-2"/>
          <p:cNvSpPr/>
          <p:nvPr/>
        </p:nvSpPr>
        <p:spPr>
          <a:xfrm>
            <a:off x="7061200" y="3771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1" name="txt.item.2"/>
          <p:cNvSpPr txBox="1"/>
          <p:nvPr/>
        </p:nvSpPr>
        <p:spPr>
          <a:xfrm>
            <a:off x="7366000" y="37084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材料の在庫は今の半分へ。残業は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月1人20時間から10時間へ減らします。</a:t>
            </a:r>
            <a:endParaRPr lang="ja-JP" altLang="en-US" sz="1600" b="0" dirty="0"/>
          </a:p>
        </p:txBody>
      </p:sp>
      <p:sp>
        <p:nvSpPr>
          <p:cNvPr id="12" name="deco.point-3"/>
          <p:cNvSpPr/>
          <p:nvPr/>
        </p:nvSpPr>
        <p:spPr>
          <a:xfrm>
            <a:off x="7061200" y="494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0"/>
                </a:moveTo>
                <a:lnTo>
                  <a:pt x="152400" y="0"/>
                </a:lnTo>
                <a:lnTo>
                  <a:pt x="152400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13" name="txt.item.3"/>
          <p:cNvSpPr txBox="1"/>
          <p:nvPr/>
        </p:nvSpPr>
        <p:spPr>
          <a:xfrm>
            <a:off x="7366000" y="4876800"/>
            <a:ext cx="4394200" cy="838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浮いた時間は若手の育成に。</a:t>
            </a:r>
            <a:endParaRPr lang="ja-JP" altLang="en-US" sz="1600" b="0" dirty="0"/>
          </a:p>
          <a:p>
            <a:pPr algn="l" eaLnBrk="1" hangingPunct="1" latinLnBrk="0">
              <a:lnSpc>
                <a:spcPts val="2200"/>
              </a:lnSpc>
            </a:pPr>
            <a:r>
              <a:rPr lang="ja-JP" altLang="en-US" sz="1600" b="0">
                <a:solidFill>
                  <a:schemeClr val="tx1"/>
                </a:solidFill>
                <a:latin typeface="Barlow Medium"/>
                <a:ea typeface="Noto Sans JP Medium"/>
              </a:rPr>
              <a:t>熟練者が毎週2時間教えます。</a:t>
            </a:r>
            <a:endParaRPr lang="ja-JP" altLang="en-US" sz="1600" b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band"/>
          <p:cNvSpPr/>
          <p:nvPr/>
        </p:nvSpPr>
        <p:spPr>
          <a:xfrm>
            <a:off x="6941820" y="0"/>
            <a:ext cx="5250180" cy="4279900"/>
          </a:xfrm>
          <a:custGeom>
            <a:avLst/>
            <a:gdLst/>
            <a:ahLst/>
            <a:cxnLst/>
            <a:rect l="l" t="t" r="r" b="b"/>
            <a:pathLst>
              <a:path w="5250180" h="4279900">
                <a:moveTo>
                  <a:pt x="0" y="2753360"/>
                </a:moveTo>
                <a:lnTo>
                  <a:pt x="2753360" y="0"/>
                </a:lnTo>
                <a:lnTo>
                  <a:pt x="5250180" y="0"/>
                </a:lnTo>
                <a:lnTo>
                  <a:pt x="5250180" y="556260"/>
                </a:lnTo>
                <a:lnTo>
                  <a:pt x="1526540" y="42799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sp>
      <p:sp>
        <p:nvSpPr>
          <p:cNvPr id="3" name="deco.tri"/>
          <p:cNvSpPr/>
          <p:nvPr/>
        </p:nvSpPr>
        <p:spPr>
          <a:xfrm>
            <a:off x="9098280" y="3736340"/>
            <a:ext cx="3216910" cy="3216910"/>
          </a:xfrm>
          <a:custGeom>
            <a:avLst/>
            <a:gdLst/>
            <a:ahLst/>
            <a:cxnLst/>
            <a:rect l="l" t="t" r="r" b="b"/>
            <a:pathLst>
              <a:path w="3216910" h="3216910">
                <a:moveTo>
                  <a:pt x="0" y="3216910"/>
                </a:moveTo>
                <a:lnTo>
                  <a:pt x="3216910" y="0"/>
                </a:lnTo>
                <a:lnTo>
                  <a:pt x="3216910" y="321691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4" name="deco.line-blue"/>
          <p:cNvSpPr/>
          <p:nvPr/>
        </p:nvSpPr>
        <p:spPr>
          <a:xfrm>
            <a:off x="8031480" y="5894070"/>
            <a:ext cx="1189990" cy="963930"/>
          </a:xfrm>
          <a:custGeom>
            <a:avLst/>
            <a:gdLst/>
            <a:ahLst/>
            <a:cxnLst/>
            <a:rect l="l" t="t" r="r" b="b"/>
            <a:pathLst>
              <a:path w="1189990" h="963930">
                <a:moveTo>
                  <a:pt x="0" y="963930"/>
                </a:moveTo>
                <a:lnTo>
                  <a:pt x="963930" y="0"/>
                </a:lnTo>
                <a:lnTo>
                  <a:pt x="1189990" y="0"/>
                </a:lnTo>
                <a:lnTo>
                  <a:pt x="226060" y="963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deco.line-yellow"/>
          <p:cNvSpPr/>
          <p:nvPr/>
        </p:nvSpPr>
        <p:spPr>
          <a:xfrm>
            <a:off x="7326630" y="381000"/>
            <a:ext cx="1574800" cy="1348740"/>
          </a:xfrm>
          <a:custGeom>
            <a:avLst/>
            <a:gdLst/>
            <a:ahLst/>
            <a:cxnLst/>
            <a:rect l="l" t="t" r="r" b="b"/>
            <a:pathLst>
              <a:path w="1574800" h="1348740">
                <a:moveTo>
                  <a:pt x="0" y="1348740"/>
                </a:moveTo>
                <a:lnTo>
                  <a:pt x="1348740" y="0"/>
                </a:lnTo>
                <a:lnTo>
                  <a:pt x="1574800" y="0"/>
                </a:lnTo>
                <a:lnTo>
                  <a:pt x="226060" y="134874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pic>
        <p:nvPicPr>
          <p:cNvPr id="6" name="img.hero" descr="菱形のコラージュ"/>
          <p:cNvPicPr>
            <a:picLocks noChangeAspect="1"/>
          </p:cNvPicPr>
          <p:nvPr/>
        </p:nvPicPr>
        <p:blipFill>
          <a:blip r:embed="rId4-created"/>
          <a:srcRect/>
          <a:stretch>
            <a:fillRect/>
          </a:stretch>
        </p:blipFill>
        <p:spPr>
          <a:xfrm>
            <a:off x="1069340" y="1102360"/>
            <a:ext cx="7360920" cy="5345430"/>
          </a:xfrm>
          <a:custGeom>
            <a:avLst/>
            <a:gdLst/>
            <a:ahLst/>
            <a:cxnLst/>
            <a:rect l="l" t="t" r="r" b="b"/>
            <a:pathLst>
              <a:path w="7360920" h="5345430">
                <a:moveTo>
                  <a:pt x="2146300" y="1047750"/>
                </a:moveTo>
                <a:lnTo>
                  <a:pt x="3192780" y="0"/>
                </a:lnTo>
                <a:lnTo>
                  <a:pt x="4240530" y="1047750"/>
                </a:lnTo>
                <a:lnTo>
                  <a:pt x="3192780" y="2095500"/>
                </a:lnTo>
                <a:close/>
              </a:path>
              <a:path w="7360920" h="5345430">
                <a:moveTo>
                  <a:pt x="4307840" y="1049020"/>
                </a:moveTo>
                <a:lnTo>
                  <a:pt x="5355590" y="2540"/>
                </a:lnTo>
                <a:lnTo>
                  <a:pt x="6403340" y="1049020"/>
                </a:lnTo>
                <a:lnTo>
                  <a:pt x="5355590" y="2096770"/>
                </a:lnTo>
                <a:close/>
              </a:path>
              <a:path w="7360920" h="5345430">
                <a:moveTo>
                  <a:pt x="3228340" y="2129790"/>
                </a:moveTo>
                <a:lnTo>
                  <a:pt x="4274820" y="1082040"/>
                </a:lnTo>
                <a:lnTo>
                  <a:pt x="5322570" y="2129790"/>
                </a:lnTo>
                <a:lnTo>
                  <a:pt x="4274820" y="3177540"/>
                </a:lnTo>
                <a:close/>
              </a:path>
              <a:path w="7360920" h="5345430">
                <a:moveTo>
                  <a:pt x="0" y="3209290"/>
                </a:moveTo>
                <a:lnTo>
                  <a:pt x="2113280" y="1096010"/>
                </a:lnTo>
                <a:lnTo>
                  <a:pt x="4226560" y="3209290"/>
                </a:lnTo>
                <a:lnTo>
                  <a:pt x="2113280" y="5323840"/>
                </a:lnTo>
                <a:close/>
              </a:path>
              <a:path w="7360920" h="5345430">
                <a:moveTo>
                  <a:pt x="4307840" y="3209290"/>
                </a:moveTo>
                <a:lnTo>
                  <a:pt x="5834380" y="1682750"/>
                </a:lnTo>
                <a:lnTo>
                  <a:pt x="7360920" y="3209290"/>
                </a:lnTo>
                <a:lnTo>
                  <a:pt x="5834380" y="4737100"/>
                </a:lnTo>
                <a:close/>
              </a:path>
              <a:path w="7360920" h="5345430">
                <a:moveTo>
                  <a:pt x="3219450" y="4297680"/>
                </a:moveTo>
                <a:lnTo>
                  <a:pt x="4267200" y="3249930"/>
                </a:lnTo>
                <a:lnTo>
                  <a:pt x="5314950" y="4297680"/>
                </a:lnTo>
                <a:lnTo>
                  <a:pt x="4267200" y="5345430"/>
                </a:lnTo>
                <a:close/>
              </a:path>
            </a:pathLst>
          </a:custGeom>
        </p:spPr>
      </p:pic>
      <p:sp>
        <p:nvSpPr>
          <p:cNvPr id="7" name="txt.headline"/>
          <p:cNvSpPr txBox="1"/>
          <p:nvPr/>
        </p:nvSpPr>
        <p:spPr>
          <a:xfrm>
            <a:off x="609600" y="279400"/>
            <a:ext cx="6604000" cy="711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algn="l" eaLnBrk="1" hangingPunct="1" latinLnBrk="0">
              <a:lnSpc>
                <a:spcPts val="4000"/>
              </a:lnSpc>
            </a:pPr>
            <a:r>
              <a:rPr lang="ja-JP" altLang="en-US" sz="3250" b="0">
                <a:solidFill>
                  <a:schemeClr val="tx1"/>
                </a:solidFill>
                <a:latin typeface="Noto Serif JP"/>
                <a:ea typeface="Noto Serif JP"/>
              </a:rPr>
              <a:t>全員でつくる工場の計画</a:t>
            </a:r>
            <a:endParaRPr lang="ja-JP" altLang="en-US" sz="3250" b="0" dirty="0"/>
          </a:p>
        </p:txBody>
      </p:sp>
      <p:sp>
        <p:nvSpPr>
          <p:cNvPr id="8" name="txt.subtitle"/>
          <p:cNvSpPr txBox="1"/>
          <p:nvPr/>
        </p:nvSpPr>
        <p:spPr>
          <a:xfrm>
            <a:off x="635000" y="1168400"/>
            <a:ext cx="2489200" cy="5842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小さく始めて、</a:t>
            </a:r>
            <a:endParaRPr lang="ja-JP" altLang="en-US" sz="1500" b="1" dirty="0"/>
          </a:p>
          <a:p>
            <a:pPr algn="l" eaLnBrk="1" hangingPunct="1" latinLnBrk="0">
              <a:lnSpc>
                <a:spcPts val="2100"/>
              </a:lnSpc>
            </a:pPr>
            <a:r>
              <a:rPr lang="ja-JP" altLang="en-US" sz="1500" b="1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Barlow"/>
                <a:ea typeface="Noto Sans JP"/>
              </a:rPr>
              <a:t>一歩ずつ</a:t>
            </a:r>
            <a:r>
              <a:rPr lang="ja-JP" altLang="en-US" sz="1500" b="1">
                <a:solidFill>
                  <a:schemeClr val="tx1"/>
                </a:solidFill>
                <a:latin typeface="Barlow"/>
                <a:ea typeface="Noto Sans JP"/>
              </a:rPr>
              <a:t>進めます</a:t>
            </a:r>
            <a:endParaRPr lang="ja-JP" altLang="en-US" sz="15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visional Blue 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8FBDF0"/>
      </a:accent3>
      <a:accent4>
        <a:srgbClr val="003F8A"/>
      </a:accent4>
      <a:accent5>
        <a:srgbClr val="F7F8D0"/>
      </a:accent5>
      <a:accent6>
        <a:srgbClr val="9E9E9E"/>
      </a:accent6>
      <a:hlink>
        <a:srgbClr val="0000FF"/>
      </a:hlink>
      <a:folHlink>
        <a:srgbClr val="800080"/>
      </a:folHlink>
    </a:clrScheme>
    <a:fontScheme name="Provisional">
      <a:majorFont>
        <a:latin typeface="Barlow"/>
        <a:ea typeface="Noto Serif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