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4-created" id="2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4-created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q.jpg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平行四辺形 1"/>
          <p:cNvSpPr/>
          <p:nvPr/>
        </p:nvSpPr>
        <p:spPr>
          <a:xfrm>
            <a:off x="5461000" y="4191000"/>
            <a:ext cx="5969000" cy="889000"/>
          </a:xfrm>
          <a:custGeom>
            <a:avLst/>
            <a:gdLst/>
            <a:ahLst/>
            <a:cxnLst/>
            <a:rect l="l" t="t" r="r" b="b"/>
            <a:pathLst>
              <a:path w="5969000" h="889000">
                <a:moveTo>
                  <a:pt x="0" y="889000"/>
                </a:moveTo>
                <a:lnTo>
                  <a:pt x="889000" y="0"/>
                </a:lnTo>
                <a:lnTo>
                  <a:pt x="5969000" y="0"/>
                </a:lnTo>
                <a:lnTo>
                  <a:pt x="5080000" y="889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3" name="img.photo" descr="引用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5334000" cy="6858000"/>
          </a:xfrm>
          <a:custGeom>
            <a:avLst/>
            <a:gdLst/>
            <a:ahLst/>
            <a:cxnLst/>
            <a:rect l="l" t="t" r="r" b="b"/>
            <a:pathLst>
              <a:path w="5334000" h="6858000">
                <a:moveTo>
                  <a:pt x="0" y="0"/>
                </a:moveTo>
                <a:lnTo>
                  <a:pt x="5334000" y="0"/>
                </a:lnTo>
                <a:lnTo>
                  <a:pt x="3810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txt.headline"/>
          <p:cNvSpPr txBox="1"/>
          <p:nvPr/>
        </p:nvSpPr>
        <p:spPr>
          <a:xfrm>
            <a:off x="5842000" y="635000"/>
            <a:ext cx="5842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現場の声</a:t>
            </a:r>
            <a:endParaRPr lang="ja-JP" altLang="en-US" sz="3250" b="0" dirty="0"/>
          </a:p>
        </p:txBody>
      </p:sp>
      <p:sp>
        <p:nvSpPr>
          <p:cNvPr id="5" name="txt.quote"/>
          <p:cNvSpPr txBox="1"/>
          <p:nvPr/>
        </p:nvSpPr>
        <p:spPr>
          <a:xfrm>
            <a:off x="5842000" y="1778000"/>
            <a:ext cx="5588000" cy="2159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2800" b="0">
                <a:solidFill>
                  <a:schemeClr val="tx1"/>
                </a:solidFill>
                <a:latin typeface="Noto Serif JP"/>
                <a:ea typeface="Noto Serif JP"/>
              </a:rPr>
              <a:t>日程づくりを</a:t>
            </a:r>
            <a:r>
              <a:rPr lang="ja-JP" altLang="en-US" sz="28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班長以外でも</a:t>
            </a:r>
            <a:r>
              <a:rPr lang="ja-JP" altLang="en-US" sz="2800" b="0">
                <a:solidFill>
                  <a:schemeClr val="tx1"/>
                </a:solidFill>
                <a:latin typeface="Noto Serif JP"/>
                <a:ea typeface="Noto Serif JP"/>
              </a:rPr>
              <a:t>できるようになり、休みが取りやすくなった。</a:t>
            </a:r>
            <a:endParaRPr lang="ja-JP" altLang="en-US" sz="2800" b="0" dirty="0"/>
          </a:p>
        </p:txBody>
      </p:sp>
      <p:sp>
        <p:nvSpPr>
          <p:cNvPr id="6" name="txt.source"/>
          <p:cNvSpPr txBox="1"/>
          <p:nvPr/>
        </p:nvSpPr>
        <p:spPr>
          <a:xfrm>
            <a:off x="6604000" y="4381500"/>
            <a:ext cx="381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000"/>
              </a:lnSpc>
            </a:pPr>
            <a:r>
              <a:rPr lang="ja-JP" altLang="en-US" sz="1400" b="0">
                <a:solidFill>
                  <a:schemeClr val="tx1"/>
                </a:solidFill>
                <a:latin typeface="Barlow"/>
                <a:ea typeface="Noto Sans JP"/>
              </a:rPr>
              <a:t>製造部・入社3年目の作業者</a:t>
            </a:r>
            <a:endParaRPr lang="ja-JP" altLang="en-US" sz="1400" b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