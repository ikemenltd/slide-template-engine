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23-created" id="256"/>
    <p:sldId r:id="rId24-created" id="257"/>
    <p:sldId r:id="rId25-created" id="258"/>
    <p:sldId r:id="rId26-created" id="259"/>
    <p:sldId r:id="rId27-created" id="260"/>
    <p:sldId r:id="rId28-created" id="261"/>
    <p:sldId r:id="rId29-created" id="262"/>
    <p:sldId r:id="rId30-created" id="263"/>
    <p:sldId r:id="rId31-created" id="264"/>
    <p:sldId r:id="rId32-created" id="265"/>
    <p:sldId r:id="rId33-created" id="266"/>
    <p:sldId r:id="rId34-created" id="267"/>
    <p:sldId r:id="rId35-created" id="268"/>
    <p:sldId r:id="rId36-created" id="269"/>
    <p:sldId r:id="rId37-created" id="27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3-created" Type="http://schemas.openxmlformats.org/officeDocument/2006/relationships/slide" Target="slides/slide16.xml"/><Relationship Id="rId24-created" Type="http://schemas.openxmlformats.org/officeDocument/2006/relationships/slide" Target="slides/slide17.xml"/><Relationship Id="rId25-created" Type="http://schemas.openxmlformats.org/officeDocument/2006/relationships/slide" Target="slides/slide18.xml"/><Relationship Id="rId26-created" Type="http://schemas.openxmlformats.org/officeDocument/2006/relationships/slide" Target="slides/slide19.xml"/><Relationship Id="rId27-created" Type="http://schemas.openxmlformats.org/officeDocument/2006/relationships/slide" Target="slides/slide20.xml"/><Relationship Id="rId28-created" Type="http://schemas.openxmlformats.org/officeDocument/2006/relationships/slide" Target="slides/slide21.xml"/><Relationship Id="rId29-created" Type="http://schemas.openxmlformats.org/officeDocument/2006/relationships/slide" Target="slides/slide22.xml"/><Relationship Id="rId30-created" Type="http://schemas.openxmlformats.org/officeDocument/2006/relationships/slide" Target="slides/slide23.xml"/><Relationship Id="rId31-created" Type="http://schemas.openxmlformats.org/officeDocument/2006/relationships/slide" Target="slides/slide24.xml"/><Relationship Id="rId32-created" Type="http://schemas.openxmlformats.org/officeDocument/2006/relationships/slide" Target="slides/slide25.xml"/><Relationship Id="rId33-created" Type="http://schemas.openxmlformats.org/officeDocument/2006/relationships/slide" Target="slides/slide26.xml"/><Relationship Id="rId34-created" Type="http://schemas.openxmlformats.org/officeDocument/2006/relationships/slide" Target="slides/slide27.xml"/><Relationship Id="rId35-created" Type="http://schemas.openxmlformats.org/officeDocument/2006/relationships/slide" Target="slides/slide28.xml"/><Relationship Id="rId36-created" Type="http://schemas.openxmlformats.org/officeDocument/2006/relationships/slide" Target="slides/slide29.xml"/><Relationship Id="rId37-created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1-img.hero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2-img.side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5-created" Type="http://schemas.openxmlformats.org/officeDocument/2006/relationships/image" Target="../media/p04-img.item.1.jpg"/><Relationship Id="rId6-created" Type="http://schemas.openxmlformats.org/officeDocument/2006/relationships/image" Target="../media/p04-img.item.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5-img.side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6-created" Type="http://schemas.openxmlformats.org/officeDocument/2006/relationships/image" Target="../media/p06-img.item.1.jpg"/><Relationship Id="rId7-created" Type="http://schemas.openxmlformats.org/officeDocument/2006/relationships/image" Target="../media/p06-img.item.2.jpg"/><Relationship Id="rId8-created" Type="http://schemas.openxmlformats.org/officeDocument/2006/relationships/image" Target="../media/p06-img.item.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7-img.hero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7-created" Type="http://schemas.openxmlformats.org/officeDocument/2006/relationships/image" Target="../media/p08-img.item.1.jpg"/><Relationship Id="rId8-created" Type="http://schemas.openxmlformats.org/officeDocument/2006/relationships/image" Target="../media/p08-img.item.2.jpg"/><Relationship Id="rId9-created" Type="http://schemas.openxmlformats.org/officeDocument/2006/relationships/image" Target="../media/p08-img.item.3.jpg"/><Relationship Id="rId10-created" Type="http://schemas.openxmlformats.org/officeDocument/2006/relationships/image" Target="../media/p08-img.item.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6-created" Type="http://schemas.openxmlformats.org/officeDocument/2006/relationships/image" Target="../media/p09-img.item.1.jpg"/><Relationship Id="rId7-created" Type="http://schemas.openxmlformats.org/officeDocument/2006/relationships/image" Target="../media/p09-img.item.2.jpg"/><Relationship Id="rId8-created" Type="http://schemas.openxmlformats.org/officeDocument/2006/relationships/image" Target="../media/p09-img.item.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5-created" Type="http://schemas.openxmlformats.org/officeDocument/2006/relationships/image" Target="../media/p10-img.right.jpg"/><Relationship Id="rId6-created" Type="http://schemas.openxmlformats.org/officeDocument/2006/relationships/image" Target="../media/p10-img.left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7-created" Type="http://schemas.openxmlformats.org/officeDocument/2006/relationships/image" Target="../media/p11-img.item.1.jpg"/><Relationship Id="rId8-created" Type="http://schemas.openxmlformats.org/officeDocument/2006/relationships/image" Target="../media/p11-img.item.2.jpg"/><Relationship Id="rId9-created" Type="http://schemas.openxmlformats.org/officeDocument/2006/relationships/image" Target="../media/p11-img.item.3.jpg"/><Relationship Id="rId10-created" Type="http://schemas.openxmlformats.org/officeDocument/2006/relationships/image" Target="../media/p11-img.item.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2-img.side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3-img.hero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4-img.side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5-img.hero.jpg"/></Relationships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稼働率</a:t>
            </a:r>
            <a:endParaRPr lang="ja-JP" altLang="en-US" sz="1350" b="0" dirty="0"/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62%から</a:t>
            </a:r>
            <a:endParaRPr lang="ja-JP" altLang="en-US" sz="1700" b="0" dirty="0"/>
          </a:p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80%へ</a:t>
            </a:r>
            <a:endParaRPr lang="ja-JP" altLang="en-US" sz="1700" b="0" dirty="0"/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不良率</a:t>
            </a:r>
            <a:endParaRPr lang="ja-JP" altLang="en-US" sz="1350" b="0" dirty="0"/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3.8%から</a:t>
            </a:r>
            <a:endParaRPr lang="ja-JP" altLang="en-US" sz="1700" b="0" dirty="0"/>
          </a:p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1.5%へ</a:t>
            </a:r>
            <a:endParaRPr lang="ja-JP" altLang="en-US" sz="1700" b="0" dirty="0"/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納期遅れ</a:t>
            </a:r>
            <a:endParaRPr lang="ja-JP" altLang="en-US" sz="1350" b="0" dirty="0"/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月2件へ</a:t>
            </a:r>
            <a:endParaRPr lang="ja-JP" altLang="en-US" sz="1700" b="0" dirty="0"/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bg1"/>
                </a:solidFill>
                <a:latin typeface="Noto Serif JP"/>
                <a:ea typeface="Noto Serif JP"/>
              </a:rPr>
              <a:t>現場の仕事を、</a:t>
            </a:r>
            <a:endParaRPr lang="ja-JP" altLang="en-US" sz="3250" b="0" dirty="0"/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bg1"/>
                </a:solidFill>
                <a:latin typeface="Noto Serif JP"/>
                <a:ea typeface="Noto Serif JP"/>
              </a:rPr>
              <a:t>データで回す</a:t>
            </a:r>
            <a:endParaRPr lang="ja-JP" altLang="en-US" sz="3250" b="0" dirty="0"/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部品加工工場のデジタル化計画のご紹介です。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Contents</a:t>
            </a:r>
            <a:endParaRPr lang="ja-JP" altLang="en-US" sz="2050" b="0" dirty="0" spc="400"/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工場の現状と課題</a:t>
            </a:r>
            <a:endParaRPr lang="ja-JP" altLang="en-US" sz="1800" b="0" dirty="0"/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3つの取り組み</a:t>
            </a:r>
            <a:endParaRPr lang="ja-JP" altLang="en-US" sz="1800" b="0" dirty="0"/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投資と効果</a:t>
            </a:r>
            <a:endParaRPr lang="ja-JP" altLang="en-US" sz="1800" b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>
                <a:solidFill>
                  <a:schemeClr val="bg1"/>
                </a:solidFill>
                <a:latin typeface="Barlow"/>
                <a:ea typeface="Noto Sans JP"/>
              </a:rPr>
              <a:t>工場の現状と課題</a:t>
            </a:r>
            <a:endParaRPr lang="ja-JP" altLang="en-US" sz="4000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Issues</a:t>
            </a:r>
            <a:endParaRPr lang="ja-JP" altLang="en-US" sz="2050" b="0" dirty="0" spc="400"/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現場で起きている問題</a:t>
            </a:r>
            <a:endParaRPr lang="ja-JP" altLang="en-US" sz="3250" b="0" dirty="0"/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5-created"/>
          <a:srcRect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段取り替えが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長い</a:t>
            </a:r>
            <a:endParaRPr lang="ja-JP" altLang="en-US" sz="2100" b="0" dirty="0" spc="350"/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機械の設定変更に平均45分</a:t>
            </a:r>
            <a:endParaRPr lang="ja-JP" altLang="en-US" sz="1200" b="1" dirty="0"/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1" spc="350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熟練者</a:t>
            </a: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に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頼っている</a:t>
            </a:r>
            <a:endParaRPr lang="ja-JP" altLang="en-US" sz="2100" b="0" dirty="0" spc="350"/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日程を組めるのは班長2人だけ</a:t>
            </a:r>
            <a:endParaRPr lang="ja-JP" altLang="en-US" sz="1200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Goals</a:t>
            </a:r>
            <a:endParaRPr lang="ja-JP" altLang="en-US" sz="2050" b="0" dirty="0" spc="400"/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3年後の目標</a:t>
            </a:r>
            <a:endParaRPr lang="ja-JP" altLang="en-US" sz="3250" b="0" dirty="0"/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稼働率</a:t>
            </a:r>
            <a:endParaRPr lang="ja-JP" altLang="en-US" sz="2300" b="1" dirty="0"/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80</a:t>
            </a:r>
            <a:endParaRPr lang="ja-JP" altLang="en-US" sz="9900" b="0" dirty="0"/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%</a:t>
            </a:r>
            <a:endParaRPr lang="ja-JP" altLang="en-US" sz="2300" b="1" dirty="0"/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いまの62%から</a:t>
            </a:r>
            <a:endParaRPr lang="ja-JP" altLang="en-US" sz="1500" b="1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引き上げる</a:t>
            </a:r>
            <a:endParaRPr lang="ja-JP" altLang="en-US" sz="1500" b="1" dirty="0"/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投資額</a:t>
            </a:r>
            <a:endParaRPr lang="ja-JP" altLang="en-US" sz="2300" b="1" dirty="0"/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4,800</a:t>
            </a:r>
            <a:endParaRPr lang="ja-JP" altLang="en-US" sz="9900" b="0" dirty="0"/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万円</a:t>
            </a:r>
            <a:endParaRPr lang="ja-JP" altLang="en-US" sz="2300" b="1" dirty="0"/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うち1,600万円は</a:t>
            </a:r>
            <a:endParaRPr lang="ja-JP" altLang="en-US" sz="1500" b="1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補助金を活用</a:t>
            </a:r>
            <a:endParaRPr lang="ja-JP" altLang="en-US" sz="1500" b="1" dirty="0"/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納期遅れ</a:t>
            </a:r>
            <a:endParaRPr lang="ja-JP" altLang="en-US" sz="2300" b="1" dirty="0"/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2</a:t>
            </a:r>
            <a:endParaRPr lang="ja-JP" altLang="en-US" sz="9900" b="0" dirty="0"/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件/月</a:t>
            </a:r>
            <a:endParaRPr lang="ja-JP" altLang="en-US" sz="2300" b="1" dirty="0"/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いまは月14件</a:t>
            </a:r>
            <a:endParaRPr lang="ja-JP" altLang="en-US" sz="1500" b="1" dirty="0"/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>
                <a:solidFill>
                  <a:schemeClr val="tx1"/>
                </a:solidFill>
                <a:latin typeface="Barlow"/>
                <a:ea typeface="Noto Sans JP"/>
              </a:rPr>
              <a:t>いずれも3年後の目標の値です。</a:t>
            </a:r>
            <a:endParaRPr lang="ja-JP" altLang="en-US" sz="1300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Issues</a:t>
            </a:r>
            <a:endParaRPr lang="ja-JP" altLang="en-US" sz="2050" b="0" dirty="0" spc="400"/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3つの課題</a:t>
            </a:r>
            <a:endParaRPr lang="ja-JP" altLang="en-US" sz="3250" b="0" dirty="0"/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段取り替えが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長い</a:t>
            </a:r>
            <a:endParaRPr lang="ja-JP" altLang="en-US" sz="2100" b="0" dirty="0" spc="350"/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機械の設定変更に平均45分</a:t>
            </a:r>
            <a:endParaRPr lang="ja-JP" altLang="en-US" sz="1200" b="1" dirty="0"/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不良の原因が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分からない</a:t>
            </a:r>
            <a:endParaRPr lang="ja-JP" altLang="en-US" sz="2100" b="0" dirty="0" spc="350"/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どの条件で作ったかを追えない</a:t>
            </a:r>
            <a:endParaRPr lang="ja-JP" altLang="en-US" sz="1200" b="1" dirty="0"/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在庫が多すぎる</a:t>
            </a:r>
            <a:endParaRPr lang="ja-JP" altLang="en-US" sz="2100" b="0" dirty="0" spc="350"/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材料が必要な量の2倍近くある</a:t>
            </a:r>
            <a:endParaRPr lang="ja-JP" altLang="en-US" sz="1200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tx1"/>
                </a:solidFill>
                <a:latin typeface="Barlow"/>
                <a:ea typeface="Noto Sans JP"/>
              </a:rPr>
              <a:t>Point</a:t>
            </a:r>
            <a:endParaRPr lang="ja-JP" altLang="en-US" sz="2050" b="0" dirty="0" spc="400"/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目的は</a:t>
            </a:r>
            <a:r>
              <a:rPr lang="ja-JP" altLang="en-US" sz="325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Noto Serif JP"/>
                <a:ea typeface="Noto Serif JP"/>
              </a:rPr>
              <a:t>熟練者に頼らない</a:t>
            </a: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工場</a:t>
            </a:r>
            <a:endParaRPr lang="ja-JP" altLang="en-US" sz="3250" b="0" dirty="0"/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仕組みを入れることが目的ではありません。現場の知恵を書き出して、みんなのものにします。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Issues</a:t>
            </a:r>
            <a:endParaRPr lang="ja-JP" altLang="en-US" sz="2050" b="0" dirty="0" spc="400"/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現場で起きている問題</a:t>
            </a:r>
            <a:endParaRPr lang="ja-JP" altLang="en-US" sz="3250" b="0" dirty="0"/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段取り替えが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長い</a:t>
            </a:r>
            <a:endParaRPr lang="ja-JP" altLang="en-US" sz="2100" b="0" dirty="0" spc="350"/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機械の設定変更に平均45分</a:t>
            </a:r>
            <a:endParaRPr lang="ja-JP" altLang="en-US" sz="1200" b="1" dirty="0"/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不良の原因が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分からない</a:t>
            </a:r>
            <a:endParaRPr lang="ja-JP" altLang="en-US" sz="2100" b="0" dirty="0" spc="350"/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どの条件で作ったかを追えない</a:t>
            </a:r>
            <a:endParaRPr lang="ja-JP" altLang="en-US" sz="1200" b="1" dirty="0"/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9-created"/>
          <a:srcRect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1" spc="350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熟練者</a:t>
            </a: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に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頼っている</a:t>
            </a:r>
            <a:endParaRPr lang="ja-JP" altLang="en-US" sz="2100" b="0" dirty="0" spc="350"/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日程を組めるのは班長2人だけ</a:t>
            </a:r>
            <a:endParaRPr lang="ja-JP" altLang="en-US" sz="1200" b="1" dirty="0"/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10-created"/>
          <a:srcRect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在庫が多すぎる</a:t>
            </a:r>
            <a:endParaRPr lang="ja-JP" altLang="en-US" sz="2100" b="0" dirty="0" spc="350"/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材料が必要な量の2倍近くある</a:t>
            </a:r>
            <a:endParaRPr lang="ja-JP" altLang="en-US" sz="1200" b="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 Medium"/>
              </a:rPr>
              <a:t>Roadmap</a:t>
            </a:r>
            <a:endParaRPr lang="ja-JP" altLang="en-US" sz="2050" b="0" dirty="0" spc="400"/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3年間の進め方</a:t>
            </a:r>
            <a:endParaRPr lang="ja-JP" altLang="en-US" sz="3250" b="0" dirty="0"/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1年目：指示書を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デジタル化</a:t>
            </a:r>
            <a:endParaRPr lang="ja-JP" altLang="en-US" sz="1500" b="1" dirty="0"/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2年目：全20台に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センサー</a:t>
            </a:r>
            <a:endParaRPr lang="ja-JP" altLang="en-US" sz="1500" b="1" dirty="0"/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3年目：日程づくりを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仕組みに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5-created"/>
          <a:srcRect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5715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受注から出荷まで</a:t>
            </a:r>
            <a:endParaRPr lang="ja-JP" altLang="en-US" sz="3250" b="0" dirty="0"/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紙で回っている</a:t>
            </a:r>
            <a:endParaRPr lang="ja-JP" altLang="en-US" sz="3250" b="0" dirty="0"/>
          </a:p>
        </p:txBody>
      </p:sp>
      <p:sp>
        <p:nvSpPr>
          <p:cNvPr id="8" name="deco.rule"/>
          <p:cNvSpPr/>
          <p:nvPr/>
        </p:nvSpPr>
        <p:spPr>
          <a:xfrm>
            <a:off x="6604000" y="17907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1717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受注は電話とファクスで受け、営業担当が紙の指示書を作っています。指示書は工場に回り、班長が手書きで日程を組みます。</a:t>
            </a:r>
            <a:endParaRPr lang="ja-JP" altLang="en-US" sz="1500" b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 Medium"/>
              </a:rPr>
              <a:t>Steps</a:t>
            </a:r>
            <a:endParaRPr lang="ja-JP" altLang="en-US" sz="2050" b="0" dirty="0" spc="400"/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日程づくりの流れ</a:t>
            </a:r>
            <a:endParaRPr lang="ja-JP" altLang="en-US" sz="3250" b="0" dirty="0"/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決め方を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書き出す</a:t>
            </a:r>
            <a:endParaRPr lang="ja-JP" altLang="en-US" sz="1500" b="1" dirty="0"/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仕組みが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案を作る</a:t>
            </a:r>
            <a:endParaRPr lang="ja-JP" altLang="en-US" sz="1500" b="1" dirty="0"/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9-created"/>
          <a:srcRect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人が確認して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決める</a:t>
            </a:r>
            <a:endParaRPr lang="ja-JP" altLang="en-US" sz="1500" b="1" dirty="0"/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10-created"/>
          <a:srcRect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結果を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見直す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Contents</a:t>
            </a:r>
            <a:endParaRPr lang="ja-JP" altLang="en-US" sz="2050" b="0" dirty="0" spc="400"/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工場の現状と課題</a:t>
            </a:r>
            <a:endParaRPr lang="ja-JP" altLang="en-US" sz="1800" b="0" dirty="0"/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目指す姿</a:t>
            </a:r>
            <a:endParaRPr lang="ja-JP" altLang="en-US" sz="1800" b="0" dirty="0"/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3つの取り組み</a:t>
            </a:r>
            <a:endParaRPr lang="ja-JP" altLang="en-US" sz="1800" b="0" dirty="0"/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投資と効果</a:t>
            </a:r>
            <a:endParaRPr lang="ja-JP" altLang="en-US" sz="1800" b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5715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人への投資</a:t>
            </a:r>
            <a:endParaRPr lang="ja-JP" altLang="en-US" sz="3250" b="0" dirty="0"/>
          </a:p>
        </p:txBody>
      </p:sp>
      <p:sp>
        <p:nvSpPr>
          <p:cNvPr id="8" name="deco.point-1"/>
          <p:cNvSpPr/>
          <p:nvPr/>
        </p:nvSpPr>
        <p:spPr>
          <a:xfrm>
            <a:off x="7061200" y="228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2225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段取り替えを平均45分から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20分へ</a:t>
            </a:r>
            <a:endParaRPr lang="ja-JP" altLang="en-US" sz="1600" b="0" dirty="0"/>
          </a:p>
        </p:txBody>
      </p:sp>
      <p:sp>
        <p:nvSpPr>
          <p:cNvPr id="10" name="deco.point-2"/>
          <p:cNvSpPr/>
          <p:nvPr/>
        </p:nvSpPr>
        <p:spPr>
          <a:xfrm>
            <a:off x="7061200" y="3454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3909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残業を1人あたり月20時間から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10時間へ</a:t>
            </a:r>
            <a:endParaRPr lang="ja-JP" altLang="en-US" sz="1600" b="0" dirty="0"/>
          </a:p>
        </p:txBody>
      </p:sp>
      <p:sp>
        <p:nvSpPr>
          <p:cNvPr id="12" name="deco.point-3"/>
          <p:cNvSpPr/>
          <p:nvPr/>
        </p:nvSpPr>
        <p:spPr>
          <a:xfrm>
            <a:off x="7061200" y="4622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5593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熟練者が若手に教える時間を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毎週2時間</a:t>
            </a: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確保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Contents</a:t>
            </a:r>
            <a:endParaRPr lang="ja-JP" altLang="en-US" sz="2050" b="0" dirty="0" spc="400"/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工場の現状と課題</a:t>
            </a:r>
            <a:endParaRPr lang="ja-JP" altLang="en-US" sz="1800" b="0" dirty="0"/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目指す姿</a:t>
            </a:r>
            <a:endParaRPr lang="ja-JP" altLang="en-US" sz="1800" b="0" dirty="0"/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3つの取り組み</a:t>
            </a:r>
            <a:endParaRPr lang="ja-JP" altLang="en-US" sz="1800" b="0" dirty="0"/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進め方と体制</a:t>
            </a:r>
            <a:endParaRPr lang="ja-JP" altLang="en-US" sz="1800" b="0" dirty="0"/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投資と効果</a:t>
            </a:r>
            <a:endParaRPr lang="ja-JP" altLang="en-US" sz="1800" b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全員でつくる工場の計画</a:t>
            </a:r>
            <a:endParaRPr lang="ja-JP" altLang="en-US" sz="3250" b="0" dirty="0"/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小さく始めて、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一歩ずつ進めます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Green Pink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1E8C4E"/>
      </a:accent1>
      <a:accent2>
        <a:srgbClr val="E5508A"/>
      </a:accent2>
      <a:accent3>
        <a:srgbClr val="A6D9B9"/>
      </a:accent3>
      <a:accent4>
        <a:srgbClr val="0F5A30"/>
      </a:accent4>
      <a:accent5>
        <a:srgbClr val="F9D7E4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