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23-created" id="256"/>
    <p:sldId r:id="rId24-created" id="257"/>
    <p:sldId r:id="rId25-created" id="258"/>
    <p:sldId r:id="rId26-created" id="259"/>
    <p:sldId r:id="rId27-created" id="260"/>
    <p:sldId r:id="rId28-created" id="261"/>
    <p:sldId r:id="rId29-created" id="262"/>
    <p:sldId r:id="rId30-created" id="263"/>
    <p:sldId r:id="rId31-created" id="264"/>
    <p:sldId r:id="rId32-created" id="265"/>
    <p:sldId r:id="rId33-created" id="266"/>
    <p:sldId r:id="rId34-created" id="267"/>
    <p:sldId r:id="rId35-created" id="268"/>
    <p:sldId r:id="rId36-created" id="269"/>
    <p:sldId r:id="rId37-created" id="27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23-created" Type="http://schemas.openxmlformats.org/officeDocument/2006/relationships/slide" Target="slides/slide16.xml"/><Relationship Id="rId24-created" Type="http://schemas.openxmlformats.org/officeDocument/2006/relationships/slide" Target="slides/slide17.xml"/><Relationship Id="rId25-created" Type="http://schemas.openxmlformats.org/officeDocument/2006/relationships/slide" Target="slides/slide18.xml"/><Relationship Id="rId26-created" Type="http://schemas.openxmlformats.org/officeDocument/2006/relationships/slide" Target="slides/slide19.xml"/><Relationship Id="rId27-created" Type="http://schemas.openxmlformats.org/officeDocument/2006/relationships/slide" Target="slides/slide20.xml"/><Relationship Id="rId28-created" Type="http://schemas.openxmlformats.org/officeDocument/2006/relationships/slide" Target="slides/slide21.xml"/><Relationship Id="rId29-created" Type="http://schemas.openxmlformats.org/officeDocument/2006/relationships/slide" Target="slides/slide22.xml"/><Relationship Id="rId30-created" Type="http://schemas.openxmlformats.org/officeDocument/2006/relationships/slide" Target="slides/slide23.xml"/><Relationship Id="rId31-created" Type="http://schemas.openxmlformats.org/officeDocument/2006/relationships/slide" Target="slides/slide24.xml"/><Relationship Id="rId32-created" Type="http://schemas.openxmlformats.org/officeDocument/2006/relationships/slide" Target="slides/slide25.xml"/><Relationship Id="rId33-created" Type="http://schemas.openxmlformats.org/officeDocument/2006/relationships/slide" Target="slides/slide26.xml"/><Relationship Id="rId34-created" Type="http://schemas.openxmlformats.org/officeDocument/2006/relationships/slide" Target="slides/slide27.xml"/><Relationship Id="rId35-created" Type="http://schemas.openxmlformats.org/officeDocument/2006/relationships/slide" Target="slides/slide28.xml"/><Relationship Id="rId36-created" Type="http://schemas.openxmlformats.org/officeDocument/2006/relationships/slide" Target="slides/slide29.xml"/><Relationship Id="rId37-created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1-img.hero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2-img.side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-created" Type="http://schemas.openxmlformats.org/officeDocument/2006/relationships/image" Target="../media/p04-img.item.1.jpg"/><Relationship Id="rId6-created" Type="http://schemas.openxmlformats.org/officeDocument/2006/relationships/image" Target="../media/p04-img.item.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5-img.side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6-created" Type="http://schemas.openxmlformats.org/officeDocument/2006/relationships/image" Target="../media/p06-img.item.1.jpg"/><Relationship Id="rId7-created" Type="http://schemas.openxmlformats.org/officeDocument/2006/relationships/image" Target="../media/p06-img.item.2.jpg"/><Relationship Id="rId8-created" Type="http://schemas.openxmlformats.org/officeDocument/2006/relationships/image" Target="../media/p06-img.item.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7-img.hero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7-created" Type="http://schemas.openxmlformats.org/officeDocument/2006/relationships/image" Target="../media/p08-img.item.1.jpg"/><Relationship Id="rId8-created" Type="http://schemas.openxmlformats.org/officeDocument/2006/relationships/image" Target="../media/p08-img.item.2.jpg"/><Relationship Id="rId9-created" Type="http://schemas.openxmlformats.org/officeDocument/2006/relationships/image" Target="../media/p08-img.item.3.jpg"/><Relationship Id="rId10-created" Type="http://schemas.openxmlformats.org/officeDocument/2006/relationships/image" Target="../media/p08-img.item.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6-created" Type="http://schemas.openxmlformats.org/officeDocument/2006/relationships/image" Target="../media/p09-img.item.1.jpg"/><Relationship Id="rId7-created" Type="http://schemas.openxmlformats.org/officeDocument/2006/relationships/image" Target="../media/p09-img.item.2.jpg"/><Relationship Id="rId8-created" Type="http://schemas.openxmlformats.org/officeDocument/2006/relationships/image" Target="../media/p09-img.item.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-created" Type="http://schemas.openxmlformats.org/officeDocument/2006/relationships/image" Target="../media/p10-img.right.jpg"/><Relationship Id="rId6-created" Type="http://schemas.openxmlformats.org/officeDocument/2006/relationships/image" Target="../media/p10-img.left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7-created" Type="http://schemas.openxmlformats.org/officeDocument/2006/relationships/image" Target="../media/p11-img.item.1.jpg"/><Relationship Id="rId8-created" Type="http://schemas.openxmlformats.org/officeDocument/2006/relationships/image" Target="../media/p11-img.item.2.jpg"/><Relationship Id="rId9-created" Type="http://schemas.openxmlformats.org/officeDocument/2006/relationships/image" Target="../media/p11-img.item.3.jpg"/><Relationship Id="rId10-created" Type="http://schemas.openxmlformats.org/officeDocument/2006/relationships/image" Target="../media/p11-img.item.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2-img.side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3-img.hero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4-img.side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5-img.hero.jpg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表紙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10350500" cy="6851650"/>
          </a:xfrm>
          <a:custGeom>
            <a:avLst/>
            <a:gdLst/>
            <a:ahLst/>
            <a:cxnLst/>
            <a:rect l="l" t="t" r="r" b="b"/>
            <a:pathLst>
              <a:path w="10350500" h="6851650">
                <a:moveTo>
                  <a:pt x="4737100" y="0"/>
                </a:moveTo>
                <a:lnTo>
                  <a:pt x="10350500" y="0"/>
                </a:lnTo>
                <a:lnTo>
                  <a:pt x="3498850" y="6851650"/>
                </a:lnTo>
                <a:lnTo>
                  <a:pt x="0" y="6851650"/>
                </a:lnTo>
                <a:lnTo>
                  <a:pt x="0" y="4737100"/>
                </a:lnTo>
                <a:close/>
              </a:path>
            </a:pathLst>
          </a:custGeom>
        </p:spPr>
      </p:pic>
      <p:sp>
        <p:nvSpPr>
          <p:cNvPr id="3" name="deco.headline-band"/>
          <p:cNvSpPr/>
          <p:nvPr/>
        </p:nvSpPr>
        <p:spPr>
          <a:xfrm>
            <a:off x="-107950" y="1631950"/>
            <a:ext cx="6623050" cy="1073150"/>
          </a:xfrm>
          <a:custGeom>
            <a:avLst/>
            <a:gdLst/>
            <a:ahLst/>
            <a:cxnLst/>
            <a:rect l="l" t="t" r="r" b="b"/>
            <a:pathLst>
              <a:path w="6623050" h="1073150">
                <a:moveTo>
                  <a:pt x="0" y="0"/>
                </a:moveTo>
                <a:lnTo>
                  <a:pt x="6623050" y="0"/>
                </a:lnTo>
                <a:lnTo>
                  <a:pt x="5549900" y="1073150"/>
                </a:lnTo>
                <a:lnTo>
                  <a:pt x="0" y="107315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</p:sp>
      <p:sp>
        <p:nvSpPr>
          <p:cNvPr id="4" name="deco.subtitle-plate"/>
          <p:cNvSpPr/>
          <p:nvPr/>
        </p:nvSpPr>
        <p:spPr>
          <a:xfrm>
            <a:off x="5568950" y="1638300"/>
            <a:ext cx="5505450" cy="1066800"/>
          </a:xfrm>
          <a:custGeom>
            <a:avLst/>
            <a:gdLst/>
            <a:ahLst/>
            <a:cxnLst/>
            <a:rect l="l" t="t" r="r" b="b"/>
            <a:pathLst>
              <a:path w="5505450" h="1066800">
                <a:moveTo>
                  <a:pt x="0" y="1066800"/>
                </a:moveTo>
                <a:lnTo>
                  <a:pt x="1073150" y="0"/>
                </a:lnTo>
                <a:lnTo>
                  <a:pt x="5505450" y="0"/>
                </a:lnTo>
                <a:lnTo>
                  <a:pt x="550545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" name="deco.line-1"/>
          <p:cNvSpPr/>
          <p:nvPr/>
        </p:nvSpPr>
        <p:spPr>
          <a:xfrm>
            <a:off x="2470150" y="527050"/>
            <a:ext cx="1612900" cy="1479550"/>
          </a:xfrm>
          <a:custGeom>
            <a:avLst/>
            <a:gdLst/>
            <a:ahLst/>
            <a:cxnLst/>
            <a:rect l="l" t="t" r="r" b="b"/>
            <a:pathLst>
              <a:path w="1612900" h="1479550">
                <a:moveTo>
                  <a:pt x="0" y="1479550"/>
                </a:moveTo>
                <a:lnTo>
                  <a:pt x="133350" y="1479550"/>
                </a:lnTo>
                <a:lnTo>
                  <a:pt x="1612900" y="0"/>
                </a:lnTo>
                <a:lnTo>
                  <a:pt x="1479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deco.line-2"/>
          <p:cNvSpPr/>
          <p:nvPr/>
        </p:nvSpPr>
        <p:spPr>
          <a:xfrm>
            <a:off x="6610350" y="3175000"/>
            <a:ext cx="965200" cy="831850"/>
          </a:xfrm>
          <a:custGeom>
            <a:avLst/>
            <a:gdLst/>
            <a:ahLst/>
            <a:cxnLst/>
            <a:rect l="l" t="t" r="r" b="b"/>
            <a:pathLst>
              <a:path w="965200" h="831850">
                <a:moveTo>
                  <a:pt x="0" y="831850"/>
                </a:moveTo>
                <a:lnTo>
                  <a:pt x="133350" y="831850"/>
                </a:lnTo>
                <a:lnTo>
                  <a:pt x="965200" y="0"/>
                </a:lnTo>
                <a:lnTo>
                  <a:pt x="831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deco.point-box-1"/>
          <p:cNvSpPr/>
          <p:nvPr/>
        </p:nvSpPr>
        <p:spPr>
          <a:xfrm>
            <a:off x="563880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txt.point.1.lead"/>
          <p:cNvSpPr txBox="1"/>
          <p:nvPr/>
        </p:nvSpPr>
        <p:spPr>
          <a:xfrm>
            <a:off x="576580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稼働率</a:t>
            </a:r>
            <a:endParaRPr lang="ja-JP" altLang="en-US" sz="1350" b="0" dirty="0"/>
          </a:p>
        </p:txBody>
      </p:sp>
      <p:sp>
        <p:nvSpPr>
          <p:cNvPr id="9" name="txt.point.1.main"/>
          <p:cNvSpPr txBox="1"/>
          <p:nvPr/>
        </p:nvSpPr>
        <p:spPr>
          <a:xfrm>
            <a:off x="576580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62%から</a:t>
            </a:r>
            <a:endParaRPr lang="ja-JP" altLang="en-US" sz="1700" b="0" dirty="0"/>
          </a:p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80%へ</a:t>
            </a:r>
            <a:endParaRPr lang="ja-JP" altLang="en-US" sz="1700" b="0" dirty="0"/>
          </a:p>
        </p:txBody>
      </p:sp>
      <p:sp>
        <p:nvSpPr>
          <p:cNvPr id="10" name="deco.point-box-2"/>
          <p:cNvSpPr/>
          <p:nvPr/>
        </p:nvSpPr>
        <p:spPr>
          <a:xfrm>
            <a:off x="77025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point.2.lead"/>
          <p:cNvSpPr txBox="1"/>
          <p:nvPr/>
        </p:nvSpPr>
        <p:spPr>
          <a:xfrm>
            <a:off x="78295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不良率</a:t>
            </a:r>
            <a:endParaRPr lang="ja-JP" altLang="en-US" sz="1350" b="0" dirty="0"/>
          </a:p>
        </p:txBody>
      </p:sp>
      <p:sp>
        <p:nvSpPr>
          <p:cNvPr id="12" name="txt.point.2.main"/>
          <p:cNvSpPr txBox="1"/>
          <p:nvPr/>
        </p:nvSpPr>
        <p:spPr>
          <a:xfrm>
            <a:off x="78295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3.8%から</a:t>
            </a:r>
            <a:endParaRPr lang="ja-JP" altLang="en-US" sz="1700" b="0" dirty="0"/>
          </a:p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1.5%へ</a:t>
            </a:r>
            <a:endParaRPr lang="ja-JP" altLang="en-US" sz="1700" b="0" dirty="0"/>
          </a:p>
        </p:txBody>
      </p:sp>
      <p:sp>
        <p:nvSpPr>
          <p:cNvPr id="13" name="deco.point-box-3"/>
          <p:cNvSpPr/>
          <p:nvPr/>
        </p:nvSpPr>
        <p:spPr>
          <a:xfrm>
            <a:off x="97599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4" name="txt.point.3.lead"/>
          <p:cNvSpPr txBox="1"/>
          <p:nvPr/>
        </p:nvSpPr>
        <p:spPr>
          <a:xfrm>
            <a:off x="98869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納期遅れ</a:t>
            </a:r>
            <a:endParaRPr lang="ja-JP" altLang="en-US" sz="1350" b="0" dirty="0"/>
          </a:p>
        </p:txBody>
      </p:sp>
      <p:sp>
        <p:nvSpPr>
          <p:cNvPr id="15" name="txt.point.3.main"/>
          <p:cNvSpPr txBox="1"/>
          <p:nvPr/>
        </p:nvSpPr>
        <p:spPr>
          <a:xfrm>
            <a:off x="98869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月2件へ</a:t>
            </a:r>
            <a:endParaRPr lang="ja-JP" altLang="en-US" sz="1700" b="0" dirty="0"/>
          </a:p>
        </p:txBody>
      </p:sp>
      <p:sp>
        <p:nvSpPr>
          <p:cNvPr id="16" name="txt.headline"/>
          <p:cNvSpPr txBox="1"/>
          <p:nvPr/>
        </p:nvSpPr>
        <p:spPr>
          <a:xfrm>
            <a:off x="1212850" y="1663700"/>
            <a:ext cx="4381500" cy="1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現場の仕事を、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データで回す</a:t>
            </a:r>
            <a:endParaRPr lang="ja-JP" altLang="en-US" sz="3250" b="0" dirty="0"/>
          </a:p>
        </p:txBody>
      </p:sp>
      <p:sp>
        <p:nvSpPr>
          <p:cNvPr id="17" name="txt.subtitle"/>
          <p:cNvSpPr txBox="1"/>
          <p:nvPr/>
        </p:nvSpPr>
        <p:spPr>
          <a:xfrm>
            <a:off x="6673850" y="1905000"/>
            <a:ext cx="5486400" cy="660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部品加工工場のデジタル化計画のご紹介です。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Contents</a:t>
            </a:r>
            <a:endParaRPr lang="ja-JP" altLang="en-US" sz="2050" b="0" dirty="0" spc="400"/>
          </a:p>
        </p:txBody>
      </p:sp>
      <p:sp>
        <p:nvSpPr>
          <p:cNvPr id="7" name="deco.toc-no-1"/>
          <p:cNvSpPr txBox="1"/>
          <p:nvPr/>
        </p:nvSpPr>
        <p:spPr>
          <a:xfrm>
            <a:off x="2921000" y="294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34290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9464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工場の現状と課題</a:t>
            </a:r>
            <a:endParaRPr lang="ja-JP" altLang="en-US" sz="1800" b="0" dirty="0"/>
          </a:p>
        </p:txBody>
      </p:sp>
      <p:sp>
        <p:nvSpPr>
          <p:cNvPr id="10" name="deco.toc-no-2"/>
          <p:cNvSpPr txBox="1"/>
          <p:nvPr/>
        </p:nvSpPr>
        <p:spPr>
          <a:xfrm>
            <a:off x="2413000" y="37338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42164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37338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3つの取り組み</a:t>
            </a:r>
            <a:endParaRPr lang="ja-JP" altLang="en-US" sz="1800" b="0" dirty="0"/>
          </a:p>
        </p:txBody>
      </p:sp>
      <p:sp>
        <p:nvSpPr>
          <p:cNvPr id="13" name="deco.toc-no-3"/>
          <p:cNvSpPr txBox="1"/>
          <p:nvPr/>
        </p:nvSpPr>
        <p:spPr>
          <a:xfrm>
            <a:off x="1905000" y="45212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50038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45212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投資と効果</a:t>
            </a:r>
            <a:endParaRPr lang="ja-JP" altLang="en-US" sz="1800" b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工場の現状と課題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Issues</a:t>
            </a:r>
            <a:endParaRPr lang="ja-JP" altLang="en-US" sz="2050" b="0" dirty="0" spc="400"/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現場で起きている問題</a:t>
            </a:r>
            <a:endParaRPr lang="ja-JP" altLang="en-US" sz="3250" b="0" dirty="0"/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5-created"/>
          <a:srcRect/>
          <a:stretch>
            <a:fillRect/>
          </a:stretch>
        </p:blipFill>
        <p:spPr>
          <a:xfrm>
            <a:off x="2032000" y="33782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31877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段取り替えが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長い</a:t>
            </a:r>
            <a:endParaRPr lang="ja-JP" altLang="en-US" sz="2100" b="0" dirty="0" spc="350"/>
          </a:p>
        </p:txBody>
      </p:sp>
      <p:sp>
        <p:nvSpPr>
          <p:cNvPr id="10" name="deco.item-1-rule"/>
          <p:cNvSpPr/>
          <p:nvPr/>
        </p:nvSpPr>
        <p:spPr>
          <a:xfrm>
            <a:off x="3175000" y="40005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41148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機械の設定変更に平均45分</a:t>
            </a:r>
            <a:endParaRPr lang="ja-JP" altLang="en-US" sz="1200" b="1" dirty="0"/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7035800" y="33782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31877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1" spc="350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熟練者</a:t>
            </a: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に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頼っている</a:t>
            </a:r>
            <a:endParaRPr lang="ja-JP" altLang="en-US" sz="2100" b="0" dirty="0" spc="350"/>
          </a:p>
        </p:txBody>
      </p:sp>
      <p:sp>
        <p:nvSpPr>
          <p:cNvPr id="14" name="deco.item-2-rule"/>
          <p:cNvSpPr/>
          <p:nvPr/>
        </p:nvSpPr>
        <p:spPr>
          <a:xfrm>
            <a:off x="8178800" y="40005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41148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日程を組めるのは班長2人だけ</a:t>
            </a:r>
            <a:endParaRPr lang="ja-JP" altLang="en-US" sz="12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Goals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3年後の目標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稼働率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80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5895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いまの62%から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引き上げる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投資額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4,800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5895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万円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うち1,600万円は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補助金を活用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納期遅れ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2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5895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件/月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いまは月14件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いずれも3年後の目標の値です。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Issues</a:t>
            </a:r>
            <a:endParaRPr lang="ja-JP" altLang="en-US" sz="2050" b="0" dirty="0" spc="400"/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3つの課題</a:t>
            </a:r>
            <a:endParaRPr lang="ja-JP" altLang="en-US" sz="3250" b="0" dirty="0"/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810000" y="20320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4953000" y="1841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段取り替えが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長い</a:t>
            </a:r>
            <a:endParaRPr lang="ja-JP" altLang="en-US" sz="2100" b="0" dirty="0" spc="350"/>
          </a:p>
        </p:txBody>
      </p:sp>
      <p:sp>
        <p:nvSpPr>
          <p:cNvPr id="10" name="deco.item-1-rule"/>
          <p:cNvSpPr/>
          <p:nvPr/>
        </p:nvSpPr>
        <p:spPr>
          <a:xfrm>
            <a:off x="4953000" y="2654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4953000" y="2768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機械の設定変更に平均45分</a:t>
            </a:r>
            <a:endParaRPr lang="ja-JP" altLang="en-US" sz="1200" b="1" dirty="0"/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3810000" y="33655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4953000" y="31750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不良の原因が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分からない</a:t>
            </a:r>
            <a:endParaRPr lang="ja-JP" altLang="en-US" sz="2100" b="0" dirty="0" spc="350"/>
          </a:p>
        </p:txBody>
      </p:sp>
      <p:sp>
        <p:nvSpPr>
          <p:cNvPr id="14" name="deco.item-2-rule"/>
          <p:cNvSpPr/>
          <p:nvPr/>
        </p:nvSpPr>
        <p:spPr>
          <a:xfrm>
            <a:off x="4953000" y="39878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4953000" y="41021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どの条件で作ったかを追えない</a:t>
            </a:r>
            <a:endParaRPr lang="ja-JP" altLang="en-US" sz="1200" b="1" dirty="0"/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3810000" y="4699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4953000" y="4508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在庫が多すぎる</a:t>
            </a:r>
            <a:endParaRPr lang="ja-JP" altLang="en-US" sz="2100" b="0" dirty="0" spc="350"/>
          </a:p>
        </p:txBody>
      </p:sp>
      <p:sp>
        <p:nvSpPr>
          <p:cNvPr id="18" name="deco.item-3-rule"/>
          <p:cNvSpPr/>
          <p:nvPr/>
        </p:nvSpPr>
        <p:spPr>
          <a:xfrm>
            <a:off x="4953000" y="5321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4953000" y="5435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材料が必要な量の2倍近くある</a:t>
            </a:r>
            <a:endParaRPr lang="ja-JP" altLang="en-US" sz="12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注意のページ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8331200" cy="6858000"/>
          </a:xfrm>
          <a:custGeom>
            <a:avLst/>
            <a:gdLst/>
            <a:ahLst/>
            <a:cxnLst/>
            <a:rect l="l" t="t" r="r" b="b"/>
            <a:pathLst>
              <a:path w="8331200" h="6858000">
                <a:moveTo>
                  <a:pt x="5308600" y="0"/>
                </a:moveTo>
                <a:lnTo>
                  <a:pt x="8331200" y="0"/>
                </a:lnTo>
                <a:lnTo>
                  <a:pt x="1473200" y="6858000"/>
                </a:lnTo>
                <a:lnTo>
                  <a:pt x="0" y="6858000"/>
                </a:lnTo>
                <a:lnTo>
                  <a:pt x="0" y="5302250"/>
                </a:lnTo>
                <a:close/>
              </a:path>
            </a:pathLst>
          </a:custGeom>
        </p:spPr>
      </p:pic>
      <p:sp>
        <p:nvSpPr>
          <p:cNvPr id="3" name="deco.line-yellow"/>
          <p:cNvSpPr/>
          <p:nvPr/>
        </p:nvSpPr>
        <p:spPr>
          <a:xfrm>
            <a:off x="1606550" y="2082800"/>
            <a:ext cx="1418590" cy="1263650"/>
          </a:xfrm>
          <a:custGeom>
            <a:avLst/>
            <a:gdLst/>
            <a:ahLst/>
            <a:cxnLst/>
            <a:rect l="l" t="t" r="r" b="b"/>
            <a:pathLst>
              <a:path w="1418590" h="1263650">
                <a:moveTo>
                  <a:pt x="0" y="1263650"/>
                </a:moveTo>
                <a:lnTo>
                  <a:pt x="1263650" y="0"/>
                </a:lnTo>
                <a:lnTo>
                  <a:pt x="1418590" y="0"/>
                </a:lnTo>
                <a:lnTo>
                  <a:pt x="154940" y="12636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2117090" y="4464050"/>
            <a:ext cx="2327910" cy="2073910"/>
          </a:xfrm>
          <a:custGeom>
            <a:avLst/>
            <a:gdLst/>
            <a:ahLst/>
            <a:cxnLst/>
            <a:rect l="l" t="t" r="r" b="b"/>
            <a:pathLst>
              <a:path w="2327910" h="2073910">
                <a:moveTo>
                  <a:pt x="0" y="2073910"/>
                </a:moveTo>
                <a:lnTo>
                  <a:pt x="2073910" y="0"/>
                </a:lnTo>
                <a:lnTo>
                  <a:pt x="2327910" y="0"/>
                </a:lnTo>
                <a:lnTo>
                  <a:pt x="254000" y="20739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band"/>
          <p:cNvSpPr/>
          <p:nvPr/>
        </p:nvSpPr>
        <p:spPr>
          <a:xfrm>
            <a:off x="3686810" y="2209800"/>
            <a:ext cx="8680450" cy="1070610"/>
          </a:xfrm>
          <a:custGeom>
            <a:avLst/>
            <a:gdLst/>
            <a:ahLst/>
            <a:cxnLst/>
            <a:rect l="l" t="t" r="r" b="b"/>
            <a:pathLst>
              <a:path w="8680450" h="1070610">
                <a:moveTo>
                  <a:pt x="0" y="1070610"/>
                </a:moveTo>
                <a:lnTo>
                  <a:pt x="1070610" y="0"/>
                </a:lnTo>
                <a:lnTo>
                  <a:pt x="8680450" y="0"/>
                </a:lnTo>
                <a:lnTo>
                  <a:pt x="8680450" y="10706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tx1"/>
                </a:solidFill>
                <a:latin typeface="Barlow"/>
                <a:ea typeface="Noto Sans JP"/>
              </a:rPr>
              <a:t>Point</a:t>
            </a:r>
            <a:endParaRPr lang="ja-JP" altLang="en-US" sz="2050" b="0" dirty="0" spc="400"/>
          </a:p>
        </p:txBody>
      </p:sp>
      <p:sp>
        <p:nvSpPr>
          <p:cNvPr id="8" name="txt.headline"/>
          <p:cNvSpPr txBox="1"/>
          <p:nvPr/>
        </p:nvSpPr>
        <p:spPr>
          <a:xfrm>
            <a:off x="4978400" y="23622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目的は</a:t>
            </a: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熟練者に頼らない</a:t>
            </a: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工場</a:t>
            </a:r>
            <a:endParaRPr lang="ja-JP" altLang="en-US" sz="3250" b="0" dirty="0"/>
          </a:p>
        </p:txBody>
      </p:sp>
      <p:sp>
        <p:nvSpPr>
          <p:cNvPr id="9" name="txt.body"/>
          <p:cNvSpPr txBox="1"/>
          <p:nvPr/>
        </p:nvSpPr>
        <p:spPr>
          <a:xfrm>
            <a:off x="5232400" y="3810000"/>
            <a:ext cx="6350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仕組みを入れることが目的ではありません。現場の知恵を書き出して、みんなのものにします。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Issues</a:t>
            </a:r>
            <a:endParaRPr lang="ja-JP" altLang="en-US" sz="2050" b="0" dirty="0" spc="400"/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現場で起きている問題</a:t>
            </a:r>
            <a:endParaRPr lang="ja-JP" altLang="en-US" sz="3250" b="0" dirty="0"/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2032000" y="24511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段取り替えが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長い</a:t>
            </a:r>
            <a:endParaRPr lang="ja-JP" altLang="en-US" sz="2100" b="0" dirty="0" spc="350"/>
          </a:p>
        </p:txBody>
      </p:sp>
      <p:sp>
        <p:nvSpPr>
          <p:cNvPr id="10" name="deco.item-1-rule"/>
          <p:cNvSpPr/>
          <p:nvPr/>
        </p:nvSpPr>
        <p:spPr>
          <a:xfrm>
            <a:off x="31750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機械の設定変更に平均45分</a:t>
            </a:r>
            <a:endParaRPr lang="ja-JP" altLang="en-US" sz="1200" b="1" dirty="0"/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7035800" y="24511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不良の原因が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分からない</a:t>
            </a:r>
            <a:endParaRPr lang="ja-JP" altLang="en-US" sz="2100" b="0" dirty="0" spc="350"/>
          </a:p>
        </p:txBody>
      </p:sp>
      <p:sp>
        <p:nvSpPr>
          <p:cNvPr id="14" name="deco.item-2-rule"/>
          <p:cNvSpPr/>
          <p:nvPr/>
        </p:nvSpPr>
        <p:spPr>
          <a:xfrm>
            <a:off x="81788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どの条件で作ったかを追えない</a:t>
            </a:r>
            <a:endParaRPr lang="ja-JP" altLang="en-US" sz="1200" b="1" dirty="0"/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9-created"/>
          <a:srcRect/>
          <a:stretch>
            <a:fillRect/>
          </a:stretch>
        </p:blipFill>
        <p:spPr>
          <a:xfrm>
            <a:off x="2032000" y="4318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31750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1" spc="350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熟練者</a:t>
            </a: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に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頼っている</a:t>
            </a:r>
            <a:endParaRPr lang="ja-JP" altLang="en-US" sz="2100" b="0" dirty="0" spc="350"/>
          </a:p>
        </p:txBody>
      </p:sp>
      <p:sp>
        <p:nvSpPr>
          <p:cNvPr id="18" name="deco.item-3-rule"/>
          <p:cNvSpPr/>
          <p:nvPr/>
        </p:nvSpPr>
        <p:spPr>
          <a:xfrm>
            <a:off x="31750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31750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日程を組めるのは班長2人だけ</a:t>
            </a:r>
            <a:endParaRPr lang="ja-JP" altLang="en-US" sz="1200" b="1" dirty="0"/>
          </a:p>
        </p:txBody>
      </p:sp>
      <p:pic>
        <p:nvPicPr>
          <p:cNvPr id="20" name="img.item.4" descr="課題4の写真"/>
          <p:cNvPicPr>
            <a:picLocks noChangeAspect="1"/>
          </p:cNvPicPr>
          <p:nvPr/>
        </p:nvPicPr>
        <p:blipFill>
          <a:blip r:embed="rId10-created"/>
          <a:srcRect/>
          <a:stretch>
            <a:fillRect/>
          </a:stretch>
        </p:blipFill>
        <p:spPr>
          <a:xfrm>
            <a:off x="7035800" y="4318000"/>
            <a:ext cx="990600" cy="990600"/>
          </a:xfrm>
          <a:prstGeom prst="rect">
            <a:avLst/>
          </a:prstGeom>
        </p:spPr>
      </p:pic>
      <p:sp>
        <p:nvSpPr>
          <p:cNvPr id="21" name="txt.item.4.title"/>
          <p:cNvSpPr txBox="1"/>
          <p:nvPr/>
        </p:nvSpPr>
        <p:spPr>
          <a:xfrm>
            <a:off x="81788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在庫が多すぎる</a:t>
            </a:r>
            <a:endParaRPr lang="ja-JP" altLang="en-US" sz="2100" b="0" dirty="0" spc="350"/>
          </a:p>
        </p:txBody>
      </p:sp>
      <p:sp>
        <p:nvSpPr>
          <p:cNvPr id="22" name="deco.item-4-rule"/>
          <p:cNvSpPr/>
          <p:nvPr/>
        </p:nvSpPr>
        <p:spPr>
          <a:xfrm>
            <a:off x="81788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3" name="txt.item.4.body"/>
          <p:cNvSpPr txBox="1"/>
          <p:nvPr/>
        </p:nvSpPr>
        <p:spPr>
          <a:xfrm>
            <a:off x="81788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材料が必要な量の2倍近くある</a:t>
            </a:r>
            <a:endParaRPr lang="ja-JP" altLang="en-US" sz="12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Roadmap</a:t>
            </a:r>
            <a:endParaRPr lang="ja-JP" altLang="en-US" sz="2050" b="0" dirty="0" spc="400"/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3年間の進め方</a:t>
            </a:r>
            <a:endParaRPr lang="ja-JP" altLang="en-US" sz="3250" b="0" dirty="0"/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2049780" y="1905000"/>
            <a:ext cx="2540000" cy="254000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1年目：指示書を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デジタル化</a:t>
            </a:r>
            <a:endParaRPr lang="ja-JP" altLang="en-US" sz="1500" b="1" dirty="0"/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5396230" y="1905000"/>
            <a:ext cx="2540000" cy="254000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539623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539623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2年目：全20台に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センサー</a:t>
            </a:r>
            <a:endParaRPr lang="ja-JP" altLang="en-US" sz="1500" b="1" dirty="0"/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8742680" y="1905000"/>
            <a:ext cx="2540000" cy="254000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87426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87426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3年目：日程づくりを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仕組みに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5-created"/>
          <a:srcRect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5715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受注から出荷まで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紙で回っている</a:t>
            </a:r>
            <a:endParaRPr lang="ja-JP" altLang="en-US" sz="3250" b="0" dirty="0"/>
          </a:p>
        </p:txBody>
      </p:sp>
      <p:sp>
        <p:nvSpPr>
          <p:cNvPr id="8" name="deco.rule"/>
          <p:cNvSpPr/>
          <p:nvPr/>
        </p:nvSpPr>
        <p:spPr>
          <a:xfrm>
            <a:off x="6604000" y="17907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1717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受注は電話とファクスで受け、営業担当が紙の指示書を作っています。指示書は工場に回り、班長が手書きで日程を組みます。</a:t>
            </a:r>
            <a:endParaRPr lang="ja-JP" altLang="en-US" sz="1500" b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Steps</a:t>
            </a:r>
            <a:endParaRPr lang="ja-JP" altLang="en-US" sz="2050" b="0" dirty="0" spc="400"/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日程づくりの流れ</a:t>
            </a:r>
            <a:endParaRPr lang="ja-JP" altLang="en-US" sz="3250" b="0" dirty="0"/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2049780" y="2137410"/>
            <a:ext cx="2077720" cy="207772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決め方を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書き出す</a:t>
            </a:r>
            <a:endParaRPr lang="ja-JP" altLang="en-US" sz="1500" b="1" dirty="0"/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4434840" y="2137410"/>
            <a:ext cx="2077720" cy="207772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443484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443484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仕組みが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案を作る</a:t>
            </a:r>
            <a:endParaRPr lang="ja-JP" altLang="en-US" sz="1500" b="1" dirty="0"/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9-created"/>
          <a:srcRect/>
          <a:stretch>
            <a:fillRect/>
          </a:stretch>
        </p:blipFill>
        <p:spPr>
          <a:xfrm>
            <a:off x="6819900" y="2137410"/>
            <a:ext cx="2077720" cy="207772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681990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681990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人が確認して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決める</a:t>
            </a:r>
            <a:endParaRPr lang="ja-JP" altLang="en-US" sz="1500" b="1" dirty="0"/>
          </a:p>
        </p:txBody>
      </p:sp>
      <p:pic>
        <p:nvPicPr>
          <p:cNvPr id="15" name="img.item.4" descr="手順4の写真"/>
          <p:cNvPicPr>
            <a:picLocks noChangeAspect="1"/>
          </p:cNvPicPr>
          <p:nvPr/>
        </p:nvPicPr>
        <p:blipFill>
          <a:blip r:embed="rId10-created"/>
          <a:srcRect/>
          <a:stretch>
            <a:fillRect/>
          </a:stretch>
        </p:blipFill>
        <p:spPr>
          <a:xfrm>
            <a:off x="9204960" y="2137410"/>
            <a:ext cx="2077720" cy="2077720"/>
          </a:xfrm>
          <a:prstGeom prst="rect">
            <a:avLst/>
          </a:prstGeom>
        </p:spPr>
      </p:pic>
      <p:sp>
        <p:nvSpPr>
          <p:cNvPr id="16" name="deco.item-4-rule"/>
          <p:cNvSpPr/>
          <p:nvPr/>
        </p:nvSpPr>
        <p:spPr>
          <a:xfrm>
            <a:off x="920496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" name="txt.item.4.caption"/>
          <p:cNvSpPr txBox="1"/>
          <p:nvPr/>
        </p:nvSpPr>
        <p:spPr>
          <a:xfrm>
            <a:off x="920496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結果を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見直す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Contents</a:t>
            </a:r>
            <a:endParaRPr lang="ja-JP" altLang="en-US" sz="2050" b="0" dirty="0" spc="400"/>
          </a:p>
        </p:txBody>
      </p:sp>
      <p:sp>
        <p:nvSpPr>
          <p:cNvPr id="7" name="deco.toc-no-1"/>
          <p:cNvSpPr txBox="1"/>
          <p:nvPr/>
        </p:nvSpPr>
        <p:spPr>
          <a:xfrm>
            <a:off x="2921000" y="25527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30353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5527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工場の現状と課題</a:t>
            </a:r>
            <a:endParaRPr lang="ja-JP" altLang="en-US" sz="1800" b="0" dirty="0"/>
          </a:p>
        </p:txBody>
      </p:sp>
      <p:sp>
        <p:nvSpPr>
          <p:cNvPr id="10" name="deco.toc-no-2"/>
          <p:cNvSpPr txBox="1"/>
          <p:nvPr/>
        </p:nvSpPr>
        <p:spPr>
          <a:xfrm>
            <a:off x="2413000" y="33401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38227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33401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目指す姿</a:t>
            </a:r>
            <a:endParaRPr lang="ja-JP" altLang="en-US" sz="1800" b="0" dirty="0"/>
          </a:p>
        </p:txBody>
      </p:sp>
      <p:sp>
        <p:nvSpPr>
          <p:cNvPr id="13" name="deco.toc-no-3"/>
          <p:cNvSpPr txBox="1"/>
          <p:nvPr/>
        </p:nvSpPr>
        <p:spPr>
          <a:xfrm>
            <a:off x="1905000" y="41275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46101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41275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3つの取り組み</a:t>
            </a:r>
            <a:endParaRPr lang="ja-JP" altLang="en-US" sz="1800" b="0" dirty="0"/>
          </a:p>
        </p:txBody>
      </p:sp>
      <p:sp>
        <p:nvSpPr>
          <p:cNvPr id="16" name="deco.toc-no-4"/>
          <p:cNvSpPr txBox="1"/>
          <p:nvPr/>
        </p:nvSpPr>
        <p:spPr>
          <a:xfrm>
            <a:off x="1397000" y="49149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04</a:t>
            </a:r>
          </a:p>
        </p:txBody>
      </p:sp>
      <p:sp>
        <p:nvSpPr>
          <p:cNvPr id="17" name="deco.toc-rule-4"/>
          <p:cNvSpPr/>
          <p:nvPr/>
        </p:nvSpPr>
        <p:spPr>
          <a:xfrm>
            <a:off x="2159000" y="53975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txt.item.4"/>
          <p:cNvSpPr txBox="1"/>
          <p:nvPr/>
        </p:nvSpPr>
        <p:spPr>
          <a:xfrm>
            <a:off x="2159000" y="49149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投資と効果</a:t>
            </a:r>
            <a:endParaRPr lang="ja-JP" altLang="en-US" sz="1800" b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6426200" cy="6858000"/>
          </a:xfrm>
          <a:prstGeom prst="rect">
            <a:avLst/>
          </a:prstGeom>
        </p:spPr>
      </p:pic>
      <p:sp>
        <p:nvSpPr>
          <p:cNvPr id="3" name="deco.tri-1"/>
          <p:cNvSpPr/>
          <p:nvPr/>
        </p:nvSpPr>
        <p:spPr>
          <a:xfrm>
            <a:off x="-232410" y="7874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3328670" y="0"/>
                </a:moveTo>
                <a:lnTo>
                  <a:pt x="3328670" y="3328670"/>
                </a:lnTo>
                <a:lnTo>
                  <a:pt x="0" y="33286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tri-2"/>
          <p:cNvSpPr/>
          <p:nvPr/>
        </p:nvSpPr>
        <p:spPr>
          <a:xfrm>
            <a:off x="-232410" y="339217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0" y="332867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3"/>
          <p:cNvSpPr/>
          <p:nvPr/>
        </p:nvSpPr>
        <p:spPr>
          <a:xfrm>
            <a:off x="3102610" y="10668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3328670" y="0"/>
                </a:moveTo>
                <a:lnTo>
                  <a:pt x="3328670" y="3327400"/>
                </a:lnTo>
                <a:lnTo>
                  <a:pt x="0" y="33274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tri-4"/>
          <p:cNvSpPr/>
          <p:nvPr/>
        </p:nvSpPr>
        <p:spPr>
          <a:xfrm>
            <a:off x="3102610" y="342011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0" y="332740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7061200" y="571500"/>
            <a:ext cx="4699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人への投資</a:t>
            </a:r>
            <a:endParaRPr lang="ja-JP" altLang="en-US" sz="3250" b="0" dirty="0"/>
          </a:p>
        </p:txBody>
      </p:sp>
      <p:sp>
        <p:nvSpPr>
          <p:cNvPr id="8" name="deco.point-1"/>
          <p:cNvSpPr/>
          <p:nvPr/>
        </p:nvSpPr>
        <p:spPr>
          <a:xfrm>
            <a:off x="7061200" y="2286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7366000" y="22225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段取り替えを平均45分から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20分へ</a:t>
            </a:r>
            <a:endParaRPr lang="ja-JP" altLang="en-US" sz="1600" b="0" dirty="0"/>
          </a:p>
        </p:txBody>
      </p:sp>
      <p:sp>
        <p:nvSpPr>
          <p:cNvPr id="10" name="deco.point-2"/>
          <p:cNvSpPr/>
          <p:nvPr/>
        </p:nvSpPr>
        <p:spPr>
          <a:xfrm>
            <a:off x="7061200" y="3454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2"/>
          <p:cNvSpPr txBox="1"/>
          <p:nvPr/>
        </p:nvSpPr>
        <p:spPr>
          <a:xfrm>
            <a:off x="7366000" y="33909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残業を1人あたり月20時間から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10時間へ</a:t>
            </a:r>
            <a:endParaRPr lang="ja-JP" altLang="en-US" sz="1600" b="0" dirty="0"/>
          </a:p>
        </p:txBody>
      </p:sp>
      <p:sp>
        <p:nvSpPr>
          <p:cNvPr id="12" name="deco.point-3"/>
          <p:cNvSpPr/>
          <p:nvPr/>
        </p:nvSpPr>
        <p:spPr>
          <a:xfrm>
            <a:off x="7061200" y="4622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3" name="txt.item.3"/>
          <p:cNvSpPr txBox="1"/>
          <p:nvPr/>
        </p:nvSpPr>
        <p:spPr>
          <a:xfrm>
            <a:off x="7366000" y="45593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熟練者が若手に教える時間を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毎週2時間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確保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Contents</a:t>
            </a:r>
            <a:endParaRPr lang="ja-JP" altLang="en-US" sz="2050" b="0" dirty="0" spc="400"/>
          </a:p>
        </p:txBody>
      </p:sp>
      <p:sp>
        <p:nvSpPr>
          <p:cNvPr id="7" name="deco.toc-no-1"/>
          <p:cNvSpPr txBox="1"/>
          <p:nvPr/>
        </p:nvSpPr>
        <p:spPr>
          <a:xfrm>
            <a:off x="2921000" y="2159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26416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1590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工場の現状と課題</a:t>
            </a:r>
            <a:endParaRPr lang="ja-JP" altLang="en-US" sz="1800" b="0" dirty="0"/>
          </a:p>
        </p:txBody>
      </p:sp>
      <p:sp>
        <p:nvSpPr>
          <p:cNvPr id="10" name="deco.toc-no-2"/>
          <p:cNvSpPr txBox="1"/>
          <p:nvPr/>
        </p:nvSpPr>
        <p:spPr>
          <a:xfrm>
            <a:off x="2413000" y="294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34290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29464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目指す姿</a:t>
            </a:r>
            <a:endParaRPr lang="ja-JP" altLang="en-US" sz="1800" b="0" dirty="0"/>
          </a:p>
        </p:txBody>
      </p:sp>
      <p:sp>
        <p:nvSpPr>
          <p:cNvPr id="13" name="deco.toc-no-3"/>
          <p:cNvSpPr txBox="1"/>
          <p:nvPr/>
        </p:nvSpPr>
        <p:spPr>
          <a:xfrm>
            <a:off x="1905000" y="37338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42164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37338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3つの取り組み</a:t>
            </a:r>
            <a:endParaRPr lang="ja-JP" altLang="en-US" sz="1800" b="0" dirty="0"/>
          </a:p>
        </p:txBody>
      </p:sp>
      <p:sp>
        <p:nvSpPr>
          <p:cNvPr id="16" name="deco.toc-no-4"/>
          <p:cNvSpPr txBox="1"/>
          <p:nvPr/>
        </p:nvSpPr>
        <p:spPr>
          <a:xfrm>
            <a:off x="1397000" y="45212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04</a:t>
            </a:r>
          </a:p>
        </p:txBody>
      </p:sp>
      <p:sp>
        <p:nvSpPr>
          <p:cNvPr id="17" name="deco.toc-rule-4"/>
          <p:cNvSpPr/>
          <p:nvPr/>
        </p:nvSpPr>
        <p:spPr>
          <a:xfrm>
            <a:off x="2159000" y="50038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txt.item.4"/>
          <p:cNvSpPr txBox="1"/>
          <p:nvPr/>
        </p:nvSpPr>
        <p:spPr>
          <a:xfrm>
            <a:off x="2159000" y="45212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進め方と体制</a:t>
            </a:r>
            <a:endParaRPr lang="ja-JP" altLang="en-US" sz="1800" b="0" dirty="0"/>
          </a:p>
        </p:txBody>
      </p:sp>
      <p:sp>
        <p:nvSpPr>
          <p:cNvPr id="19" name="deco.toc-no-5"/>
          <p:cNvSpPr txBox="1"/>
          <p:nvPr/>
        </p:nvSpPr>
        <p:spPr>
          <a:xfrm>
            <a:off x="889000" y="53086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05</a:t>
            </a:r>
          </a:p>
        </p:txBody>
      </p:sp>
      <p:sp>
        <p:nvSpPr>
          <p:cNvPr id="20" name="deco.toc-rule-5"/>
          <p:cNvSpPr/>
          <p:nvPr/>
        </p:nvSpPr>
        <p:spPr>
          <a:xfrm>
            <a:off x="1651000" y="57912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item.5"/>
          <p:cNvSpPr txBox="1"/>
          <p:nvPr/>
        </p:nvSpPr>
        <p:spPr>
          <a:xfrm>
            <a:off x="1651000" y="53086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投資と効果</a:t>
            </a:r>
            <a:endParaRPr lang="ja-JP" altLang="en-US" sz="1800" b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band"/>
          <p:cNvSpPr/>
          <p:nvPr/>
        </p:nvSpPr>
        <p:spPr>
          <a:xfrm>
            <a:off x="6941820" y="0"/>
            <a:ext cx="5250180" cy="4279900"/>
          </a:xfrm>
          <a:custGeom>
            <a:avLst/>
            <a:gdLst/>
            <a:ahLst/>
            <a:cxnLst/>
            <a:rect l="l" t="t" r="r" b="b"/>
            <a:pathLst>
              <a:path w="5250180" h="4279900">
                <a:moveTo>
                  <a:pt x="0" y="2753360"/>
                </a:moveTo>
                <a:lnTo>
                  <a:pt x="2753360" y="0"/>
                </a:lnTo>
                <a:lnTo>
                  <a:pt x="5250180" y="0"/>
                </a:lnTo>
                <a:lnTo>
                  <a:pt x="5250180" y="556260"/>
                </a:lnTo>
                <a:lnTo>
                  <a:pt x="1526540" y="42799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9098280" y="3736340"/>
            <a:ext cx="3216910" cy="3216910"/>
          </a:xfrm>
          <a:custGeom>
            <a:avLst/>
            <a:gdLst/>
            <a:ahLst/>
            <a:cxnLst/>
            <a:rect l="l" t="t" r="r" b="b"/>
            <a:pathLst>
              <a:path w="3216910" h="3216910">
                <a:moveTo>
                  <a:pt x="0" y="3216910"/>
                </a:moveTo>
                <a:lnTo>
                  <a:pt x="3216910" y="0"/>
                </a:lnTo>
                <a:lnTo>
                  <a:pt x="3216910" y="32169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8031480" y="5894070"/>
            <a:ext cx="1189990" cy="963930"/>
          </a:xfrm>
          <a:custGeom>
            <a:avLst/>
            <a:gdLst/>
            <a:ahLst/>
            <a:cxnLst/>
            <a:rect l="l" t="t" r="r" b="b"/>
            <a:pathLst>
              <a:path w="1189990" h="963930">
                <a:moveTo>
                  <a:pt x="0" y="963930"/>
                </a:moveTo>
                <a:lnTo>
                  <a:pt x="963930" y="0"/>
                </a:lnTo>
                <a:lnTo>
                  <a:pt x="1189990" y="0"/>
                </a:lnTo>
                <a:lnTo>
                  <a:pt x="226060" y="9639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-yellow"/>
          <p:cNvSpPr/>
          <p:nvPr/>
        </p:nvSpPr>
        <p:spPr>
          <a:xfrm>
            <a:off x="7326630" y="381000"/>
            <a:ext cx="1574800" cy="1348740"/>
          </a:xfrm>
          <a:custGeom>
            <a:avLst/>
            <a:gdLst/>
            <a:ahLst/>
            <a:cxnLst/>
            <a:rect l="l" t="t" r="r" b="b"/>
            <a:pathLst>
              <a:path w="1574800" h="1348740">
                <a:moveTo>
                  <a:pt x="0" y="1348740"/>
                </a:moveTo>
                <a:lnTo>
                  <a:pt x="1348740" y="0"/>
                </a:lnTo>
                <a:lnTo>
                  <a:pt x="1574800" y="0"/>
                </a:lnTo>
                <a:lnTo>
                  <a:pt x="226060" y="13487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pic>
        <p:nvPicPr>
          <p:cNvPr id="6" name="img.hero" descr="菱形のコラージュ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1069340" y="1102360"/>
            <a:ext cx="7360920" cy="5345430"/>
          </a:xfrm>
          <a:custGeom>
            <a:avLst/>
            <a:gdLst/>
            <a:ahLst/>
            <a:cxnLst/>
            <a:rect l="l" t="t" r="r" b="b"/>
            <a:pathLst>
              <a:path w="7360920" h="5345430">
                <a:moveTo>
                  <a:pt x="2146300" y="1047750"/>
                </a:moveTo>
                <a:lnTo>
                  <a:pt x="3192780" y="0"/>
                </a:lnTo>
                <a:lnTo>
                  <a:pt x="4240530" y="1047750"/>
                </a:lnTo>
                <a:lnTo>
                  <a:pt x="3192780" y="2095500"/>
                </a:lnTo>
                <a:close/>
              </a:path>
              <a:path w="7360920" h="5345430">
                <a:moveTo>
                  <a:pt x="4307840" y="1049020"/>
                </a:moveTo>
                <a:lnTo>
                  <a:pt x="5355590" y="2540"/>
                </a:lnTo>
                <a:lnTo>
                  <a:pt x="6403340" y="1049020"/>
                </a:lnTo>
                <a:lnTo>
                  <a:pt x="5355590" y="2096770"/>
                </a:lnTo>
                <a:close/>
              </a:path>
              <a:path w="7360920" h="5345430">
                <a:moveTo>
                  <a:pt x="3228340" y="2129790"/>
                </a:moveTo>
                <a:lnTo>
                  <a:pt x="4274820" y="1082040"/>
                </a:lnTo>
                <a:lnTo>
                  <a:pt x="5322570" y="2129790"/>
                </a:lnTo>
                <a:lnTo>
                  <a:pt x="4274820" y="3177540"/>
                </a:lnTo>
                <a:close/>
              </a:path>
              <a:path w="7360920" h="5345430">
                <a:moveTo>
                  <a:pt x="0" y="3209290"/>
                </a:moveTo>
                <a:lnTo>
                  <a:pt x="2113280" y="1096010"/>
                </a:lnTo>
                <a:lnTo>
                  <a:pt x="4226560" y="3209290"/>
                </a:lnTo>
                <a:lnTo>
                  <a:pt x="2113280" y="5323840"/>
                </a:lnTo>
                <a:close/>
              </a:path>
              <a:path w="7360920" h="5345430">
                <a:moveTo>
                  <a:pt x="4307840" y="3209290"/>
                </a:moveTo>
                <a:lnTo>
                  <a:pt x="5834380" y="1682750"/>
                </a:lnTo>
                <a:lnTo>
                  <a:pt x="7360920" y="3209290"/>
                </a:lnTo>
                <a:lnTo>
                  <a:pt x="5834380" y="4737100"/>
                </a:lnTo>
                <a:close/>
              </a:path>
              <a:path w="7360920" h="5345430">
                <a:moveTo>
                  <a:pt x="3219450" y="4297680"/>
                </a:moveTo>
                <a:lnTo>
                  <a:pt x="4267200" y="3249930"/>
                </a:lnTo>
                <a:lnTo>
                  <a:pt x="5314950" y="4297680"/>
                </a:lnTo>
                <a:lnTo>
                  <a:pt x="4267200" y="5345430"/>
                </a:lnTo>
                <a:close/>
              </a:path>
            </a:pathLst>
          </a:custGeom>
        </p:spPr>
      </p:pic>
      <p:sp>
        <p:nvSpPr>
          <p:cNvPr id="7" name="txt.headline"/>
          <p:cNvSpPr txBox="1"/>
          <p:nvPr/>
        </p:nvSpPr>
        <p:spPr>
          <a:xfrm>
            <a:off x="609600" y="279400"/>
            <a:ext cx="6604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全員でつくる工場の計画</a:t>
            </a:r>
            <a:endParaRPr lang="ja-JP" altLang="en-US" sz="3250" b="0" dirty="0"/>
          </a:p>
        </p:txBody>
      </p:sp>
      <p:sp>
        <p:nvSpPr>
          <p:cNvPr id="8" name="txt.subtitle"/>
          <p:cNvSpPr txBox="1"/>
          <p:nvPr/>
        </p:nvSpPr>
        <p:spPr>
          <a:xfrm>
            <a:off x="635000" y="1168400"/>
            <a:ext cx="24892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小さく始めて、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一歩ずつ進めます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visional Blue 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0064D6"/>
      </a:accent1>
      <a:accent2>
        <a:srgbClr val="E4E74D"/>
      </a:accent2>
      <a:accent3>
        <a:srgbClr val="8FBDF0"/>
      </a:accent3>
      <a:accent4>
        <a:srgbClr val="003F8A"/>
      </a:accent4>
      <a:accent5>
        <a:srgbClr val="F7F8D0"/>
      </a:accent5>
      <a:accent6>
        <a:srgbClr val="9E9E9E"/>
      </a:accent6>
      <a:hlink>
        <a:srgbClr val="0000FF"/>
      </a:hlink>
      <a:folHlink>
        <a:srgbClr val="800080"/>
      </a:folHlink>
    </a:clrScheme>
    <a:fontScheme name="Provisional">
      <a:majorFont>
        <a:latin typeface="Barlow"/>
        <a:ea typeface="Noto Serif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