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  <p:sldId r:id="rId28-created" id="261"/>
    <p:sldId r:id="rId29-created" id="262"/>
    <p:sldId r:id="rId30-created" id="263"/>
    <p:sldId r:id="rId31-created" id="264"/>
    <p:sldId r:id="rId32-created" id="265"/>
    <p:sldId r:id="rId33-created" id="266"/>
    <p:sldId r:id="rId34-created" id="267"/>
    <p:sldId r:id="rId35-created" id="268"/>
    <p:sldId r:id="rId36-created" id="269"/>
    <p:sldId r:id="rId37-created" id="270"/>
    <p:sldId r:id="rId38-created" id="271"/>
    <p:sldId r:id="rId39-created" id="272"/>
    <p:sldId r:id="rId40-created" id="273"/>
    <p:sldId r:id="rId41-created" id="274"/>
    <p:sldId r:id="rId42-created" id="27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Relationship Id="rId28-created" Type="http://schemas.openxmlformats.org/officeDocument/2006/relationships/slide" Target="slides/slide21.xml"/><Relationship Id="rId29-created" Type="http://schemas.openxmlformats.org/officeDocument/2006/relationships/slide" Target="slides/slide22.xml"/><Relationship Id="rId30-created" Type="http://schemas.openxmlformats.org/officeDocument/2006/relationships/slide" Target="slides/slide23.xml"/><Relationship Id="rId31-created" Type="http://schemas.openxmlformats.org/officeDocument/2006/relationships/slide" Target="slides/slide24.xml"/><Relationship Id="rId32-created" Type="http://schemas.openxmlformats.org/officeDocument/2006/relationships/slide" Target="slides/slide25.xml"/><Relationship Id="rId33-created" Type="http://schemas.openxmlformats.org/officeDocument/2006/relationships/slide" Target="slides/slide26.xml"/><Relationship Id="rId34-created" Type="http://schemas.openxmlformats.org/officeDocument/2006/relationships/slide" Target="slides/slide27.xml"/><Relationship Id="rId35-created" Type="http://schemas.openxmlformats.org/officeDocument/2006/relationships/slide" Target="slides/slide28.xml"/><Relationship Id="rId36-created" Type="http://schemas.openxmlformats.org/officeDocument/2006/relationships/slide" Target="slides/slide29.xml"/><Relationship Id="rId37-created" Type="http://schemas.openxmlformats.org/officeDocument/2006/relationships/slide" Target="slides/slide30.xml"/><Relationship Id="rId38-created" Type="http://schemas.openxmlformats.org/officeDocument/2006/relationships/slide" Target="slides/slide31.xml"/><Relationship Id="rId39-created" Type="http://schemas.openxmlformats.org/officeDocument/2006/relationships/slide" Target="slides/slide32.xml"/><Relationship Id="rId40-created" Type="http://schemas.openxmlformats.org/officeDocument/2006/relationships/slide" Target="slides/slide33.xml"/><Relationship Id="rId41-created" Type="http://schemas.openxmlformats.org/officeDocument/2006/relationships/slide" Target="slides/slide34.xml"/><Relationship Id="rId42-created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2-img.side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04-img.right.jpg"/><Relationship Id="rId6-created" Type="http://schemas.openxmlformats.org/officeDocument/2006/relationships/image" Target="../media/p04-img.left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5-img.item.1.jpg"/><Relationship Id="rId8-created" Type="http://schemas.openxmlformats.org/officeDocument/2006/relationships/image" Target="../media/p05-img.item.2.jpg"/><Relationship Id="rId9-created" Type="http://schemas.openxmlformats.org/officeDocument/2006/relationships/image" Target="../media/p05-img.item.3.jpg"/><Relationship Id="rId10-created" Type="http://schemas.openxmlformats.org/officeDocument/2006/relationships/image" Target="../media/p05-img.item.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6-img.side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8-img.hero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9-img.side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1-img.hero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12-img.right.jpg"/><Relationship Id="rId6-created" Type="http://schemas.openxmlformats.org/officeDocument/2006/relationships/image" Target="../media/p12-img.left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14-img.item.1.jpg"/><Relationship Id="rId7-created" Type="http://schemas.openxmlformats.org/officeDocument/2006/relationships/image" Target="../media/p14-img.item.2.jpg"/><Relationship Id="rId8-created" Type="http://schemas.openxmlformats.org/officeDocument/2006/relationships/image" Target="../media/p14-img.item.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15-img.right.jpg"/><Relationship Id="rId6-created" Type="http://schemas.openxmlformats.org/officeDocument/2006/relationships/image" Target="../media/p15-img.left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6-img.hero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18-img.right.jpg"/><Relationship Id="rId6-created" Type="http://schemas.openxmlformats.org/officeDocument/2006/relationships/image" Target="../media/p18-img.left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9-img.side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20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受注と指示書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デジタル化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機械の稼働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見える化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日程づくり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誰でもできる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部品加工工場の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デジタル化</a:t>
            </a: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計画 2026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紙と勘に頼る仕事を、データで</a:t>
            </a:r>
            <a:endParaRPr lang="ja-JP" altLang="en-US" sz="1500" b="1" dirty="0"/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回る仕事へ変える3年間の計画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CONTENTS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159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26416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1590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工場の現状と課題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目指す姿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3つの取り組み</a:t>
            </a:r>
            <a:endParaRPr lang="ja-JP" altLang="en-US" sz="1800" b="0" dirty="0"/>
          </a:p>
        </p:txBody>
      </p:sp>
      <p:sp>
        <p:nvSpPr>
          <p:cNvPr id="16" name="deco.toc-no-4"/>
          <p:cNvSpPr txBox="1"/>
          <p:nvPr/>
        </p:nvSpPr>
        <p:spPr>
          <a:xfrm>
            <a:off x="1397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進め方と体制</a:t>
            </a:r>
            <a:endParaRPr lang="ja-JP" altLang="en-US" sz="1800" b="0" dirty="0"/>
          </a:p>
        </p:txBody>
      </p:sp>
      <p:sp>
        <p:nvSpPr>
          <p:cNvPr id="19" name="deco.toc-no-5"/>
          <p:cNvSpPr txBox="1"/>
          <p:nvPr/>
        </p:nvSpPr>
        <p:spPr>
          <a:xfrm>
            <a:off x="889000" y="53086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05</a:t>
            </a:r>
          </a:p>
        </p:txBody>
      </p:sp>
      <p:sp>
        <p:nvSpPr>
          <p:cNvPr id="20" name="deco.toc-rule-5"/>
          <p:cNvSpPr/>
          <p:nvPr/>
        </p:nvSpPr>
        <p:spPr>
          <a:xfrm>
            <a:off x="1651000" y="57912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item.5"/>
          <p:cNvSpPr txBox="1"/>
          <p:nvPr/>
        </p:nvSpPr>
        <p:spPr>
          <a:xfrm>
            <a:off x="1651000" y="53086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投資と効果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工場の現状と課題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受注から出荷まで、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すべて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紙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と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手書き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受注は電話とファクスで受け、営業担当が紙の指示書を作ります。指示書は工場に回り、班長が手書きで日程を組んでいます。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PROBLEMS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現場で起きている問題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段取り替えに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時間がかかる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機械の設定変更に平均45分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不良の原因が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分からない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条件を後から追えない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</a:t>
            </a: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に頼っている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日程を組めるのは班長2人だけ</a:t>
            </a:r>
            <a:endParaRPr lang="ja-JP" altLang="en-US" sz="1200" b="1" dirty="0"/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在庫が多すぎる</a:t>
            </a:r>
            <a:endParaRPr lang="ja-JP" altLang="en-US" sz="2100" b="0" dirty="0" spc="350"/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必要な量の2倍近く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TODAY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数字で見る現状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設備の稼働率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62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3年後の目標は80%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不良率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3.8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3年後の目標は1.5%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月の納期遅れ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14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3年後の目標は月2件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従業員85名、受注の8割が自動車部品の金属部品加工工場の現状です。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目指す姿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Our Vision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誰でも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工場の状態がすぐ分かる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3年後には、受注から出荷までの情報がすべて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1つの仕組み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でつながり、誰でも工場の状態をすぐに確認できる姿を目指します。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Goals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稼働率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80%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へ、不良と遅れを減らす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設備の稼働率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80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稼働の見える化で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止まる時間を減らす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不良率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1.5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条件を記録し原因を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追えるようにする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月の納期遅れ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日程づくりを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仕組み化して遅れを防ぐ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いずれも3年後の目標値。現状は稼働率62%、不良率3.8%、納期遅れ月14件です。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3つの取り組み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3つの取り組みで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工場を変える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受注と指示書のデジタル化。画面で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入力し、指示書を自動で作ります。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機械の稼働を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見える化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。センサーで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動きを記録し、改善の材料にします。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日程づくりを誰でも。決め方をルールに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して、仕組みが日程の案を作ります。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班長の頭の中を、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ルール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にする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班長が頭の中で組んでいた日程の決め方を、ルールとして書き出します。そのルールを使って仕組みが日程の案を作り、人が確認して決めます。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進め方と体制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3-Year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Roadmap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3年間の進め方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1年目：指示書の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デジタル化で紙を無くす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2年目：稼働の見える化。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全20台にセンサー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3年目：日程を仕組み化。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班長以外も組める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社長が責任者、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現場で試して広げる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社長を責任者に、製造部・営業部・総務部から1名ずつの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推進チーム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を作ります。外部の専門家の助言を月に1回もらい、各段階で現場の作業者に試してもらいます。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Purpose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目的は、熟練者に頼らず回すこと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仕組みを入れることが目的ではありません。目的は、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熟練者に頼らなくても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工場が回るようにすることです。そのために、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現場の知恵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を書き出してみんなのものにします。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投資と効果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3年間の投資は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合計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4,800万円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うち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1,600万円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は、国の補助金の活用を予定しています。小さく始めて、効果を確かめながら進めます。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Impact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期待する効果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段取り替え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20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分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平均45分から20分へ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月の残業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10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時間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1人月20時間から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10時間へ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若手育成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時間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毎週、熟練者が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若手に教える時間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浮いた時間は、若手の育成に使います。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小さく始めて、一歩ずつ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工場で働く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全員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で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つくる計画です。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